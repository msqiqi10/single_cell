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BM C0</c:v>
                </c:pt>
              </c:strCache>
            </c:strRef>
          </c:tx>
          <c:spPr>
            <a:solidFill>
              <a:srgbClr val="137D8A"/>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Fos</c:v>
                  </c:pt>
                  <c:pt idx="1">
                    <c:v>Fosb</c:v>
                  </c:pt>
                  <c:pt idx="2">
                    <c:v>Jun</c:v>
                  </c:pt>
                  <c:pt idx="3">
                    <c:v>Junb</c:v>
                  </c:pt>
                  <c:pt idx="4">
                    <c:v>Jund</c:v>
                  </c:pt>
                  <c:pt idx="5">
                    <c:v>Dusp1</c:v>
                  </c:pt>
                </c:lvl>
              </c:multiLvlStrCache>
            </c:multiLvlStrRef>
          </c:cat>
          <c:val>
            <c:numRef>
              <c:f>Sheet1!$B$2:$B$7</c:f>
              <c:numCache>
                <c:formatCode>General</c:formatCode>
                <c:ptCount val="6"/>
                <c:pt idx="0">
                  <c:v>0.226</c:v>
                </c:pt>
                <c:pt idx="1">
                  <c:v>0.203</c:v>
                </c:pt>
                <c:pt idx="2">
                  <c:v>0.282</c:v>
                </c:pt>
                <c:pt idx="3">
                  <c:v>0.376</c:v>
                </c:pt>
                <c:pt idx="4">
                  <c:v>0.101</c:v>
                </c:pt>
                <c:pt idx="5">
                  <c:v>0.249</c:v>
                </c:pt>
              </c:numCache>
            </c:numRef>
          </c:val>
        </c:ser>
        <c:ser>
          <c:idx val="1"/>
          <c:order val="1"/>
          <c:tx>
            <c:strRef>
              <c:f>Sheet1!$C$1</c:f>
              <c:strCache>
                <c:ptCount val="1"/>
                <c:pt idx="0">
                  <c:v>Spleen C3</c:v>
                </c:pt>
              </c:strCache>
            </c:strRef>
          </c:tx>
          <c:spPr>
            <a:solidFill>
              <a:srgbClr val="C8694A"/>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Fos</c:v>
                  </c:pt>
                  <c:pt idx="1">
                    <c:v>Fosb</c:v>
                  </c:pt>
                  <c:pt idx="2">
                    <c:v>Jun</c:v>
                  </c:pt>
                  <c:pt idx="3">
                    <c:v>Junb</c:v>
                  </c:pt>
                  <c:pt idx="4">
                    <c:v>Jund</c:v>
                  </c:pt>
                  <c:pt idx="5">
                    <c:v>Dusp1</c:v>
                  </c:pt>
                </c:lvl>
              </c:multiLvlStrCache>
            </c:multiLvlStrRef>
          </c:cat>
          <c:val>
            <c:numRef>
              <c:f>Sheet1!$C$2:$C$7</c:f>
              <c:numCache>
                <c:formatCode>General</c:formatCode>
                <c:ptCount val="6"/>
                <c:pt idx="0">
                  <c:v>0.168</c:v>
                </c:pt>
                <c:pt idx="1">
                  <c:v>0.202</c:v>
                </c:pt>
                <c:pt idx="2">
                  <c:v>0.498</c:v>
                </c:pt>
                <c:pt idx="3">
                  <c:v>0.391</c:v>
                </c:pt>
                <c:pt idx="4">
                  <c:v>0.186</c:v>
                </c:pt>
                <c:pt idx="5">
                  <c:v>0.112</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3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9EB"/>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Δ mean log1p (T2 − Ctrl)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continues directly after the 19 cytotoxicity and GO slides. Everything here uses the same dataset; what changed is the question: we followed Rob's advice to focus on MAPK, AP-1 and the iNKT17 signature, and Yue's advice to use the full candidate lists and group GO terms into functional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who raised it, middle is the request, right is what was actually computed. Three items depend on data or experiments we do not have yet: the AML dataset Rob offered, FASTQ files needed for RNA velocity, and any wet-lab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tissue by cluster, columns are the genes Rob named. Red means higher in T2. Stars mark genes that pass the same DE rule as before. The AP-1 block is consistent in BM C0 and spleen C3. Some of the non-AP-1 genes Rob mentioned show strong colours but these come from very few expressing cells and do not pass FDR, so we do not list them as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new result. The AP-1 complex term is enriched among T2-up genes in both BM C0 and spleen C3, and survives the global correction across all comparisons. However, the MAPK cascade term itself is not significant. So the honest statement is: an AP-1 transcriptional response in T2, consistent with Rob's bench experience, while MAPK activation remains to be tested at the protein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pointed out that some signals may just reflect the stressful tumour environment. Immediate-early genes like Fos and Jun are also known to rise with dissociation. Matching cells on QC metrics does not change the direction, which rules out a sequencing-depth artefact, but it cannot tell niche biology from processing effects. Processing records per sample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highlighted the Th17-like signature. Rorc and Il23r were already there; Ccr6 had been filtered out and is now recovered, with almost all expressing cells in C5-2. Il17a and Il17f are essentially undetected, which is typical for unstimulated cells, so we cannot comment on IL-17 secretion. That is exactly the kind of thing Rob's stimulation experiments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comparison, the bar is all selected T2-up genes. Dark teal is genes inside at least one significant biological-process term. In BM C0 only 66 of 274 genes are covered: the 52 significant terms reuse the same genes. Light grey genes have no BP annotation at all. This is why grouping terms, rather than listing them,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Yue's suggestion we built a network of the significant GO terms, linked when they share genes, then grouped them with a GOLDEN-style fusion of term descriptions and graph structure, plus three GraphSAGE runs. Seven groups emerge. Labels like 'synapse' or 'muscle' appear inside ribosome groups because they share ribosomal genes; they are not iNKT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groups back to clusters: BM C0 and spleen C3, the same populations with the AP-1 signal, also carry respiration and ATP-production groups. When we remove ribosomal and chaperone genes, the OXPHOS enrichment remains while translation and folding disappear, so the energy signal is not an artefact of the stress genes Rob warned about. We keep it as a supplementary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this section with the cytotoxicity slides: spleen C3 shows an AP-1 increase together with a small decrease in the Prf1/Gzma/Gzmb core. BM C4 shows the opposite pattern for cytotoxicity. These are candidates for experiments; the RNA alone does not show that AP-1 changes killing.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questions for Rob's team to choose from, ordered by priority. A and B follow directly from Rob's comments; C connects to the cytotoxicity analysis; D is a supplementary lead from the GO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from exploratory cell-level results to animal-level conclusions we need the pool composition and processing records. For the new directions Rob offered, we need Box access to the AML datasets and FASTQ files, which also enable RNA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A"/>
        </a:solidFill>
      </p:bgPr>
    </p:bg>
    <p:spTree>
      <p:nvGrpSpPr>
        <p:cNvPr id="1" name=""/>
        <p:cNvGrpSpPr/>
        <p:nvPr/>
      </p:nvGrpSpPr>
      <p:grpSpPr>
        <a:xfrm>
          <a:off x="0" y="0"/>
          <a:ext cx="0" cy="0"/>
          <a:chOff x="0" y="0"/>
          <a:chExt cx="0" cy="0"/>
        </a:xfrm>
      </p:grpSpPr>
      <p:sp>
        <p:nvSpPr>
          <p:cNvPr id="2" name="Text 0"/>
          <p:cNvSpPr txBox="1"/>
          <p:nvPr/>
        </p:nvSpPr>
        <p:spPr>
          <a:xfrm>
            <a:off x="731520" y="182880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Follow-up to the 24 Sept meeting</a:t>
            </a:r>
            <a:endParaRPr lang="en-US" sz="4000" dirty="0"/>
          </a:p>
        </p:txBody>
      </p:sp>
      <p:sp>
        <p:nvSpPr>
          <p:cNvPr id="3" name="Text 1"/>
          <p:cNvSpPr txBox="1"/>
          <p:nvPr/>
        </p:nvSpPr>
        <p:spPr>
          <a:xfrm>
            <a:off x="731520" y="2743200"/>
            <a:ext cx="10515600" cy="822960"/>
          </a:xfrm>
          <a:prstGeom prst="rect">
            <a:avLst/>
          </a:prstGeom>
          <a:noFill/>
          <a:ln/>
        </p:spPr>
        <p:txBody>
          <a:bodyPr wrap="square" lIns="0" tIns="0" rIns="0" bIns="0" rtlCol="0" anchor="ctr"/>
          <a:lstStyle/>
          <a:p>
            <a:pPr indent="0" marL="0">
              <a:buNone/>
            </a:pPr>
            <a:r>
              <a:rPr lang="en-US" sz="2000" dirty="0">
                <a:solidFill>
                  <a:srgbClr val="CFE6E8"/>
                </a:solidFill>
                <a:latin typeface="Calibri" pitchFamily="34" charset="0"/>
                <a:ea typeface="Calibri" pitchFamily="34" charset="-122"/>
                <a:cs typeface="Calibri" pitchFamily="34" charset="-120"/>
              </a:rPr>
              <a:t>AP-1 / MAPK, iNKT17 and GO functional grouping — continuing after the cytotoxicity and ontology analysis</a:t>
            </a:r>
            <a:endParaRPr lang="en-US" sz="2000" dirty="0"/>
          </a:p>
        </p:txBody>
      </p:sp>
      <p:sp>
        <p:nvSpPr>
          <p:cNvPr id="4" name="Text 2"/>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1500" dirty="0">
                <a:solidFill>
                  <a:srgbClr val="9FC3C7"/>
                </a:solidFill>
                <a:latin typeface="Calibri" pitchFamily="34" charset="0"/>
                <a:ea typeface="Calibri" pitchFamily="34" charset="-122"/>
                <a:cs typeface="Calibri" pitchFamily="34" charset="-120"/>
              </a:rPr>
              <a:t>Same data: 15,532 iNKT cells · BM / spleen / thymus · Ctrl vs T2 · analysis of 25 Sept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What the meeting asked for, and what we did</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Rob: focus on biology seen at the bench · Yue: use full candidate lists and group ontology terms</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914400"/>
                <a:gridCol w="4480560"/>
                <a:gridCol w="58521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From</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Done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Rob</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Focus on MAPK, AP-1 (Fos/Jun family), iNKT17</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Gene panel across 17 clusters; exact-ID GO for AP-1 complex; MAPK re-tested</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Rob</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Ribosome / stress may reflect an inflamed niche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20 QC-matched resamples; GO re-run excluding Rpl/Rps/Hsp/Dnaj genes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Rob</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Samples: 3 mice pooled per label</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Recorded as design; still n = 1 pool per tissue × condition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Yue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Look beyond top genes; count pathway coverage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All 26 DE tables kept; coverage of every T2-up candidate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Yue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Group GO terms; GOLDEN / Fusion / GNN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97 BP nodes, 577 edges → 7 exploratory functional groups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566928">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Yue</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Keep ontology + cytotoxicity direction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Integrated with BM C4 / spleen C3 cytotoxic signals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7" name="Text 4"/>
          <p:cNvSpPr txBox="1"/>
          <p:nvPr/>
        </p:nvSpPr>
        <p:spPr>
          <a:xfrm>
            <a:off x="457200" y="5760720"/>
            <a:ext cx="11247120" cy="365760"/>
          </a:xfrm>
          <a:prstGeom prst="rect">
            <a:avLst/>
          </a:prstGeom>
          <a:noFill/>
          <a:ln/>
        </p:spPr>
        <p:txBody>
          <a:bodyPr wrap="square" lIns="0" tIns="0" rIns="0" bIns="0" rtlCol="0" anchor="ctr"/>
          <a:lstStyle/>
          <a:p>
            <a:pPr indent="0" marL="0">
              <a:buNone/>
            </a:pPr>
            <a:r>
              <a:rPr lang="en-US" sz="1400" i="1" dirty="0">
                <a:solidFill>
                  <a:srgbClr val="C8694A"/>
                </a:solidFill>
                <a:latin typeface="Calibri" pitchFamily="34" charset="0"/>
                <a:ea typeface="Calibri" pitchFamily="34" charset="-122"/>
                <a:cs typeface="Calibri" pitchFamily="34" charset="-120"/>
              </a:rPr>
              <a:t>Pending (external): AML NK data via Box, FASTQ for RNA velocity, wet-lab validation.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Rob's candidate genes across every eligible cluster</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log2FC T2 / Ctrl; * = gene BH FDR ≤ 0.05 and |log2FC| ≥ 0.25</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pic>
        <p:nvPicPr>
          <p:cNvPr id="6" name="Image 0" descr="/Users/zeruzhang/Documents/zhou2_latest_20260929/bio3/iNKT_by_date/2026-09-25/results/figures/04_Rob_gene_panel.png">    </p:cNvPr>
          <p:cNvPicPr>
            <a:picLocks noChangeAspect="1"/>
          </p:cNvPicPr>
          <p:nvPr/>
        </p:nvPicPr>
        <p:blipFill>
          <a:blip r:embed="rId1"/>
          <a:srcRect l="0" r="0" t="0" b="0"/>
          <a:stretch/>
        </p:blipFill>
        <p:spPr>
          <a:xfrm>
            <a:off x="457200" y="1371600"/>
            <a:ext cx="7315200" cy="4937760"/>
          </a:xfrm>
          <a:prstGeom prst="rect">
            <a:avLst/>
          </a:prstGeom>
        </p:spPr>
      </p:pic>
      <p:sp>
        <p:nvSpPr>
          <p:cNvPr id="7" name="Shape 4"/>
          <p:cNvSpPr/>
          <p:nvPr/>
        </p:nvSpPr>
        <p:spPr>
          <a:xfrm>
            <a:off x="8138160" y="1463040"/>
            <a:ext cx="3566160" cy="4663440"/>
          </a:xfrm>
          <a:prstGeom prst="roundRect">
            <a:avLst>
              <a:gd name="adj" fmla="val 2051"/>
            </a:avLst>
          </a:prstGeom>
          <a:solidFill>
            <a:srgbClr val="D7ECEE"/>
          </a:solidFill>
          <a:ln w="12700">
            <a:solidFill>
              <a:srgbClr val="D7ECEE"/>
            </a:solidFill>
            <a:prstDash val="solid"/>
          </a:ln>
        </p:spPr>
      </p:sp>
      <p:sp>
        <p:nvSpPr>
          <p:cNvPr id="8" name="Text 5"/>
          <p:cNvSpPr txBox="1"/>
          <p:nvPr/>
        </p:nvSpPr>
        <p:spPr>
          <a:xfrm>
            <a:off x="8366760" y="1645920"/>
            <a:ext cx="3200400" cy="365760"/>
          </a:xfrm>
          <a:prstGeom prst="rect">
            <a:avLst/>
          </a:prstGeom>
          <a:noFill/>
          <a:ln/>
        </p:spPr>
        <p:txBody>
          <a:bodyPr wrap="square" lIns="0" tIns="0" rIns="0" bIns="0" rtlCol="0" anchor="ctr"/>
          <a:lstStyle/>
          <a:p>
            <a:pPr indent="0" marL="0">
              <a:buNone/>
            </a:pPr>
            <a:r>
              <a:rPr lang="en-US" sz="1800" b="1" dirty="0">
                <a:solidFill>
                  <a:srgbClr val="137D8A"/>
                </a:solidFill>
                <a:latin typeface="Cambria" pitchFamily="34" charset="0"/>
                <a:ea typeface="Cambria" pitchFamily="34" charset="-122"/>
                <a:cs typeface="Cambria" pitchFamily="34" charset="-120"/>
              </a:rPr>
              <a:t>Reading</a:t>
            </a:r>
            <a:endParaRPr lang="en-US" sz="1800" dirty="0"/>
          </a:p>
        </p:txBody>
      </p:sp>
      <p:sp>
        <p:nvSpPr>
          <p:cNvPr id="9" name="Text 6"/>
          <p:cNvSpPr txBox="1"/>
          <p:nvPr/>
        </p:nvSpPr>
        <p:spPr>
          <a:xfrm>
            <a:off x="8366760" y="2103120"/>
            <a:ext cx="3200400" cy="3840480"/>
          </a:xfrm>
          <a:prstGeom prst="rect">
            <a:avLst/>
          </a:prstGeom>
          <a:noFill/>
          <a:ln/>
        </p:spPr>
        <p:txBody>
          <a:bodyPr wrap="square" rtlCol="0" anchor="t"/>
          <a:lstStyle/>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AP-1 family (Fos, Jun, Junb, Fosb, Fosl2) and Dusp1 rise in T2 in BM C0 and spleen C3</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Same direction, fewer passing genes, in BM C4, spleen C4 / C5-1, thymus C6</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Il1r1, Il6ra, Cd8a, Ciita: large colours but no FDR support — sparse detection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AP-1 complex is enriched; MAPK cascade is not</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GO:0035976 'transcription factor AP-1 complex' — T2-up genes, exact GO ID (not 'AP-1 adaptor complex')</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sp>
        <p:nvSpPr>
          <p:cNvPr id="6" name="Shape 4"/>
          <p:cNvSpPr/>
          <p:nvPr/>
        </p:nvSpPr>
        <p:spPr>
          <a:xfrm>
            <a:off x="457200" y="1554480"/>
            <a:ext cx="3566160" cy="2926080"/>
          </a:xfrm>
          <a:prstGeom prst="roundRect">
            <a:avLst>
              <a:gd name="adj" fmla="val 2500"/>
            </a:avLst>
          </a:prstGeom>
          <a:solidFill>
            <a:srgbClr val="D7ECEE"/>
          </a:solidFill>
          <a:ln w="12700">
            <a:solidFill>
              <a:srgbClr val="D7ECEE"/>
            </a:solidFill>
            <a:prstDash val="solid"/>
          </a:ln>
        </p:spPr>
      </p:sp>
      <p:sp>
        <p:nvSpPr>
          <p:cNvPr id="7" name="Text 5"/>
          <p:cNvSpPr txBox="1"/>
          <p:nvPr/>
        </p:nvSpPr>
        <p:spPr>
          <a:xfrm>
            <a:off x="731520" y="1737360"/>
            <a:ext cx="3017520" cy="411480"/>
          </a:xfrm>
          <a:prstGeom prst="rect">
            <a:avLst/>
          </a:prstGeom>
          <a:noFill/>
          <a:ln/>
        </p:spPr>
        <p:txBody>
          <a:bodyPr wrap="square" lIns="0" tIns="0" rIns="0" bIns="0" rtlCol="0" anchor="ctr"/>
          <a:lstStyle/>
          <a:p>
            <a:pPr indent="0" marL="0">
              <a:buNone/>
            </a:pPr>
            <a:r>
              <a:rPr lang="en-US" sz="2000" b="1" dirty="0">
                <a:solidFill>
                  <a:srgbClr val="137D8A"/>
                </a:solidFill>
                <a:latin typeface="Cambria" pitchFamily="34" charset="0"/>
                <a:ea typeface="Cambria" pitchFamily="34" charset="-122"/>
                <a:cs typeface="Cambria" pitchFamily="34" charset="-120"/>
              </a:rPr>
              <a:t>BM C0</a:t>
            </a:r>
            <a:endParaRPr lang="en-US" sz="2000" dirty="0"/>
          </a:p>
        </p:txBody>
      </p:sp>
      <p:sp>
        <p:nvSpPr>
          <p:cNvPr id="8" name="Text 6"/>
          <p:cNvSpPr txBox="1"/>
          <p:nvPr/>
        </p:nvSpPr>
        <p:spPr>
          <a:xfrm>
            <a:off x="731520" y="2240280"/>
            <a:ext cx="3017520" cy="822960"/>
          </a:xfrm>
          <a:prstGeom prst="rect">
            <a:avLst/>
          </a:prstGeom>
          <a:noFill/>
          <a:ln/>
        </p:spPr>
        <p:txBody>
          <a:bodyPr wrap="square" lIns="0" tIns="0" rIns="0" bIns="0" rtlCol="0" anchor="ctr"/>
          <a:lstStyle/>
          <a:p>
            <a:pPr indent="0" marL="0">
              <a:buNone/>
            </a:pPr>
            <a:r>
              <a:rPr lang="en-US" sz="4000" b="1" dirty="0">
                <a:solidFill>
                  <a:srgbClr val="1F2A30"/>
                </a:solidFill>
                <a:latin typeface="Cambria" pitchFamily="34" charset="0"/>
                <a:ea typeface="Cambria" pitchFamily="34" charset="-122"/>
                <a:cs typeface="Cambria" pitchFamily="34" charset="-120"/>
              </a:rPr>
              <a:t>q = 0.0029</a:t>
            </a:r>
            <a:endParaRPr lang="en-US" sz="4000" dirty="0"/>
          </a:p>
        </p:txBody>
      </p:sp>
      <p:sp>
        <p:nvSpPr>
          <p:cNvPr id="9" name="Text 7"/>
          <p:cNvSpPr txBox="1"/>
          <p:nvPr/>
        </p:nvSpPr>
        <p:spPr>
          <a:xfrm>
            <a:off x="731520" y="3063240"/>
            <a:ext cx="3017520" cy="365760"/>
          </a:xfrm>
          <a:prstGeom prst="rect">
            <a:avLst/>
          </a:prstGeom>
          <a:noFill/>
          <a:ln/>
        </p:spPr>
        <p:txBody>
          <a:bodyPr wrap="square" lIns="0" tIns="0" rIns="0" bIns="0" rtlCol="0" anchor="ctr"/>
          <a:lstStyle/>
          <a:p>
            <a:pPr indent="0" marL="0">
              <a:buNone/>
            </a:pPr>
            <a:r>
              <a:rPr lang="en-US" sz="1300" dirty="0">
                <a:solidFill>
                  <a:srgbClr val="5F6B72"/>
                </a:solidFill>
                <a:latin typeface="Calibri" pitchFamily="34" charset="0"/>
                <a:ea typeface="Calibri" pitchFamily="34" charset="-122"/>
                <a:cs typeface="Calibri" pitchFamily="34" charset="-120"/>
              </a:rPr>
              <a:t>global FDR (family 0.00026)</a:t>
            </a:r>
            <a:endParaRPr lang="en-US" sz="1300" dirty="0"/>
          </a:p>
        </p:txBody>
      </p:sp>
      <p:sp>
        <p:nvSpPr>
          <p:cNvPr id="10" name="Text 8"/>
          <p:cNvSpPr txBox="1"/>
          <p:nvPr/>
        </p:nvSpPr>
        <p:spPr>
          <a:xfrm>
            <a:off x="731520" y="3611880"/>
            <a:ext cx="3017520" cy="548640"/>
          </a:xfrm>
          <a:prstGeom prst="rect">
            <a:avLst/>
          </a:prstGeom>
          <a:noFill/>
          <a:ln/>
        </p:spPr>
        <p:txBody>
          <a:bodyPr wrap="square" lIns="0" tIns="0" rIns="0" bIns="0" rtlCol="0" anchor="ctr"/>
          <a:lstStyle/>
          <a:p>
            <a:pPr indent="0" marL="0">
              <a:buNone/>
            </a:pPr>
            <a:r>
              <a:rPr lang="en-US" sz="1500" i="1" dirty="0">
                <a:solidFill>
                  <a:srgbClr val="1F2A30"/>
                </a:solidFill>
                <a:latin typeface="Calibri" pitchFamily="34" charset="0"/>
                <a:ea typeface="Calibri" pitchFamily="34" charset="-122"/>
                <a:cs typeface="Calibri" pitchFamily="34" charset="-120"/>
              </a:rPr>
              <a:t>Fos · Fosl2 · Jun · Junb</a:t>
            </a:r>
            <a:endParaRPr lang="en-US" sz="1500" dirty="0"/>
          </a:p>
        </p:txBody>
      </p:sp>
      <p:sp>
        <p:nvSpPr>
          <p:cNvPr id="11" name="Shape 9"/>
          <p:cNvSpPr/>
          <p:nvPr/>
        </p:nvSpPr>
        <p:spPr>
          <a:xfrm>
            <a:off x="4297680" y="1554480"/>
            <a:ext cx="3566160" cy="2926080"/>
          </a:xfrm>
          <a:prstGeom prst="roundRect">
            <a:avLst>
              <a:gd name="adj" fmla="val 2500"/>
            </a:avLst>
          </a:prstGeom>
          <a:solidFill>
            <a:srgbClr val="D7ECEE"/>
          </a:solidFill>
          <a:ln w="12700">
            <a:solidFill>
              <a:srgbClr val="D7ECEE"/>
            </a:solidFill>
            <a:prstDash val="solid"/>
          </a:ln>
        </p:spPr>
      </p:sp>
      <p:sp>
        <p:nvSpPr>
          <p:cNvPr id="12" name="Text 10"/>
          <p:cNvSpPr txBox="1"/>
          <p:nvPr/>
        </p:nvSpPr>
        <p:spPr>
          <a:xfrm>
            <a:off x="4572000" y="1737360"/>
            <a:ext cx="3017520" cy="411480"/>
          </a:xfrm>
          <a:prstGeom prst="rect">
            <a:avLst/>
          </a:prstGeom>
          <a:noFill/>
          <a:ln/>
        </p:spPr>
        <p:txBody>
          <a:bodyPr wrap="square" lIns="0" tIns="0" rIns="0" bIns="0" rtlCol="0" anchor="ctr"/>
          <a:lstStyle/>
          <a:p>
            <a:pPr indent="0" marL="0">
              <a:buNone/>
            </a:pPr>
            <a:r>
              <a:rPr lang="en-US" sz="2000" b="1" dirty="0">
                <a:solidFill>
                  <a:srgbClr val="137D8A"/>
                </a:solidFill>
                <a:latin typeface="Cambria" pitchFamily="34" charset="0"/>
                <a:ea typeface="Cambria" pitchFamily="34" charset="-122"/>
                <a:cs typeface="Cambria" pitchFamily="34" charset="-120"/>
              </a:rPr>
              <a:t>Spleen C3</a:t>
            </a:r>
            <a:endParaRPr lang="en-US" sz="2000" dirty="0"/>
          </a:p>
        </p:txBody>
      </p:sp>
      <p:sp>
        <p:nvSpPr>
          <p:cNvPr id="13" name="Text 11"/>
          <p:cNvSpPr txBox="1"/>
          <p:nvPr/>
        </p:nvSpPr>
        <p:spPr>
          <a:xfrm>
            <a:off x="4572000" y="2240280"/>
            <a:ext cx="3017520" cy="822960"/>
          </a:xfrm>
          <a:prstGeom prst="rect">
            <a:avLst/>
          </a:prstGeom>
          <a:noFill/>
          <a:ln/>
        </p:spPr>
        <p:txBody>
          <a:bodyPr wrap="square" lIns="0" tIns="0" rIns="0" bIns="0" rtlCol="0" anchor="ctr"/>
          <a:lstStyle/>
          <a:p>
            <a:pPr indent="0" marL="0">
              <a:buNone/>
            </a:pPr>
            <a:r>
              <a:rPr lang="en-US" sz="4000" b="1" dirty="0">
                <a:solidFill>
                  <a:srgbClr val="1F2A30"/>
                </a:solidFill>
                <a:latin typeface="Cambria" pitchFamily="34" charset="0"/>
                <a:ea typeface="Cambria" pitchFamily="34" charset="-122"/>
                <a:cs typeface="Cambria" pitchFamily="34" charset="-120"/>
              </a:rPr>
              <a:t>q = 0.0023</a:t>
            </a:r>
            <a:endParaRPr lang="en-US" sz="4000" dirty="0"/>
          </a:p>
        </p:txBody>
      </p:sp>
      <p:sp>
        <p:nvSpPr>
          <p:cNvPr id="14" name="Text 12"/>
          <p:cNvSpPr txBox="1"/>
          <p:nvPr/>
        </p:nvSpPr>
        <p:spPr>
          <a:xfrm>
            <a:off x="4572000" y="3063240"/>
            <a:ext cx="3017520" cy="365760"/>
          </a:xfrm>
          <a:prstGeom prst="rect">
            <a:avLst/>
          </a:prstGeom>
          <a:noFill/>
          <a:ln/>
        </p:spPr>
        <p:txBody>
          <a:bodyPr wrap="square" lIns="0" tIns="0" rIns="0" bIns="0" rtlCol="0" anchor="ctr"/>
          <a:lstStyle/>
          <a:p>
            <a:pPr indent="0" marL="0">
              <a:buNone/>
            </a:pPr>
            <a:r>
              <a:rPr lang="en-US" sz="1300" dirty="0">
                <a:solidFill>
                  <a:srgbClr val="5F6B72"/>
                </a:solidFill>
                <a:latin typeface="Calibri" pitchFamily="34" charset="0"/>
                <a:ea typeface="Calibri" pitchFamily="34" charset="-122"/>
                <a:cs typeface="Calibri" pitchFamily="34" charset="-120"/>
              </a:rPr>
              <a:t>global FDR (family 0.00019)</a:t>
            </a:r>
            <a:endParaRPr lang="en-US" sz="1300" dirty="0"/>
          </a:p>
        </p:txBody>
      </p:sp>
      <p:sp>
        <p:nvSpPr>
          <p:cNvPr id="15" name="Text 13"/>
          <p:cNvSpPr txBox="1"/>
          <p:nvPr/>
        </p:nvSpPr>
        <p:spPr>
          <a:xfrm>
            <a:off x="4572000" y="3611880"/>
            <a:ext cx="3017520" cy="548640"/>
          </a:xfrm>
          <a:prstGeom prst="rect">
            <a:avLst/>
          </a:prstGeom>
          <a:noFill/>
          <a:ln/>
        </p:spPr>
        <p:txBody>
          <a:bodyPr wrap="square" lIns="0" tIns="0" rIns="0" bIns="0" rtlCol="0" anchor="ctr"/>
          <a:lstStyle/>
          <a:p>
            <a:pPr indent="0" marL="0">
              <a:buNone/>
            </a:pPr>
            <a:r>
              <a:rPr lang="en-US" sz="1500" i="1" dirty="0">
                <a:solidFill>
                  <a:srgbClr val="1F2A30"/>
                </a:solidFill>
                <a:latin typeface="Calibri" pitchFamily="34" charset="0"/>
                <a:ea typeface="Calibri" pitchFamily="34" charset="-122"/>
                <a:cs typeface="Calibri" pitchFamily="34" charset="-120"/>
              </a:rPr>
              <a:t>Fos · Jun · Junb · Jund</a:t>
            </a:r>
            <a:endParaRPr lang="en-US" sz="1500" dirty="0"/>
          </a:p>
        </p:txBody>
      </p:sp>
      <p:sp>
        <p:nvSpPr>
          <p:cNvPr id="16" name="Shape 14"/>
          <p:cNvSpPr/>
          <p:nvPr/>
        </p:nvSpPr>
        <p:spPr>
          <a:xfrm>
            <a:off x="8138160" y="1554480"/>
            <a:ext cx="3566160" cy="2926080"/>
          </a:xfrm>
          <a:prstGeom prst="roundRect">
            <a:avLst>
              <a:gd name="adj" fmla="val 2500"/>
            </a:avLst>
          </a:prstGeom>
          <a:solidFill>
            <a:srgbClr val="F6E2DA"/>
          </a:solidFill>
          <a:ln w="12700">
            <a:solidFill>
              <a:srgbClr val="F6E2DA"/>
            </a:solidFill>
            <a:prstDash val="solid"/>
          </a:ln>
        </p:spPr>
      </p:sp>
      <p:sp>
        <p:nvSpPr>
          <p:cNvPr id="17" name="Text 15"/>
          <p:cNvSpPr txBox="1"/>
          <p:nvPr/>
        </p:nvSpPr>
        <p:spPr>
          <a:xfrm>
            <a:off x="8412480" y="1737360"/>
            <a:ext cx="3017520" cy="411480"/>
          </a:xfrm>
          <a:prstGeom prst="rect">
            <a:avLst/>
          </a:prstGeom>
          <a:noFill/>
          <a:ln/>
        </p:spPr>
        <p:txBody>
          <a:bodyPr wrap="square" lIns="0" tIns="0" rIns="0" bIns="0" rtlCol="0" anchor="ctr"/>
          <a:lstStyle/>
          <a:p>
            <a:pPr indent="0" marL="0">
              <a:buNone/>
            </a:pPr>
            <a:r>
              <a:rPr lang="en-US" sz="2000" b="1" dirty="0">
                <a:solidFill>
                  <a:srgbClr val="C8694A"/>
                </a:solidFill>
                <a:latin typeface="Cambria" pitchFamily="34" charset="0"/>
                <a:ea typeface="Cambria" pitchFamily="34" charset="-122"/>
                <a:cs typeface="Cambria" pitchFamily="34" charset="-120"/>
              </a:rPr>
              <a:t>MAPK</a:t>
            </a:r>
            <a:endParaRPr lang="en-US" sz="2000" dirty="0"/>
          </a:p>
        </p:txBody>
      </p:sp>
      <p:sp>
        <p:nvSpPr>
          <p:cNvPr id="18" name="Text 16"/>
          <p:cNvSpPr txBox="1"/>
          <p:nvPr/>
        </p:nvSpPr>
        <p:spPr>
          <a:xfrm>
            <a:off x="8412480" y="2240280"/>
            <a:ext cx="3017520" cy="822960"/>
          </a:xfrm>
          <a:prstGeom prst="rect">
            <a:avLst/>
          </a:prstGeom>
          <a:noFill/>
          <a:ln/>
        </p:spPr>
        <p:txBody>
          <a:bodyPr wrap="square" lIns="0" tIns="0" rIns="0" bIns="0" rtlCol="0" anchor="ctr"/>
          <a:lstStyle/>
          <a:p>
            <a:pPr indent="0" marL="0">
              <a:buNone/>
            </a:pPr>
            <a:r>
              <a:rPr lang="en-US" sz="4000" b="1" dirty="0">
                <a:solidFill>
                  <a:srgbClr val="1F2A30"/>
                </a:solidFill>
                <a:latin typeface="Cambria" pitchFamily="34" charset="0"/>
                <a:ea typeface="Cambria" pitchFamily="34" charset="-122"/>
                <a:cs typeface="Cambria" pitchFamily="34" charset="-120"/>
              </a:rPr>
              <a:t>q = 1</a:t>
            </a:r>
            <a:endParaRPr lang="en-US" sz="4000" dirty="0"/>
          </a:p>
        </p:txBody>
      </p:sp>
      <p:sp>
        <p:nvSpPr>
          <p:cNvPr id="19" name="Text 17"/>
          <p:cNvSpPr txBox="1"/>
          <p:nvPr/>
        </p:nvSpPr>
        <p:spPr>
          <a:xfrm>
            <a:off x="8412480" y="3063240"/>
            <a:ext cx="3017520" cy="365760"/>
          </a:xfrm>
          <a:prstGeom prst="rect">
            <a:avLst/>
          </a:prstGeom>
          <a:noFill/>
          <a:ln/>
        </p:spPr>
        <p:txBody>
          <a:bodyPr wrap="square" lIns="0" tIns="0" rIns="0" bIns="0" rtlCol="0" anchor="ctr"/>
          <a:lstStyle/>
          <a:p>
            <a:pPr indent="0" marL="0">
              <a:buNone/>
            </a:pPr>
            <a:r>
              <a:rPr lang="en-US" sz="1300" dirty="0">
                <a:solidFill>
                  <a:srgbClr val="5F6B72"/>
                </a:solidFill>
                <a:latin typeface="Calibri" pitchFamily="34" charset="0"/>
                <a:ea typeface="Calibri" pitchFamily="34" charset="-122"/>
                <a:cs typeface="Calibri" pitchFamily="34" charset="-120"/>
              </a:rPr>
              <a:t>GO 'MAPK cascade', BM C0</a:t>
            </a:r>
            <a:endParaRPr lang="en-US" sz="1300" dirty="0"/>
          </a:p>
        </p:txBody>
      </p:sp>
      <p:sp>
        <p:nvSpPr>
          <p:cNvPr id="20" name="Text 18"/>
          <p:cNvSpPr txBox="1"/>
          <p:nvPr/>
        </p:nvSpPr>
        <p:spPr>
          <a:xfrm>
            <a:off x="8412480" y="3520440"/>
            <a:ext cx="3017520" cy="8229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KEGG MAPK: q = 0.078 (legacy rule), not significant under the robust rule</a:t>
            </a:r>
            <a:endParaRPr lang="en-US" sz="1300" dirty="0"/>
          </a:p>
        </p:txBody>
      </p:sp>
      <p:sp>
        <p:nvSpPr>
          <p:cNvPr id="21" name="Text 19"/>
          <p:cNvSpPr txBox="1"/>
          <p:nvPr/>
        </p:nvSpPr>
        <p:spPr>
          <a:xfrm>
            <a:off x="457200" y="4754880"/>
            <a:ext cx="11247120" cy="1463040"/>
          </a:xfrm>
          <a:prstGeom prst="rect">
            <a:avLst/>
          </a:prstGeom>
          <a:noFill/>
          <a:ln/>
        </p:spPr>
        <p:txBody>
          <a:bodyPr wrap="square" rtlCol="0" anchor="t"/>
          <a:lstStyle/>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Supports an AP-1 transcriptional programme in T2 — not protein activation or DNA binding</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AP-1 enrichment should not be used to relabel MAPK as significant; p-ERK / p-p38 would be the bench test</a:t>
            </a:r>
            <a:endParaRPr lang="en-US" sz="1500" dirty="0"/>
          </a:p>
          <a:p>
            <a:pPr marL="342900" indent="-342900">
              <a:spcAft>
                <a:spcPts val="600"/>
              </a:spcAft>
              <a:buSzPct val="100000"/>
              <a:buChar char="•"/>
            </a:pPr>
            <a:r>
              <a:rPr lang="en-US" sz="1500" dirty="0">
                <a:solidFill>
                  <a:srgbClr val="1F2A30"/>
                </a:solidFill>
                <a:latin typeface="Calibri" pitchFamily="34" charset="0"/>
                <a:ea typeface="Calibri" pitchFamily="34" charset="-122"/>
                <a:cs typeface="Calibri" pitchFamily="34" charset="-120"/>
              </a:rPr>
              <a:t>Only 6 genes annotate the AP-1 complex, so this is a focused, small-term result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AP-1 genes keep their direction after QC matching</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Mean log1p expression difference (T2 − Ctrl) in the full data; all 20 QC-matched resamples agree in direction</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graphicFrame>
        <p:nvGraphicFramePr>
          <p:cNvPr id="6" name="Chart 0" descr=""/>
          <p:cNvGraphicFramePr/>
          <p:nvPr/>
        </p:nvGraphicFramePr>
        <p:xfrm>
          <a:off x="457200" y="137160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554480"/>
            <a:ext cx="3383280" cy="4480560"/>
          </a:xfrm>
          <a:prstGeom prst="roundRect">
            <a:avLst>
              <a:gd name="adj" fmla="val 2162"/>
            </a:avLst>
          </a:prstGeom>
          <a:solidFill>
            <a:srgbClr val="D7ECEE"/>
          </a:solidFill>
          <a:ln w="12700">
            <a:solidFill>
              <a:srgbClr val="D7ECEE"/>
            </a:solidFill>
            <a:prstDash val="solid"/>
          </a:ln>
        </p:spPr>
      </p:sp>
      <p:sp>
        <p:nvSpPr>
          <p:cNvPr id="8" name="Text 5"/>
          <p:cNvSpPr txBox="1"/>
          <p:nvPr/>
        </p:nvSpPr>
        <p:spPr>
          <a:xfrm>
            <a:off x="8549640" y="1783080"/>
            <a:ext cx="2926080" cy="822960"/>
          </a:xfrm>
          <a:prstGeom prst="rect">
            <a:avLst/>
          </a:prstGeom>
          <a:noFill/>
          <a:ln/>
        </p:spPr>
        <p:txBody>
          <a:bodyPr wrap="square" lIns="0" tIns="0" rIns="0" bIns="0" rtlCol="0" anchor="ctr"/>
          <a:lstStyle/>
          <a:p>
            <a:pPr indent="0" marL="0">
              <a:buNone/>
            </a:pPr>
            <a:r>
              <a:rPr lang="en-US" sz="4400" b="1" dirty="0">
                <a:solidFill>
                  <a:srgbClr val="137D8A"/>
                </a:solidFill>
                <a:latin typeface="Cambria" pitchFamily="34" charset="0"/>
                <a:ea typeface="Cambria" pitchFamily="34" charset="-122"/>
                <a:cs typeface="Cambria" pitchFamily="34" charset="-120"/>
              </a:rPr>
              <a:t>20 / 20</a:t>
            </a:r>
            <a:endParaRPr lang="en-US" sz="4400" dirty="0"/>
          </a:p>
        </p:txBody>
      </p:sp>
      <p:sp>
        <p:nvSpPr>
          <p:cNvPr id="9" name="Text 6"/>
          <p:cNvSpPr txBox="1"/>
          <p:nvPr/>
        </p:nvSpPr>
        <p:spPr>
          <a:xfrm>
            <a:off x="8549640" y="2606040"/>
            <a:ext cx="2926080" cy="64008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resamples same direction for every gene shown</a:t>
            </a:r>
            <a:endParaRPr lang="en-US" sz="1400" dirty="0"/>
          </a:p>
        </p:txBody>
      </p:sp>
      <p:sp>
        <p:nvSpPr>
          <p:cNvPr id="10" name="Text 7"/>
          <p:cNvSpPr txBox="1"/>
          <p:nvPr/>
        </p:nvSpPr>
        <p:spPr>
          <a:xfrm>
            <a:off x="8549640" y="3429000"/>
            <a:ext cx="2926080" cy="2468880"/>
          </a:xfrm>
          <a:prstGeom prst="rect">
            <a:avLst/>
          </a:prstGeom>
          <a:noFill/>
          <a:ln/>
        </p:spPr>
        <p:txBody>
          <a:bodyPr wrap="square" rtlCol="0" anchor="t"/>
          <a:lstStyle/>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Ctrl and T2 matched on QC metrics (max SMD ≈ 0.06)</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Rules out a simple QC-depth artefact</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Cannot separate niche biology from dissociation / processing time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iNKT17: identity markers in C5-2, but no IL-17 transcript</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Re-read all 32,285 features from the six raw matrices to recover genes dropped by the min_cells filter</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pic>
        <p:nvPicPr>
          <p:cNvPr id="6" name="Image 0" descr="/Users/zeruzhang/Documents/zhou2_latest_20260929/bio3/iNKT_by_date/2026-09-25/results/figures/05_full_feature_iNKT17.png">    </p:cNvPr>
          <p:cNvPicPr>
            <a:picLocks noChangeAspect="1"/>
          </p:cNvPicPr>
          <p:nvPr/>
        </p:nvPicPr>
        <p:blipFill>
          <a:blip r:embed="rId1"/>
          <a:srcRect l="0" r="0" t="0" b="0"/>
          <a:stretch/>
        </p:blipFill>
        <p:spPr>
          <a:xfrm>
            <a:off x="457200" y="1371600"/>
            <a:ext cx="7863840" cy="3566160"/>
          </a:xfrm>
          <a:prstGeom prst="rect">
            <a:avLst/>
          </a:prstGeom>
        </p:spPr>
      </p:pic>
      <p:sp>
        <p:nvSpPr>
          <p:cNvPr id="7" name="Shape 4"/>
          <p:cNvSpPr/>
          <p:nvPr/>
        </p:nvSpPr>
        <p:spPr>
          <a:xfrm>
            <a:off x="8686800" y="1463040"/>
            <a:ext cx="3017520" cy="1005840"/>
          </a:xfrm>
          <a:prstGeom prst="roundRect">
            <a:avLst>
              <a:gd name="adj" fmla="val 7273"/>
            </a:avLst>
          </a:prstGeom>
          <a:solidFill>
            <a:srgbClr val="D7ECEE"/>
          </a:solidFill>
          <a:ln w="12700">
            <a:solidFill>
              <a:srgbClr val="D7ECEE"/>
            </a:solidFill>
            <a:prstDash val="solid"/>
          </a:ln>
        </p:spPr>
      </p:sp>
      <p:sp>
        <p:nvSpPr>
          <p:cNvPr id="8" name="Text 5"/>
          <p:cNvSpPr txBox="1"/>
          <p:nvPr/>
        </p:nvSpPr>
        <p:spPr>
          <a:xfrm>
            <a:off x="8869680" y="1554480"/>
            <a:ext cx="1005840" cy="822960"/>
          </a:xfrm>
          <a:prstGeom prst="rect">
            <a:avLst/>
          </a:prstGeom>
          <a:noFill/>
          <a:ln/>
        </p:spPr>
        <p:txBody>
          <a:bodyPr wrap="square" lIns="0" tIns="0" rIns="0" bIns="0" rtlCol="0" anchor="ctr"/>
          <a:lstStyle/>
          <a:p>
            <a:pPr indent="0" marL="0">
              <a:buNone/>
            </a:pPr>
            <a:r>
              <a:rPr lang="en-US" sz="3400" b="1" dirty="0">
                <a:solidFill>
                  <a:srgbClr val="137D8A"/>
                </a:solidFill>
                <a:latin typeface="Cambria" pitchFamily="34" charset="0"/>
                <a:ea typeface="Cambria" pitchFamily="34" charset="-122"/>
                <a:cs typeface="Cambria" pitchFamily="34" charset="-120"/>
              </a:rPr>
              <a:t>60</a:t>
            </a:r>
            <a:endParaRPr lang="en-US" sz="3400" dirty="0"/>
          </a:p>
        </p:txBody>
      </p:sp>
      <p:sp>
        <p:nvSpPr>
          <p:cNvPr id="9" name="Text 6"/>
          <p:cNvSpPr txBox="1"/>
          <p:nvPr/>
        </p:nvSpPr>
        <p:spPr>
          <a:xfrm>
            <a:off x="9875520" y="1554480"/>
            <a:ext cx="1737360" cy="8229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retained cells express Ccr6</a:t>
            </a:r>
            <a:endParaRPr lang="en-US" sz="1300" dirty="0"/>
          </a:p>
        </p:txBody>
      </p:sp>
      <p:sp>
        <p:nvSpPr>
          <p:cNvPr id="10" name="Shape 7"/>
          <p:cNvSpPr/>
          <p:nvPr/>
        </p:nvSpPr>
        <p:spPr>
          <a:xfrm>
            <a:off x="8686800" y="2651760"/>
            <a:ext cx="3017520" cy="1005840"/>
          </a:xfrm>
          <a:prstGeom prst="roundRect">
            <a:avLst>
              <a:gd name="adj" fmla="val 7273"/>
            </a:avLst>
          </a:prstGeom>
          <a:solidFill>
            <a:srgbClr val="D7ECEE"/>
          </a:solidFill>
          <a:ln w="12700">
            <a:solidFill>
              <a:srgbClr val="D7ECEE"/>
            </a:solidFill>
            <a:prstDash val="solid"/>
          </a:ln>
        </p:spPr>
      </p:sp>
      <p:sp>
        <p:nvSpPr>
          <p:cNvPr id="11" name="Text 8"/>
          <p:cNvSpPr txBox="1"/>
          <p:nvPr/>
        </p:nvSpPr>
        <p:spPr>
          <a:xfrm>
            <a:off x="8869680" y="2743200"/>
            <a:ext cx="1005840" cy="822960"/>
          </a:xfrm>
          <a:prstGeom prst="rect">
            <a:avLst/>
          </a:prstGeom>
          <a:noFill/>
          <a:ln/>
        </p:spPr>
        <p:txBody>
          <a:bodyPr wrap="square" lIns="0" tIns="0" rIns="0" bIns="0" rtlCol="0" anchor="ctr"/>
          <a:lstStyle/>
          <a:p>
            <a:pPr indent="0" marL="0">
              <a:buNone/>
            </a:pPr>
            <a:r>
              <a:rPr lang="en-US" sz="3400" b="1" dirty="0">
                <a:solidFill>
                  <a:srgbClr val="137D8A"/>
                </a:solidFill>
                <a:latin typeface="Cambria" pitchFamily="34" charset="0"/>
                <a:ea typeface="Cambria" pitchFamily="34" charset="-122"/>
                <a:cs typeface="Cambria" pitchFamily="34" charset="-120"/>
              </a:rPr>
              <a:t>54</a:t>
            </a:r>
            <a:endParaRPr lang="en-US" sz="3400" dirty="0"/>
          </a:p>
        </p:txBody>
      </p:sp>
      <p:sp>
        <p:nvSpPr>
          <p:cNvPr id="12" name="Text 9"/>
          <p:cNvSpPr txBox="1"/>
          <p:nvPr/>
        </p:nvSpPr>
        <p:spPr>
          <a:xfrm>
            <a:off x="9875520" y="2743200"/>
            <a:ext cx="1737360" cy="8229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of these are in C5-2</a:t>
            </a:r>
            <a:endParaRPr lang="en-US" sz="1300" dirty="0"/>
          </a:p>
        </p:txBody>
      </p:sp>
      <p:sp>
        <p:nvSpPr>
          <p:cNvPr id="13" name="Shape 10"/>
          <p:cNvSpPr/>
          <p:nvPr/>
        </p:nvSpPr>
        <p:spPr>
          <a:xfrm>
            <a:off x="8686800" y="3840480"/>
            <a:ext cx="3017520" cy="1005840"/>
          </a:xfrm>
          <a:prstGeom prst="roundRect">
            <a:avLst>
              <a:gd name="adj" fmla="val 7273"/>
            </a:avLst>
          </a:prstGeom>
          <a:solidFill>
            <a:srgbClr val="F6E2DA"/>
          </a:solidFill>
          <a:ln w="12700">
            <a:solidFill>
              <a:srgbClr val="F6E2DA"/>
            </a:solidFill>
            <a:prstDash val="solid"/>
          </a:ln>
        </p:spPr>
      </p:sp>
      <p:sp>
        <p:nvSpPr>
          <p:cNvPr id="14" name="Text 11"/>
          <p:cNvSpPr txBox="1"/>
          <p:nvPr/>
        </p:nvSpPr>
        <p:spPr>
          <a:xfrm>
            <a:off x="8869680" y="3931920"/>
            <a:ext cx="1005840" cy="822960"/>
          </a:xfrm>
          <a:prstGeom prst="rect">
            <a:avLst/>
          </a:prstGeom>
          <a:noFill/>
          <a:ln/>
        </p:spPr>
        <p:txBody>
          <a:bodyPr wrap="square" lIns="0" tIns="0" rIns="0" bIns="0" rtlCol="0" anchor="ctr"/>
          <a:lstStyle/>
          <a:p>
            <a:pPr indent="0" marL="0">
              <a:buNone/>
            </a:pPr>
            <a:r>
              <a:rPr lang="en-US" sz="3400" b="1" dirty="0">
                <a:solidFill>
                  <a:srgbClr val="C8694A"/>
                </a:solidFill>
                <a:latin typeface="Cambria" pitchFamily="34" charset="0"/>
                <a:ea typeface="Cambria" pitchFamily="34" charset="-122"/>
                <a:cs typeface="Cambria" pitchFamily="34" charset="-120"/>
              </a:rPr>
              <a:t>0</a:t>
            </a:r>
            <a:endParaRPr lang="en-US" sz="3400" dirty="0"/>
          </a:p>
        </p:txBody>
      </p:sp>
      <p:sp>
        <p:nvSpPr>
          <p:cNvPr id="15" name="Text 12"/>
          <p:cNvSpPr txBox="1"/>
          <p:nvPr/>
        </p:nvSpPr>
        <p:spPr>
          <a:xfrm>
            <a:off x="9875520" y="3931920"/>
            <a:ext cx="1737360" cy="8229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cells with Il17a</a:t>
            </a:r>
            <a:endParaRPr lang="en-US" sz="1300" dirty="0"/>
          </a:p>
        </p:txBody>
      </p:sp>
      <p:sp>
        <p:nvSpPr>
          <p:cNvPr id="16" name="Text 13"/>
          <p:cNvSpPr txBox="1"/>
          <p:nvPr/>
        </p:nvSpPr>
        <p:spPr>
          <a:xfrm>
            <a:off x="457200" y="5074920"/>
            <a:ext cx="11247120" cy="1280160"/>
          </a:xfrm>
          <a:prstGeom prst="rect">
            <a:avLst/>
          </a:prstGeom>
          <a:noFill/>
          <a:ln/>
        </p:spPr>
        <p:txBody>
          <a:bodyPr wrap="square" rtlCol="0" anchor="t"/>
          <a:lstStyle/>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Ccr6 was missing only because of the min_cells = 100 filter (92 raw cells), not absent from the data</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Rorc / Il23r / Ccr6 support an iNKT17 identity for C5-2; Il17f in 2 cells, both outside C5-2</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Transcript detection ≠ secretion: IL-17 capacity needs stimulation assays; thymus Ctrl C5-2 has only 11 cells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Most T2-up genes are not explained by significant GO terms</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Yue: look past the top genes — coverage of every selected candidate (gene BH FDR ≤ 0.05, log2FC ≥ 0.25)</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pic>
        <p:nvPicPr>
          <p:cNvPr id="6" name="Image 0" descr="/Users/zeruzhang/Documents/zhou2_latest_20260929/bio3/iNKT_by_date/2026-09-25/results/figures/01_full_candidate_coverage.png">    </p:cNvPr>
          <p:cNvPicPr>
            <a:picLocks noChangeAspect="1"/>
          </p:cNvPicPr>
          <p:nvPr/>
        </p:nvPicPr>
        <p:blipFill>
          <a:blip r:embed="rId1"/>
          <a:srcRect l="0" r="0" t="0" b="0"/>
          <a:stretch/>
        </p:blipFill>
        <p:spPr>
          <a:xfrm>
            <a:off x="457200" y="1371600"/>
            <a:ext cx="6949440" cy="4937760"/>
          </a:xfrm>
          <a:prstGeom prst="rect">
            <a:avLst/>
          </a:prstGeom>
        </p:spPr>
      </p:pic>
      <p:sp>
        <p:nvSpPr>
          <p:cNvPr id="7" name="Shape 4"/>
          <p:cNvSpPr/>
          <p:nvPr/>
        </p:nvSpPr>
        <p:spPr>
          <a:xfrm>
            <a:off x="7772400" y="1463040"/>
            <a:ext cx="3931920" cy="4663440"/>
          </a:xfrm>
          <a:prstGeom prst="roundRect">
            <a:avLst>
              <a:gd name="adj" fmla="val 1860"/>
            </a:avLst>
          </a:prstGeom>
          <a:solidFill>
            <a:srgbClr val="D7ECEE"/>
          </a:solidFill>
          <a:ln w="12700">
            <a:solidFill>
              <a:srgbClr val="D7ECEE"/>
            </a:solidFill>
            <a:prstDash val="solid"/>
          </a:ln>
        </p:spPr>
      </p:sp>
      <p:sp>
        <p:nvSpPr>
          <p:cNvPr id="8" name="Text 5"/>
          <p:cNvSpPr txBox="1"/>
          <p:nvPr/>
        </p:nvSpPr>
        <p:spPr>
          <a:xfrm>
            <a:off x="8001000" y="1645920"/>
            <a:ext cx="3474720" cy="731520"/>
          </a:xfrm>
          <a:prstGeom prst="rect">
            <a:avLst/>
          </a:prstGeom>
          <a:noFill/>
          <a:ln/>
        </p:spPr>
        <p:txBody>
          <a:bodyPr wrap="square" lIns="0" tIns="0" rIns="0" bIns="0" rtlCol="0" anchor="ctr"/>
          <a:lstStyle/>
          <a:p>
            <a:pPr indent="0" marL="0">
              <a:buNone/>
            </a:pPr>
            <a:r>
              <a:rPr lang="en-US" sz="3600" b="1" dirty="0">
                <a:solidFill>
                  <a:srgbClr val="137D8A"/>
                </a:solidFill>
                <a:latin typeface="Cambria" pitchFamily="34" charset="0"/>
                <a:ea typeface="Cambria" pitchFamily="34" charset="-122"/>
                <a:cs typeface="Cambria" pitchFamily="34" charset="-120"/>
              </a:rPr>
              <a:t>66 / 274</a:t>
            </a:r>
            <a:endParaRPr lang="en-US" sz="3600" dirty="0"/>
          </a:p>
        </p:txBody>
      </p:sp>
      <p:sp>
        <p:nvSpPr>
          <p:cNvPr id="9" name="Text 6"/>
          <p:cNvSpPr txBox="1"/>
          <p:nvPr/>
        </p:nvSpPr>
        <p:spPr>
          <a:xfrm>
            <a:off x="8001000" y="2377440"/>
            <a:ext cx="3474720" cy="54864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BM C0 T2-up genes inside 52 significant BP terms</a:t>
            </a:r>
            <a:endParaRPr lang="en-US" sz="1300" dirty="0"/>
          </a:p>
        </p:txBody>
      </p:sp>
      <p:sp>
        <p:nvSpPr>
          <p:cNvPr id="10" name="Text 7"/>
          <p:cNvSpPr txBox="1"/>
          <p:nvPr/>
        </p:nvSpPr>
        <p:spPr>
          <a:xfrm>
            <a:off x="8001000" y="3063240"/>
            <a:ext cx="3474720" cy="731520"/>
          </a:xfrm>
          <a:prstGeom prst="rect">
            <a:avLst/>
          </a:prstGeom>
          <a:noFill/>
          <a:ln/>
        </p:spPr>
        <p:txBody>
          <a:bodyPr wrap="square" lIns="0" tIns="0" rIns="0" bIns="0" rtlCol="0" anchor="ctr"/>
          <a:lstStyle/>
          <a:p>
            <a:pPr indent="0" marL="0">
              <a:buNone/>
            </a:pPr>
            <a:r>
              <a:rPr lang="en-US" sz="3600" b="1" dirty="0">
                <a:solidFill>
                  <a:srgbClr val="137D8A"/>
                </a:solidFill>
                <a:latin typeface="Cambria" pitchFamily="34" charset="0"/>
                <a:ea typeface="Cambria" pitchFamily="34" charset="-122"/>
                <a:cs typeface="Cambria" pitchFamily="34" charset="-120"/>
              </a:rPr>
              <a:t>96 / 275</a:t>
            </a:r>
            <a:endParaRPr lang="en-US" sz="3600" dirty="0"/>
          </a:p>
        </p:txBody>
      </p:sp>
      <p:sp>
        <p:nvSpPr>
          <p:cNvPr id="11" name="Text 8"/>
          <p:cNvSpPr txBox="1"/>
          <p:nvPr/>
        </p:nvSpPr>
        <p:spPr>
          <a:xfrm>
            <a:off x="8001000" y="3794760"/>
            <a:ext cx="3474720"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Spleen C3</a:t>
            </a:r>
            <a:endParaRPr lang="en-US" sz="1300" dirty="0"/>
          </a:p>
        </p:txBody>
      </p:sp>
      <p:sp>
        <p:nvSpPr>
          <p:cNvPr id="12" name="Text 9"/>
          <p:cNvSpPr txBox="1"/>
          <p:nvPr/>
        </p:nvSpPr>
        <p:spPr>
          <a:xfrm>
            <a:off x="8001000" y="4343400"/>
            <a:ext cx="3474720" cy="1645920"/>
          </a:xfrm>
          <a:prstGeom prst="rect">
            <a:avLst/>
          </a:prstGeom>
          <a:noFill/>
          <a:ln/>
        </p:spPr>
        <p:txBody>
          <a:bodyPr wrap="square" rtlCol="0" anchor="t"/>
          <a:lstStyle/>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Many terms reuse the same genes</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Uncovered genes stay in the full tables for follow-up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Grouping GO terms into functional modules</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97 significant BP terms · edges = shared measured genes (Jaccard) · GOLDEN-style fusion + 3 GraphSAGE seeds</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pic>
        <p:nvPicPr>
          <p:cNvPr id="6" name="Image 0" descr="/Users/zeruzhang/Documents/zhou2_latest_20260929/bio3/iNKT_by_date/2026-09-25/results/figures/03_function_network.png">    </p:cNvPr>
          <p:cNvPicPr>
            <a:picLocks noChangeAspect="1"/>
          </p:cNvPicPr>
          <p:nvPr/>
        </p:nvPicPr>
        <p:blipFill>
          <a:blip r:embed="rId1"/>
          <a:srcRect l="0" r="0" t="0" b="0"/>
          <a:stretch/>
        </p:blipFill>
        <p:spPr>
          <a:xfrm>
            <a:off x="457200" y="1371600"/>
            <a:ext cx="7680960" cy="4206240"/>
          </a:xfrm>
          <a:prstGeom prst="rect">
            <a:avLst/>
          </a:prstGeom>
        </p:spPr>
      </p:pic>
      <p:sp>
        <p:nvSpPr>
          <p:cNvPr id="7" name="Shape 4"/>
          <p:cNvSpPr/>
          <p:nvPr/>
        </p:nvSpPr>
        <p:spPr>
          <a:xfrm>
            <a:off x="8503920" y="1463040"/>
            <a:ext cx="3200400" cy="822960"/>
          </a:xfrm>
          <a:prstGeom prst="roundRect">
            <a:avLst>
              <a:gd name="adj" fmla="val 8889"/>
            </a:avLst>
          </a:prstGeom>
          <a:solidFill>
            <a:srgbClr val="D7ECEE"/>
          </a:solidFill>
          <a:ln w="12700">
            <a:solidFill>
              <a:srgbClr val="D7ECEE"/>
            </a:solidFill>
            <a:prstDash val="solid"/>
          </a:ln>
        </p:spPr>
      </p:sp>
      <p:sp>
        <p:nvSpPr>
          <p:cNvPr id="8" name="Text 5"/>
          <p:cNvSpPr txBox="1"/>
          <p:nvPr/>
        </p:nvSpPr>
        <p:spPr>
          <a:xfrm>
            <a:off x="8641080" y="1508760"/>
            <a:ext cx="2971800" cy="731520"/>
          </a:xfrm>
          <a:prstGeom prst="rect">
            <a:avLst/>
          </a:prstGeom>
          <a:noFill/>
          <a:ln/>
        </p:spPr>
        <p:txBody>
          <a:bodyPr wrap="square" lIns="0" tIns="0" rIns="0" bIns="0" rtlCol="0" anchor="ctr"/>
          <a:lstStyle/>
          <a:p>
            <a:pPr indent="0" marL="0">
              <a:buNone/>
            </a:pPr>
            <a:r>
              <a:rPr lang="en-US" sz="1400" b="1" dirty="0">
                <a:solidFill>
                  <a:srgbClr val="137D8A"/>
                </a:solidFill>
                <a:latin typeface="Calibri" pitchFamily="34" charset="0"/>
                <a:ea typeface="Calibri" pitchFamily="34" charset="-122"/>
                <a:cs typeface="Calibri" pitchFamily="34" charset="-120"/>
              </a:rPr>
              <a:t>G02 / G03</a:t>
            </a: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Translation, ribosome</a:t>
            </a:r>
            <a:endParaRPr lang="en-US" sz="1400" dirty="0"/>
          </a:p>
        </p:txBody>
      </p:sp>
      <p:sp>
        <p:nvSpPr>
          <p:cNvPr id="9" name="Shape 6"/>
          <p:cNvSpPr/>
          <p:nvPr/>
        </p:nvSpPr>
        <p:spPr>
          <a:xfrm>
            <a:off x="8503920" y="2423160"/>
            <a:ext cx="3200400" cy="822960"/>
          </a:xfrm>
          <a:prstGeom prst="roundRect">
            <a:avLst>
              <a:gd name="adj" fmla="val 8889"/>
            </a:avLst>
          </a:prstGeom>
          <a:solidFill>
            <a:srgbClr val="D7ECEE"/>
          </a:solidFill>
          <a:ln w="12700">
            <a:solidFill>
              <a:srgbClr val="D7ECEE"/>
            </a:solidFill>
            <a:prstDash val="solid"/>
          </a:ln>
        </p:spPr>
      </p:sp>
      <p:sp>
        <p:nvSpPr>
          <p:cNvPr id="10" name="Text 7"/>
          <p:cNvSpPr txBox="1"/>
          <p:nvPr/>
        </p:nvSpPr>
        <p:spPr>
          <a:xfrm>
            <a:off x="8641080" y="2468880"/>
            <a:ext cx="2971800" cy="731520"/>
          </a:xfrm>
          <a:prstGeom prst="rect">
            <a:avLst/>
          </a:prstGeom>
          <a:noFill/>
          <a:ln/>
        </p:spPr>
        <p:txBody>
          <a:bodyPr wrap="square" lIns="0" tIns="0" rIns="0" bIns="0" rtlCol="0" anchor="ctr"/>
          <a:lstStyle/>
          <a:p>
            <a:pPr indent="0" marL="0">
              <a:buNone/>
            </a:pPr>
            <a:r>
              <a:rPr lang="en-US" sz="1400" b="1" dirty="0">
                <a:solidFill>
                  <a:srgbClr val="137D8A"/>
                </a:solidFill>
                <a:latin typeface="Calibri" pitchFamily="34" charset="0"/>
                <a:ea typeface="Calibri" pitchFamily="34" charset="-122"/>
                <a:cs typeface="Calibri" pitchFamily="34" charset="-120"/>
              </a:rPr>
              <a:t>G04 / G05 / G06</a:t>
            </a: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Respiration, ATP, OXPHOS</a:t>
            </a:r>
            <a:endParaRPr lang="en-US" sz="1400" dirty="0"/>
          </a:p>
        </p:txBody>
      </p:sp>
      <p:sp>
        <p:nvSpPr>
          <p:cNvPr id="11" name="Shape 8"/>
          <p:cNvSpPr/>
          <p:nvPr/>
        </p:nvSpPr>
        <p:spPr>
          <a:xfrm>
            <a:off x="8503920" y="3383280"/>
            <a:ext cx="3200400" cy="822960"/>
          </a:xfrm>
          <a:prstGeom prst="roundRect">
            <a:avLst>
              <a:gd name="adj" fmla="val 8889"/>
            </a:avLst>
          </a:prstGeom>
          <a:solidFill>
            <a:srgbClr val="D7ECEE"/>
          </a:solidFill>
          <a:ln w="12700">
            <a:solidFill>
              <a:srgbClr val="D7ECEE"/>
            </a:solidFill>
            <a:prstDash val="solid"/>
          </a:ln>
        </p:spPr>
      </p:sp>
      <p:sp>
        <p:nvSpPr>
          <p:cNvPr id="12" name="Text 9"/>
          <p:cNvSpPr txBox="1"/>
          <p:nvPr/>
        </p:nvSpPr>
        <p:spPr>
          <a:xfrm>
            <a:off x="8641080" y="3429000"/>
            <a:ext cx="2971800" cy="731520"/>
          </a:xfrm>
          <a:prstGeom prst="rect">
            <a:avLst/>
          </a:prstGeom>
          <a:noFill/>
          <a:ln/>
        </p:spPr>
        <p:txBody>
          <a:bodyPr wrap="square" lIns="0" tIns="0" rIns="0" bIns="0" rtlCol="0" anchor="ctr"/>
          <a:lstStyle/>
          <a:p>
            <a:pPr indent="0" marL="0">
              <a:buNone/>
            </a:pPr>
            <a:r>
              <a:rPr lang="en-US" sz="1400" b="1" dirty="0">
                <a:solidFill>
                  <a:srgbClr val="137D8A"/>
                </a:solidFill>
                <a:latin typeface="Calibri" pitchFamily="34" charset="0"/>
                <a:ea typeface="Calibri" pitchFamily="34" charset="-122"/>
                <a:cs typeface="Calibri" pitchFamily="34" charset="-120"/>
              </a:rPr>
              <a:t>G07</a:t>
            </a: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Ion / proton transport</a:t>
            </a:r>
            <a:endParaRPr lang="en-US" sz="1400" dirty="0"/>
          </a:p>
        </p:txBody>
      </p:sp>
      <p:sp>
        <p:nvSpPr>
          <p:cNvPr id="13" name="Shape 10"/>
          <p:cNvSpPr/>
          <p:nvPr/>
        </p:nvSpPr>
        <p:spPr>
          <a:xfrm>
            <a:off x="8503920" y="4343400"/>
            <a:ext cx="3200400" cy="822960"/>
          </a:xfrm>
          <a:prstGeom prst="roundRect">
            <a:avLst>
              <a:gd name="adj" fmla="val 8889"/>
            </a:avLst>
          </a:prstGeom>
          <a:solidFill>
            <a:srgbClr val="EEF0F1"/>
          </a:solidFill>
          <a:ln w="12700">
            <a:solidFill>
              <a:srgbClr val="EEF0F1"/>
            </a:solidFill>
            <a:prstDash val="solid"/>
          </a:ln>
        </p:spPr>
      </p:sp>
      <p:sp>
        <p:nvSpPr>
          <p:cNvPr id="14" name="Text 11"/>
          <p:cNvSpPr txBox="1"/>
          <p:nvPr/>
        </p:nvSpPr>
        <p:spPr>
          <a:xfrm>
            <a:off x="8641080" y="4389120"/>
            <a:ext cx="2971800" cy="731520"/>
          </a:xfrm>
          <a:prstGeom prst="rect">
            <a:avLst/>
          </a:prstGeom>
          <a:noFill/>
          <a:ln/>
        </p:spPr>
        <p:txBody>
          <a:bodyPr wrap="square" lIns="0" tIns="0" rIns="0" bIns="0" rtlCol="0" anchor="ctr"/>
          <a:lstStyle/>
          <a:p>
            <a:pPr indent="0" marL="0">
              <a:buNone/>
            </a:pPr>
            <a:r>
              <a:rPr lang="en-US" sz="1400" b="1" dirty="0">
                <a:solidFill>
                  <a:srgbClr val="137D8A"/>
                </a:solidFill>
                <a:latin typeface="Calibri" pitchFamily="34" charset="0"/>
                <a:ea typeface="Calibri" pitchFamily="34" charset="-122"/>
                <a:cs typeface="Calibri" pitchFamily="34" charset="-120"/>
              </a:rPr>
              <a:t>G01</a:t>
            </a: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Mixed — inspect drivers</a:t>
            </a:r>
            <a:endParaRPr lang="en-US" sz="1400" dirty="0"/>
          </a:p>
        </p:txBody>
      </p:sp>
      <p:sp>
        <p:nvSpPr>
          <p:cNvPr id="15" name="Text 12"/>
          <p:cNvSpPr txBox="1"/>
          <p:nvPr/>
        </p:nvSpPr>
        <p:spPr>
          <a:xfrm>
            <a:off x="457200" y="5669280"/>
            <a:ext cx="11247120" cy="548640"/>
          </a:xfrm>
          <a:prstGeom prst="rect">
            <a:avLst/>
          </a:prstGeom>
          <a:noFill/>
          <a:ln/>
        </p:spPr>
        <p:txBody>
          <a:bodyPr wrap="square" lIns="0" tIns="0" rIns="0" bIns="0" rtlCol="0" anchor="ctr"/>
          <a:lstStyle/>
          <a:p>
            <a:pPr indent="0" marL="0">
              <a:buNone/>
            </a:pPr>
            <a:r>
              <a:rPr lang="en-US" sz="1300" i="1" dirty="0">
                <a:solidFill>
                  <a:srgbClr val="5F6B72"/>
                </a:solidFill>
                <a:latin typeface="Calibri" pitchFamily="34" charset="0"/>
                <a:ea typeface="Calibri" pitchFamily="34" charset="-122"/>
                <a:cs typeface="Calibri" pitchFamily="34" charset="-120"/>
              </a:rPr>
              <a:t>Semantic / GNN agreement ARI 0.91 / 0.80. Mouse GO adaptation of GOLDEN — not a full reproduction of the published model; edges are shared genes, not regulation.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BM C0 and spleen C3 carry energy-metabolism groups</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Unique T2-up driver genes per functional group; dash = no significant evidence</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pic>
        <p:nvPicPr>
          <p:cNvPr id="6" name="Image 0" descr="/Users/zeruzhang/Documents/zhou2_latest_20260929/bio3/iNKT_by_date/2026-09-25/results/figures/02_function_groups_by_cluster.png">    </p:cNvPr>
          <p:cNvPicPr>
            <a:picLocks noChangeAspect="1"/>
          </p:cNvPicPr>
          <p:nvPr/>
        </p:nvPicPr>
        <p:blipFill>
          <a:blip r:embed="rId1"/>
          <a:srcRect l="0" r="0" t="0" b="0"/>
          <a:stretch/>
        </p:blipFill>
        <p:spPr>
          <a:xfrm>
            <a:off x="457200" y="1371600"/>
            <a:ext cx="6309360" cy="4937760"/>
          </a:xfrm>
          <a:prstGeom prst="rect">
            <a:avLst/>
          </a:prstGeom>
        </p:spPr>
      </p:pic>
      <p:sp>
        <p:nvSpPr>
          <p:cNvPr id="7" name="Shape 4"/>
          <p:cNvSpPr/>
          <p:nvPr/>
        </p:nvSpPr>
        <p:spPr>
          <a:xfrm>
            <a:off x="7132320" y="1463040"/>
            <a:ext cx="4572000" cy="2103120"/>
          </a:xfrm>
          <a:prstGeom prst="roundRect">
            <a:avLst>
              <a:gd name="adj" fmla="val 3478"/>
            </a:avLst>
          </a:prstGeom>
          <a:solidFill>
            <a:srgbClr val="D7ECEE"/>
          </a:solidFill>
          <a:ln w="12700">
            <a:solidFill>
              <a:srgbClr val="D7ECEE"/>
            </a:solidFill>
            <a:prstDash val="solid"/>
          </a:ln>
        </p:spPr>
      </p:sp>
      <p:sp>
        <p:nvSpPr>
          <p:cNvPr id="8" name="Text 5"/>
          <p:cNvSpPr txBox="1"/>
          <p:nvPr/>
        </p:nvSpPr>
        <p:spPr>
          <a:xfrm>
            <a:off x="7360920" y="1600200"/>
            <a:ext cx="4206240" cy="365760"/>
          </a:xfrm>
          <a:prstGeom prst="rect">
            <a:avLst/>
          </a:prstGeom>
          <a:noFill/>
          <a:ln/>
        </p:spPr>
        <p:txBody>
          <a:bodyPr wrap="square" lIns="0" tIns="0" rIns="0" bIns="0" rtlCol="0" anchor="ctr"/>
          <a:lstStyle/>
          <a:p>
            <a:pPr indent="0" marL="0">
              <a:buNone/>
            </a:pPr>
            <a:r>
              <a:rPr lang="en-US" sz="1700" b="1" dirty="0">
                <a:solidFill>
                  <a:srgbClr val="137D8A"/>
                </a:solidFill>
                <a:latin typeface="Cambria" pitchFamily="34" charset="0"/>
                <a:ea typeface="Cambria" pitchFamily="34" charset="-122"/>
                <a:cs typeface="Cambria" pitchFamily="34" charset="-120"/>
              </a:rPr>
              <a:t>Ribosome / chaperone exclusion test</a:t>
            </a:r>
            <a:endParaRPr lang="en-US" sz="1700" dirty="0"/>
          </a:p>
        </p:txBody>
      </p:sp>
      <p:sp>
        <p:nvSpPr>
          <p:cNvPr id="9" name="Text 6"/>
          <p:cNvSpPr txBox="1"/>
          <p:nvPr/>
        </p:nvSpPr>
        <p:spPr>
          <a:xfrm>
            <a:off x="7360920" y="2011680"/>
            <a:ext cx="4206240" cy="146304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After removing Rpl / Rps / Hsp / Dnaj genes, OXPHOS stays enriched in BM C0 (29 genes: Atp5, Cox, Nduf, Uqcr). Cytoplasmic translation and protein folding drop out.</a:t>
            </a:r>
            <a:endParaRPr lang="en-US" sz="1400" dirty="0"/>
          </a:p>
        </p:txBody>
      </p:sp>
      <p:sp>
        <p:nvSpPr>
          <p:cNvPr id="10" name="Text 7"/>
          <p:cNvSpPr txBox="1"/>
          <p:nvPr/>
        </p:nvSpPr>
        <p:spPr>
          <a:xfrm>
            <a:off x="7132320" y="3794760"/>
            <a:ext cx="4572000" cy="2468880"/>
          </a:xfrm>
          <a:prstGeom prst="rect">
            <a:avLst/>
          </a:prstGeom>
          <a:noFill/>
          <a:ln/>
        </p:spPr>
        <p:txBody>
          <a:bodyPr wrap="square" rtlCol="0" anchor="t"/>
          <a:lstStyle/>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BM C0 and spleen C3 load on respiration / OXPHOS groups (G04–G06)</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Thymus C6, BM C5-2, spleen C4 are dominated by ribosome groups — consistent with Rob's 'stressed cell' reading</a:t>
            </a:r>
            <a:endParaRPr lang="en-US" sz="1400" dirty="0"/>
          </a:p>
          <a:p>
            <a:pPr marL="342900" indent="-342900">
              <a:spcAft>
                <a:spcPts val="600"/>
              </a:spcAft>
              <a:buSzPct val="100000"/>
              <a:buChar char="•"/>
            </a:pPr>
            <a:r>
              <a:rPr lang="en-US" sz="1400" dirty="0">
                <a:solidFill>
                  <a:srgbClr val="1F2A30"/>
                </a:solidFill>
                <a:latin typeface="Calibri" pitchFamily="34" charset="0"/>
                <a:ea typeface="Calibri" pitchFamily="34" charset="-122"/>
                <a:cs typeface="Calibri" pitchFamily="34" charset="-120"/>
              </a:rPr>
              <a:t>OXPHOS is a supplementary lead, below AP-1 and iNKT17 in priority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Putting it together with the cytotoxicity results</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Same populations, different readouts — candidates for the bench</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3017520"/>
                <a:gridCol w="3474720"/>
                <a:gridCol w="292608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Population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AP-1 (this section)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Cytotoxic core (Prf1/Gzma/Gzmb)</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Other</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137D8A"/>
                    </a:solidFill>
                  </a:tcPr>
                </a:tc>
              </a:tr>
              <a:tr h="64008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BM C0</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Enriched, q = 0.003</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OXPHOS up; MAPK n.s.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64008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Spleen C3</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Enriched, q = 0.002</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Down, Δ −0.023, q = 0.0015</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CCT / folding down in T2</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64008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BM C4</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Fos / Junb / Fosb / Dusp1 up</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Up, Δ +0.086, q = 0.025</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Tcf7 / Itga4 / Emb down</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64008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C5-2</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n.s.</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iNKT17 identity; IL-17 undetected</a:t>
                      </a:r>
                      <a:endParaRPr lang="en-US" sz="1400" dirty="0">
                        <a:latin typeface="Calibri" charset="0"/>
                        <a:ea typeface="Calibri" charset="0"/>
                        <a:cs typeface="Calibri" charset="0"/>
                      </a:endParaRPr>
                    </a:p>
                  </a:txBody>
                  <a:tcPr marL="91440" marR="91440" marT="45720" marB="45720"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7" name="Shape 4"/>
          <p:cNvSpPr/>
          <p:nvPr/>
        </p:nvSpPr>
        <p:spPr>
          <a:xfrm>
            <a:off x="457200" y="4937760"/>
            <a:ext cx="11247120" cy="1188720"/>
          </a:xfrm>
          <a:prstGeom prst="roundRect">
            <a:avLst>
              <a:gd name="adj" fmla="val 6154"/>
            </a:avLst>
          </a:prstGeom>
          <a:solidFill>
            <a:srgbClr val="F6E2DA"/>
          </a:solidFill>
          <a:ln w="12700">
            <a:solidFill>
              <a:srgbClr val="F6E2DA"/>
            </a:solidFill>
            <a:prstDash val="solid"/>
          </a:ln>
        </p:spPr>
      </p:sp>
      <p:sp>
        <p:nvSpPr>
          <p:cNvPr id="8" name="Text 5"/>
          <p:cNvSpPr txBox="1"/>
          <p:nvPr/>
        </p:nvSpPr>
        <p:spPr>
          <a:xfrm>
            <a:off x="685800" y="5029200"/>
            <a:ext cx="10789920" cy="1005840"/>
          </a:xfrm>
          <a:prstGeom prst="rect">
            <a:avLst/>
          </a:prstGeom>
          <a:noFill/>
          <a:ln/>
        </p:spPr>
        <p:txBody>
          <a:bodyPr wrap="square" lIns="0" tIns="0" rIns="0" bIns="0" rtlCol="0" anchor="ctr"/>
          <a:lstStyle/>
          <a:p>
            <a:pPr indent="0" marL="0">
              <a:buNone/>
            </a:pPr>
            <a:r>
              <a:rPr lang="en-US" sz="1500" dirty="0">
                <a:solidFill>
                  <a:srgbClr val="1F2A30"/>
                </a:solidFill>
                <a:latin typeface="Calibri" pitchFamily="34" charset="0"/>
                <a:ea typeface="Calibri" pitchFamily="34" charset="-122"/>
                <a:cs typeface="Calibri" pitchFamily="34" charset="-120"/>
              </a:rPr>
              <a:t>Spleen C3 is the interesting case: AP-1 transcription up while the cytotoxic core goes down. Whether activation and effector function diverge needs protein / killing readouts in matched cells — no causal claim from RNA.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Proposed questions for the bench</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Discussion list — not experiments already done; unit of analysis = independent animal or pool</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sp>
        <p:nvSpPr>
          <p:cNvPr id="6" name="Shape 4"/>
          <p:cNvSpPr/>
          <p:nvPr/>
        </p:nvSpPr>
        <p:spPr>
          <a:xfrm>
            <a:off x="457200" y="1463040"/>
            <a:ext cx="5532120" cy="2103120"/>
          </a:xfrm>
          <a:prstGeom prst="roundRect">
            <a:avLst>
              <a:gd name="adj" fmla="val 3478"/>
            </a:avLst>
          </a:prstGeom>
          <a:solidFill>
            <a:srgbClr val="D7ECEE"/>
          </a:solidFill>
          <a:ln w="12700">
            <a:solidFill>
              <a:srgbClr val="D7ECEE"/>
            </a:solidFill>
            <a:prstDash val="solid"/>
          </a:ln>
        </p:spPr>
      </p:sp>
      <p:sp>
        <p:nvSpPr>
          <p:cNvPr id="7" name="Shape 5"/>
          <p:cNvSpPr/>
          <p:nvPr/>
        </p:nvSpPr>
        <p:spPr>
          <a:xfrm>
            <a:off x="685800" y="1691640"/>
            <a:ext cx="640080" cy="640080"/>
          </a:xfrm>
          <a:prstGeom prst="ellipse">
            <a:avLst/>
          </a:prstGeom>
          <a:solidFill>
            <a:srgbClr val="137D8A"/>
          </a:solidFill>
          <a:ln w="12700">
            <a:solidFill>
              <a:srgbClr val="137D8A"/>
            </a:solidFill>
            <a:prstDash val="solid"/>
          </a:ln>
        </p:spPr>
      </p:sp>
      <p:sp>
        <p:nvSpPr>
          <p:cNvPr id="8" name="Text 6"/>
          <p:cNvSpPr txBox="1"/>
          <p:nvPr/>
        </p:nvSpPr>
        <p:spPr>
          <a:xfrm>
            <a:off x="68580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9" name="Text 7"/>
          <p:cNvSpPr txBox="1"/>
          <p:nvPr/>
        </p:nvSpPr>
        <p:spPr>
          <a:xfrm>
            <a:off x="1508760" y="1691640"/>
            <a:ext cx="4297680" cy="640080"/>
          </a:xfrm>
          <a:prstGeom prst="rect">
            <a:avLst/>
          </a:prstGeom>
          <a:noFill/>
          <a:ln/>
        </p:spPr>
        <p:txBody>
          <a:bodyPr wrap="square" lIns="0" tIns="0" rIns="0" bIns="0" rtlCol="0" anchor="ctr"/>
          <a:lstStyle/>
          <a:p>
            <a:pPr indent="0" marL="0">
              <a:buNone/>
            </a:pPr>
            <a:r>
              <a:rPr lang="en-US" sz="1800" b="1" dirty="0">
                <a:solidFill>
                  <a:srgbClr val="1F2A30"/>
                </a:solidFill>
                <a:latin typeface="Cambria" pitchFamily="34" charset="0"/>
                <a:ea typeface="Cambria" pitchFamily="34" charset="-122"/>
                <a:cs typeface="Cambria" pitchFamily="34" charset="-120"/>
              </a:rPr>
              <a:t>AP-1 in BM C0 / spleen C3</a:t>
            </a:r>
            <a:endParaRPr lang="en-US" sz="1800" dirty="0"/>
          </a:p>
        </p:txBody>
      </p:sp>
      <p:sp>
        <p:nvSpPr>
          <p:cNvPr id="10" name="Text 8"/>
          <p:cNvSpPr txBox="1"/>
          <p:nvPr/>
        </p:nvSpPr>
        <p:spPr>
          <a:xfrm>
            <a:off x="731520" y="2468880"/>
            <a:ext cx="5029200" cy="914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Sortable phenotype → AP-1 protein, p-ERK / p-p38 with and without standard stimulation</a:t>
            </a:r>
            <a:endParaRPr lang="en-US" sz="1400" dirty="0"/>
          </a:p>
        </p:txBody>
      </p:sp>
      <p:sp>
        <p:nvSpPr>
          <p:cNvPr id="11" name="Shape 9"/>
          <p:cNvSpPr/>
          <p:nvPr/>
        </p:nvSpPr>
        <p:spPr>
          <a:xfrm>
            <a:off x="6172200" y="1463040"/>
            <a:ext cx="5532120" cy="2103120"/>
          </a:xfrm>
          <a:prstGeom prst="roundRect">
            <a:avLst>
              <a:gd name="adj" fmla="val 3478"/>
            </a:avLst>
          </a:prstGeom>
          <a:solidFill>
            <a:srgbClr val="D7ECEE"/>
          </a:solidFill>
          <a:ln w="12700">
            <a:solidFill>
              <a:srgbClr val="D7ECEE"/>
            </a:solidFill>
            <a:prstDash val="solid"/>
          </a:ln>
        </p:spPr>
      </p:sp>
      <p:sp>
        <p:nvSpPr>
          <p:cNvPr id="12" name="Shape 10"/>
          <p:cNvSpPr/>
          <p:nvPr/>
        </p:nvSpPr>
        <p:spPr>
          <a:xfrm>
            <a:off x="6400800" y="1691640"/>
            <a:ext cx="640080" cy="640080"/>
          </a:xfrm>
          <a:prstGeom prst="ellipse">
            <a:avLst/>
          </a:prstGeom>
          <a:solidFill>
            <a:srgbClr val="137D8A"/>
          </a:solidFill>
          <a:ln w="12700">
            <a:solidFill>
              <a:srgbClr val="137D8A"/>
            </a:solidFill>
            <a:prstDash val="solid"/>
          </a:ln>
        </p:spPr>
      </p:sp>
      <p:sp>
        <p:nvSpPr>
          <p:cNvPr id="13" name="Text 11"/>
          <p:cNvSpPr txBox="1"/>
          <p:nvPr/>
        </p:nvSpPr>
        <p:spPr>
          <a:xfrm>
            <a:off x="640080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4" name="Text 12"/>
          <p:cNvSpPr txBox="1"/>
          <p:nvPr/>
        </p:nvSpPr>
        <p:spPr>
          <a:xfrm>
            <a:off x="7223760" y="1691640"/>
            <a:ext cx="4297680" cy="640080"/>
          </a:xfrm>
          <a:prstGeom prst="rect">
            <a:avLst/>
          </a:prstGeom>
          <a:noFill/>
          <a:ln/>
        </p:spPr>
        <p:txBody>
          <a:bodyPr wrap="square" lIns="0" tIns="0" rIns="0" bIns="0" rtlCol="0" anchor="ctr"/>
          <a:lstStyle/>
          <a:p>
            <a:pPr indent="0" marL="0">
              <a:buNone/>
            </a:pPr>
            <a:r>
              <a:rPr lang="en-US" sz="1800" b="1" dirty="0">
                <a:solidFill>
                  <a:srgbClr val="1F2A30"/>
                </a:solidFill>
                <a:latin typeface="Cambria" pitchFamily="34" charset="0"/>
                <a:ea typeface="Cambria" pitchFamily="34" charset="-122"/>
                <a:cs typeface="Cambria" pitchFamily="34" charset="-120"/>
              </a:rPr>
              <a:t>iNKT17 (C5-2)</a:t>
            </a:r>
            <a:endParaRPr lang="en-US" sz="1800" dirty="0"/>
          </a:p>
        </p:txBody>
      </p:sp>
      <p:sp>
        <p:nvSpPr>
          <p:cNvPr id="15" name="Text 13"/>
          <p:cNvSpPr txBox="1"/>
          <p:nvPr/>
        </p:nvSpPr>
        <p:spPr>
          <a:xfrm>
            <a:off x="6446520" y="2468880"/>
            <a:ext cx="5029200" cy="914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Separate identity, abundance and per-cell IL-17 secretion; align with existing IL-17 assays</a:t>
            </a:r>
            <a:endParaRPr lang="en-US" sz="1400" dirty="0"/>
          </a:p>
        </p:txBody>
      </p:sp>
      <p:sp>
        <p:nvSpPr>
          <p:cNvPr id="16" name="Shape 14"/>
          <p:cNvSpPr/>
          <p:nvPr/>
        </p:nvSpPr>
        <p:spPr>
          <a:xfrm>
            <a:off x="457200" y="3794760"/>
            <a:ext cx="5532120" cy="2103120"/>
          </a:xfrm>
          <a:prstGeom prst="roundRect">
            <a:avLst>
              <a:gd name="adj" fmla="val 3478"/>
            </a:avLst>
          </a:prstGeom>
          <a:solidFill>
            <a:srgbClr val="D7ECEE"/>
          </a:solidFill>
          <a:ln w="12700">
            <a:solidFill>
              <a:srgbClr val="D7ECEE"/>
            </a:solidFill>
            <a:prstDash val="solid"/>
          </a:ln>
        </p:spPr>
      </p:sp>
      <p:sp>
        <p:nvSpPr>
          <p:cNvPr id="17" name="Shape 15"/>
          <p:cNvSpPr/>
          <p:nvPr/>
        </p:nvSpPr>
        <p:spPr>
          <a:xfrm>
            <a:off x="685800" y="4023360"/>
            <a:ext cx="640080" cy="640080"/>
          </a:xfrm>
          <a:prstGeom prst="ellipse">
            <a:avLst/>
          </a:prstGeom>
          <a:solidFill>
            <a:srgbClr val="137D8A"/>
          </a:solidFill>
          <a:ln w="12700">
            <a:solidFill>
              <a:srgbClr val="137D8A"/>
            </a:solidFill>
            <a:prstDash val="solid"/>
          </a:ln>
        </p:spPr>
      </p:sp>
      <p:sp>
        <p:nvSpPr>
          <p:cNvPr id="18" name="Text 16"/>
          <p:cNvSpPr txBox="1"/>
          <p:nvPr/>
        </p:nvSpPr>
        <p:spPr>
          <a:xfrm>
            <a:off x="685800" y="4023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9" name="Text 17"/>
          <p:cNvSpPr txBox="1"/>
          <p:nvPr/>
        </p:nvSpPr>
        <p:spPr>
          <a:xfrm>
            <a:off x="1508760" y="4023360"/>
            <a:ext cx="4297680" cy="640080"/>
          </a:xfrm>
          <a:prstGeom prst="rect">
            <a:avLst/>
          </a:prstGeom>
          <a:noFill/>
          <a:ln/>
        </p:spPr>
        <p:txBody>
          <a:bodyPr wrap="square" lIns="0" tIns="0" rIns="0" bIns="0" rtlCol="0" anchor="ctr"/>
          <a:lstStyle/>
          <a:p>
            <a:pPr indent="0" marL="0">
              <a:buNone/>
            </a:pPr>
            <a:r>
              <a:rPr lang="en-US" sz="1800" b="1" dirty="0">
                <a:solidFill>
                  <a:srgbClr val="1F2A30"/>
                </a:solidFill>
                <a:latin typeface="Cambria" pitchFamily="34" charset="0"/>
                <a:ea typeface="Cambria" pitchFamily="34" charset="-122"/>
                <a:cs typeface="Cambria" pitchFamily="34" charset="-120"/>
              </a:rPr>
              <a:t>AP-1 vs effector function</a:t>
            </a:r>
            <a:endParaRPr lang="en-US" sz="1800" dirty="0"/>
          </a:p>
        </p:txBody>
      </p:sp>
      <p:sp>
        <p:nvSpPr>
          <p:cNvPr id="20" name="Text 18"/>
          <p:cNvSpPr txBox="1"/>
          <p:nvPr/>
        </p:nvSpPr>
        <p:spPr>
          <a:xfrm>
            <a:off x="731520" y="4800600"/>
            <a:ext cx="5029200" cy="914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Spleen C3 and BM C4: degranulation / killing readout in the same phenotype</a:t>
            </a:r>
            <a:endParaRPr lang="en-US" sz="1400" dirty="0"/>
          </a:p>
        </p:txBody>
      </p:sp>
      <p:sp>
        <p:nvSpPr>
          <p:cNvPr id="21" name="Shape 19"/>
          <p:cNvSpPr/>
          <p:nvPr/>
        </p:nvSpPr>
        <p:spPr>
          <a:xfrm>
            <a:off x="6172200" y="3794760"/>
            <a:ext cx="5532120" cy="2103120"/>
          </a:xfrm>
          <a:prstGeom prst="roundRect">
            <a:avLst>
              <a:gd name="adj" fmla="val 3478"/>
            </a:avLst>
          </a:prstGeom>
          <a:solidFill>
            <a:srgbClr val="EEF0F1"/>
          </a:solidFill>
          <a:ln w="12700">
            <a:solidFill>
              <a:srgbClr val="EEF0F1"/>
            </a:solidFill>
            <a:prstDash val="solid"/>
          </a:ln>
        </p:spPr>
      </p:sp>
      <p:sp>
        <p:nvSpPr>
          <p:cNvPr id="22" name="Shape 20"/>
          <p:cNvSpPr/>
          <p:nvPr/>
        </p:nvSpPr>
        <p:spPr>
          <a:xfrm>
            <a:off x="6400800" y="4023360"/>
            <a:ext cx="640080" cy="640080"/>
          </a:xfrm>
          <a:prstGeom prst="ellipse">
            <a:avLst/>
          </a:prstGeom>
          <a:solidFill>
            <a:srgbClr val="5F6B72"/>
          </a:solidFill>
          <a:ln w="12700">
            <a:solidFill>
              <a:srgbClr val="5F6B72"/>
            </a:solidFill>
            <a:prstDash val="solid"/>
          </a:ln>
        </p:spPr>
      </p:sp>
      <p:sp>
        <p:nvSpPr>
          <p:cNvPr id="23" name="Text 21"/>
          <p:cNvSpPr txBox="1"/>
          <p:nvPr/>
        </p:nvSpPr>
        <p:spPr>
          <a:xfrm>
            <a:off x="6400800" y="4023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4" name="Text 22"/>
          <p:cNvSpPr txBox="1"/>
          <p:nvPr/>
        </p:nvSpPr>
        <p:spPr>
          <a:xfrm>
            <a:off x="7223760" y="4023360"/>
            <a:ext cx="4297680" cy="640080"/>
          </a:xfrm>
          <a:prstGeom prst="rect">
            <a:avLst/>
          </a:prstGeom>
          <a:noFill/>
          <a:ln/>
        </p:spPr>
        <p:txBody>
          <a:bodyPr wrap="square" lIns="0" tIns="0" rIns="0" bIns="0" rtlCol="0" anchor="ctr"/>
          <a:lstStyle/>
          <a:p>
            <a:pPr indent="0" marL="0">
              <a:buNone/>
            </a:pPr>
            <a:r>
              <a:rPr lang="en-US" sz="1800" b="1" dirty="0">
                <a:solidFill>
                  <a:srgbClr val="1F2A30"/>
                </a:solidFill>
                <a:latin typeface="Cambria" pitchFamily="34" charset="0"/>
                <a:ea typeface="Cambria" pitchFamily="34" charset="-122"/>
                <a:cs typeface="Cambria" pitchFamily="34" charset="-120"/>
              </a:rPr>
              <a:t>Energy metabolism (supplementary)</a:t>
            </a:r>
            <a:endParaRPr lang="en-US" sz="1800" dirty="0"/>
          </a:p>
        </p:txBody>
      </p:sp>
      <p:sp>
        <p:nvSpPr>
          <p:cNvPr id="25" name="Text 23"/>
          <p:cNvSpPr txBox="1"/>
          <p:nvPr/>
        </p:nvSpPr>
        <p:spPr>
          <a:xfrm>
            <a:off x="6446520" y="4800600"/>
            <a:ext cx="5029200" cy="914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Mitochondrial / metabolic readouts if cell numbers allow</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40080"/>
          </a:xfrm>
          <a:prstGeom prst="rect">
            <a:avLst/>
          </a:prstGeom>
          <a:noFill/>
          <a:ln/>
        </p:spPr>
        <p:txBody>
          <a:bodyPr wrap="square" lIns="0" tIns="0" rIns="0" bIns="0" rtlCol="0" anchor="ctr"/>
          <a:lstStyle/>
          <a:p>
            <a:pPr indent="0" marL="0">
              <a:buNone/>
            </a:pPr>
            <a:r>
              <a:rPr lang="en-US" sz="2800" b="1" dirty="0">
                <a:solidFill>
                  <a:srgbClr val="1F2A30"/>
                </a:solidFill>
                <a:latin typeface="Cambria" pitchFamily="34" charset="0"/>
                <a:ea typeface="Cambria" pitchFamily="34" charset="-122"/>
                <a:cs typeface="Cambria" pitchFamily="34" charset="-120"/>
              </a:rPr>
              <a:t>What we need next</a:t>
            </a:r>
            <a:endParaRPr lang="en-US" sz="2800" dirty="0"/>
          </a:p>
        </p:txBody>
      </p:sp>
      <p:sp>
        <p:nvSpPr>
          <p:cNvPr id="3" name="Text 1"/>
          <p:cNvSpPr txBox="1"/>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5F6B72"/>
                </a:solidFill>
                <a:latin typeface="Calibri" pitchFamily="34" charset="0"/>
                <a:ea typeface="Calibri" pitchFamily="34" charset="-122"/>
                <a:cs typeface="Calibri" pitchFamily="34" charset="-120"/>
              </a:rPr>
              <a:t>Items that block the next analysis or validation stage</a:t>
            </a:r>
            <a:endParaRPr lang="en-US" sz="1400" dirty="0"/>
          </a:p>
        </p:txBody>
      </p:sp>
      <p:sp>
        <p:nvSpPr>
          <p:cNvPr id="4" name="Text 2"/>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F6B72"/>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dirty="0">
                <a:solidFill>
                  <a:srgbClr val="5F6B72"/>
                </a:solidFill>
                <a:latin typeface="Calibri" pitchFamily="34" charset="0"/>
                <a:ea typeface="Calibri" pitchFamily="34" charset="-122"/>
                <a:cs typeface="Calibri" pitchFamily="34" charset="-120"/>
              </a:rPr>
              <a:t>Exploratory cell-level results · 3 mice pooled per tissue × condition label (n = 1 pool)</a:t>
            </a:r>
            <a:endParaRPr lang="en-US" sz="1000" dirty="0"/>
          </a:p>
        </p:txBody>
      </p:sp>
      <p:sp>
        <p:nvSpPr>
          <p:cNvPr id="6" name="Shape 4"/>
          <p:cNvSpPr/>
          <p:nvPr/>
        </p:nvSpPr>
        <p:spPr>
          <a:xfrm>
            <a:off x="457200" y="1463040"/>
            <a:ext cx="11247120" cy="1005840"/>
          </a:xfrm>
          <a:prstGeom prst="roundRect">
            <a:avLst>
              <a:gd name="adj" fmla="val 7273"/>
            </a:avLst>
          </a:prstGeom>
          <a:solidFill>
            <a:srgbClr val="D7ECEE"/>
          </a:solidFill>
          <a:ln w="12700">
            <a:solidFill>
              <a:srgbClr val="D7ECEE"/>
            </a:solidFill>
            <a:prstDash val="solid"/>
          </a:ln>
        </p:spPr>
      </p:sp>
      <p:sp>
        <p:nvSpPr>
          <p:cNvPr id="7" name="Text 5"/>
          <p:cNvSpPr txBox="1"/>
          <p:nvPr/>
        </p:nvSpPr>
        <p:spPr>
          <a:xfrm>
            <a:off x="731520" y="1463040"/>
            <a:ext cx="3108960" cy="1005840"/>
          </a:xfrm>
          <a:prstGeom prst="rect">
            <a:avLst/>
          </a:prstGeom>
          <a:noFill/>
          <a:ln/>
        </p:spPr>
        <p:txBody>
          <a:bodyPr wrap="square" lIns="0" tIns="0" rIns="0" bIns="0" rtlCol="0" anchor="ctr"/>
          <a:lstStyle/>
          <a:p>
            <a:pPr indent="0" marL="0">
              <a:buNone/>
            </a:pPr>
            <a:r>
              <a:rPr lang="en-US" sz="1800" b="1" dirty="0">
                <a:solidFill>
                  <a:srgbClr val="137D8A"/>
                </a:solidFill>
                <a:latin typeface="Cambria" pitchFamily="34" charset="0"/>
                <a:ea typeface="Cambria" pitchFamily="34" charset="-122"/>
                <a:cs typeface="Cambria" pitchFamily="34" charset="-120"/>
              </a:rPr>
              <a:t>Sample metadata</a:t>
            </a:r>
            <a:endParaRPr lang="en-US" sz="1800" dirty="0"/>
          </a:p>
        </p:txBody>
      </p:sp>
      <p:sp>
        <p:nvSpPr>
          <p:cNvPr id="8" name="Text 6"/>
          <p:cNvSpPr txBox="1"/>
          <p:nvPr/>
        </p:nvSpPr>
        <p:spPr>
          <a:xfrm>
            <a:off x="3931920" y="1463040"/>
            <a:ext cx="7589520" cy="1005840"/>
          </a:xfrm>
          <a:prstGeom prst="rect">
            <a:avLst/>
          </a:prstGeom>
          <a:noFill/>
          <a:ln/>
        </p:spPr>
        <p:txBody>
          <a:bodyPr wrap="square" lIns="0" tIns="0" rIns="0" bIns="0" rtlCol="0" anchor="ctr"/>
          <a:lstStyle/>
          <a:p>
            <a:pPr indent="0" marL="0">
              <a:buNone/>
            </a:pPr>
            <a:r>
              <a:rPr lang="en-US" sz="1500" dirty="0">
                <a:solidFill>
                  <a:srgbClr val="1F2A30"/>
                </a:solidFill>
                <a:latin typeface="Calibri" pitchFamily="34" charset="0"/>
                <a:ea typeface="Calibri" pitchFamily="34" charset="-122"/>
                <a:cs typeface="Calibri" pitchFamily="34" charset="-120"/>
              </a:rPr>
              <a:t>Which 3 mice form each label; any independent pools; T2 time point, dissociation time, sequencing batch</a:t>
            </a:r>
            <a:endParaRPr lang="en-US" sz="1500" dirty="0"/>
          </a:p>
        </p:txBody>
      </p:sp>
      <p:sp>
        <p:nvSpPr>
          <p:cNvPr id="9" name="Shape 7"/>
          <p:cNvSpPr/>
          <p:nvPr/>
        </p:nvSpPr>
        <p:spPr>
          <a:xfrm>
            <a:off x="457200" y="2651760"/>
            <a:ext cx="11247120" cy="1005840"/>
          </a:xfrm>
          <a:prstGeom prst="roundRect">
            <a:avLst>
              <a:gd name="adj" fmla="val 7273"/>
            </a:avLst>
          </a:prstGeom>
          <a:solidFill>
            <a:srgbClr val="FFFFFF"/>
          </a:solidFill>
          <a:ln w="12700">
            <a:solidFill>
              <a:srgbClr val="FFFFFF"/>
            </a:solidFill>
            <a:prstDash val="solid"/>
          </a:ln>
        </p:spPr>
      </p:sp>
      <p:sp>
        <p:nvSpPr>
          <p:cNvPr id="10" name="Text 8"/>
          <p:cNvSpPr txBox="1"/>
          <p:nvPr/>
        </p:nvSpPr>
        <p:spPr>
          <a:xfrm>
            <a:off x="731520" y="2651760"/>
            <a:ext cx="3108960" cy="1005840"/>
          </a:xfrm>
          <a:prstGeom prst="rect">
            <a:avLst/>
          </a:prstGeom>
          <a:noFill/>
          <a:ln/>
        </p:spPr>
        <p:txBody>
          <a:bodyPr wrap="square" lIns="0" tIns="0" rIns="0" bIns="0" rtlCol="0" anchor="ctr"/>
          <a:lstStyle/>
          <a:p>
            <a:pPr indent="0" marL="0">
              <a:buNone/>
            </a:pPr>
            <a:r>
              <a:rPr lang="en-US" sz="1800" b="1" dirty="0">
                <a:solidFill>
                  <a:srgbClr val="137D8A"/>
                </a:solidFill>
                <a:latin typeface="Cambria" pitchFamily="34" charset="0"/>
                <a:ea typeface="Cambria" pitchFamily="34" charset="-122"/>
                <a:cs typeface="Cambria" pitchFamily="34" charset="-120"/>
              </a:rPr>
              <a:t>IL-17 assay details</a:t>
            </a:r>
            <a:endParaRPr lang="en-US" sz="1800" dirty="0"/>
          </a:p>
        </p:txBody>
      </p:sp>
      <p:sp>
        <p:nvSpPr>
          <p:cNvPr id="11" name="Text 9"/>
          <p:cNvSpPr txBox="1"/>
          <p:nvPr/>
        </p:nvSpPr>
        <p:spPr>
          <a:xfrm>
            <a:off x="3931920" y="2651760"/>
            <a:ext cx="7589520" cy="1005840"/>
          </a:xfrm>
          <a:prstGeom prst="rect">
            <a:avLst/>
          </a:prstGeom>
          <a:noFill/>
          <a:ln/>
        </p:spPr>
        <p:txBody>
          <a:bodyPr wrap="square" lIns="0" tIns="0" rIns="0" bIns="0" rtlCol="0" anchor="ctr"/>
          <a:lstStyle/>
          <a:p>
            <a:pPr indent="0" marL="0">
              <a:buNone/>
            </a:pPr>
            <a:r>
              <a:rPr lang="en-US" sz="1500" dirty="0">
                <a:solidFill>
                  <a:srgbClr val="1F2A30"/>
                </a:solidFill>
                <a:latin typeface="Calibri" pitchFamily="34" charset="0"/>
                <a:ea typeface="Calibri" pitchFamily="34" charset="-122"/>
                <a:cs typeface="Calibri" pitchFamily="34" charset="-120"/>
              </a:rPr>
              <a:t>Cell source, gating, stimulation, time point and replicates of existing experiments</a:t>
            </a:r>
            <a:endParaRPr lang="en-US" sz="1500" dirty="0"/>
          </a:p>
        </p:txBody>
      </p:sp>
      <p:sp>
        <p:nvSpPr>
          <p:cNvPr id="12" name="Shape 10"/>
          <p:cNvSpPr/>
          <p:nvPr/>
        </p:nvSpPr>
        <p:spPr>
          <a:xfrm>
            <a:off x="457200" y="3840480"/>
            <a:ext cx="11247120" cy="1005840"/>
          </a:xfrm>
          <a:prstGeom prst="roundRect">
            <a:avLst>
              <a:gd name="adj" fmla="val 7273"/>
            </a:avLst>
          </a:prstGeom>
          <a:solidFill>
            <a:srgbClr val="D7ECEE"/>
          </a:solidFill>
          <a:ln w="12700">
            <a:solidFill>
              <a:srgbClr val="D7ECEE"/>
            </a:solidFill>
            <a:prstDash val="solid"/>
          </a:ln>
        </p:spPr>
      </p:sp>
      <p:sp>
        <p:nvSpPr>
          <p:cNvPr id="13" name="Text 11"/>
          <p:cNvSpPr txBox="1"/>
          <p:nvPr/>
        </p:nvSpPr>
        <p:spPr>
          <a:xfrm>
            <a:off x="731520" y="3840480"/>
            <a:ext cx="3108960" cy="1005840"/>
          </a:xfrm>
          <a:prstGeom prst="rect">
            <a:avLst/>
          </a:prstGeom>
          <a:noFill/>
          <a:ln/>
        </p:spPr>
        <p:txBody>
          <a:bodyPr wrap="square" lIns="0" tIns="0" rIns="0" bIns="0" rtlCol="0" anchor="ctr"/>
          <a:lstStyle/>
          <a:p>
            <a:pPr indent="0" marL="0">
              <a:buNone/>
            </a:pPr>
            <a:r>
              <a:rPr lang="en-US" sz="1800" b="1" dirty="0">
                <a:solidFill>
                  <a:srgbClr val="137D8A"/>
                </a:solidFill>
                <a:latin typeface="Cambria" pitchFamily="34" charset="0"/>
                <a:ea typeface="Cambria" pitchFamily="34" charset="-122"/>
                <a:cs typeface="Cambria" pitchFamily="34" charset="-120"/>
              </a:rPr>
              <a:t>AML NK / patient data</a:t>
            </a:r>
            <a:endParaRPr lang="en-US" sz="1800" dirty="0"/>
          </a:p>
        </p:txBody>
      </p:sp>
      <p:sp>
        <p:nvSpPr>
          <p:cNvPr id="14" name="Text 12"/>
          <p:cNvSpPr txBox="1"/>
          <p:nvPr/>
        </p:nvSpPr>
        <p:spPr>
          <a:xfrm>
            <a:off x="3931920" y="3840480"/>
            <a:ext cx="7589520" cy="1005840"/>
          </a:xfrm>
          <a:prstGeom prst="rect">
            <a:avLst/>
          </a:prstGeom>
          <a:noFill/>
          <a:ln/>
        </p:spPr>
        <p:txBody>
          <a:bodyPr wrap="square" lIns="0" tIns="0" rIns="0" bIns="0" rtlCol="0" anchor="ctr"/>
          <a:lstStyle/>
          <a:p>
            <a:pPr indent="0" marL="0">
              <a:buNone/>
            </a:pPr>
            <a:r>
              <a:rPr lang="en-US" sz="1500" dirty="0">
                <a:solidFill>
                  <a:srgbClr val="1F2A30"/>
                </a:solidFill>
                <a:latin typeface="Calibri" pitchFamily="34" charset="0"/>
                <a:ea typeface="Calibri" pitchFamily="34" charset="-122"/>
                <a:cs typeface="Calibri" pitchFamily="34" charset="-120"/>
              </a:rPr>
              <a:t>Box access; species, disease / control definitions, NK-only vs whole marrow, FASTQ</a:t>
            </a:r>
            <a:endParaRPr lang="en-US" sz="1500" dirty="0"/>
          </a:p>
        </p:txBody>
      </p:sp>
      <p:sp>
        <p:nvSpPr>
          <p:cNvPr id="15" name="Shape 13"/>
          <p:cNvSpPr/>
          <p:nvPr/>
        </p:nvSpPr>
        <p:spPr>
          <a:xfrm>
            <a:off x="457200" y="5029200"/>
            <a:ext cx="11247120" cy="1005840"/>
          </a:xfrm>
          <a:prstGeom prst="roundRect">
            <a:avLst>
              <a:gd name="adj" fmla="val 7273"/>
            </a:avLst>
          </a:prstGeom>
          <a:solidFill>
            <a:srgbClr val="FFFFFF"/>
          </a:solidFill>
          <a:ln w="12700">
            <a:solidFill>
              <a:srgbClr val="FFFFFF"/>
            </a:solidFill>
            <a:prstDash val="solid"/>
          </a:ln>
        </p:spPr>
      </p:sp>
      <p:sp>
        <p:nvSpPr>
          <p:cNvPr id="16" name="Text 14"/>
          <p:cNvSpPr txBox="1"/>
          <p:nvPr/>
        </p:nvSpPr>
        <p:spPr>
          <a:xfrm>
            <a:off x="731520" y="5029200"/>
            <a:ext cx="3108960" cy="1005840"/>
          </a:xfrm>
          <a:prstGeom prst="rect">
            <a:avLst/>
          </a:prstGeom>
          <a:noFill/>
          <a:ln/>
        </p:spPr>
        <p:txBody>
          <a:bodyPr wrap="square" lIns="0" tIns="0" rIns="0" bIns="0" rtlCol="0" anchor="ctr"/>
          <a:lstStyle/>
          <a:p>
            <a:pPr indent="0" marL="0">
              <a:buNone/>
            </a:pPr>
            <a:r>
              <a:rPr lang="en-US" sz="1800" b="1" dirty="0">
                <a:solidFill>
                  <a:srgbClr val="137D8A"/>
                </a:solidFill>
                <a:latin typeface="Cambria" pitchFamily="34" charset="0"/>
                <a:ea typeface="Cambria" pitchFamily="34" charset="-122"/>
                <a:cs typeface="Cambria" pitchFamily="34" charset="-120"/>
              </a:rPr>
              <a:t>RNA velocity</a:t>
            </a:r>
            <a:endParaRPr lang="en-US" sz="1800" dirty="0"/>
          </a:p>
        </p:txBody>
      </p:sp>
      <p:sp>
        <p:nvSpPr>
          <p:cNvPr id="17" name="Text 15"/>
          <p:cNvSpPr txBox="1"/>
          <p:nvPr/>
        </p:nvSpPr>
        <p:spPr>
          <a:xfrm>
            <a:off x="3931920" y="5029200"/>
            <a:ext cx="7589520" cy="1005840"/>
          </a:xfrm>
          <a:prstGeom prst="rect">
            <a:avLst/>
          </a:prstGeom>
          <a:noFill/>
          <a:ln/>
        </p:spPr>
        <p:txBody>
          <a:bodyPr wrap="square" lIns="0" tIns="0" rIns="0" bIns="0" rtlCol="0" anchor="ctr"/>
          <a:lstStyle/>
          <a:p>
            <a:pPr indent="0" marL="0">
              <a:buNone/>
            </a:pPr>
            <a:r>
              <a:rPr lang="en-US" sz="1500" dirty="0">
                <a:solidFill>
                  <a:srgbClr val="1F2A30"/>
                </a:solidFill>
                <a:latin typeface="Calibri" pitchFamily="34" charset="0"/>
                <a:ea typeface="Calibri" pitchFamily="34" charset="-122"/>
                <a:cs typeface="Calibri" pitchFamily="34" charset="-120"/>
              </a:rPr>
              <a:t>FASTQ → spliced / unspliced counts (current DPT is ordering only, not velocity)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iNKT follow-up: AP-1, iNKT17 and GO functional grouping</dc:title>
  <dc:subject>PptxGenJS Presentation</dc:subject>
  <dc:creator>PptxGenJS</dc:creator>
  <cp:lastModifiedBy>PptxGenJS</cp:lastModifiedBy>
  <cp:revision>1</cp:revision>
  <dcterms:created xsi:type="dcterms:W3CDTF">2026-09-29T20:18:56Z</dcterms:created>
  <dcterms:modified xsi:type="dcterms:W3CDTF">2026-09-29T20:18:56Z</dcterms:modified>
</cp:coreProperties>
</file>