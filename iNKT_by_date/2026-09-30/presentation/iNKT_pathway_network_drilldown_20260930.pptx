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−log10 q</c:v>
                </c:pt>
              </c:strCache>
            </c:strRef>
          </c:tx>
          <c:spPr>
            <a:solidFill>
              <a:srgbClr val="137D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Oxidative phosphorylation (KEGG)</c:v>
                  </c:pt>
                  <c:pt idx="1">
                    <c:v>oxidative phosphorylation (GO)</c:v>
                  </c:pt>
                  <c:pt idx="2">
                    <c:v>Thermogenesis (KEGG)</c:v>
                  </c:pt>
                  <c:pt idx="3">
                    <c:v>aerobic respiration (GO)</c:v>
                  </c:pt>
                  <c:pt idx="4">
                    <c:v>Parkinson disease (KEGG)</c:v>
                  </c:pt>
                  <c:pt idx="5">
                    <c:v>energy derivation by oxidation (GO)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25.77</c:v>
                </c:pt>
                <c:pt idx="1">
                  <c:v>23.88</c:v>
                </c:pt>
                <c:pt idx="2">
                  <c:v>22.55</c:v>
                </c:pt>
                <c:pt idx="3">
                  <c:v>19.96</c:v>
                </c:pt>
                <c:pt idx="4">
                  <c:v>19.4</c:v>
                </c:pt>
                <c:pt idx="5">
                  <c:v>18.17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best −log10 q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(a) all genes</c:v>
                </c:pt>
              </c:strCache>
            </c:strRef>
          </c:tx>
          <c:spPr>
            <a:solidFill>
              <a:srgbClr val="137D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GNN</c:v>
                  </c:pt>
                  <c:pt idx="1">
                    <c:v>Common neighbours</c:v>
                  </c:pt>
                  <c:pt idx="2">
                    <c:v>Adamic-Adar</c:v>
                  </c:pt>
                  <c:pt idx="3">
                    <c:v>Semantic cosine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0.973</c:v>
                </c:pt>
                <c:pt idx="1">
                  <c:v>0.922</c:v>
                </c:pt>
                <c:pt idx="2">
                  <c:v>0.928</c:v>
                </c:pt>
                <c:pt idx="3">
                  <c:v>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(b) primary</c:v>
                </c:pt>
              </c:strCache>
            </c:strRef>
          </c:tx>
          <c:spPr>
            <a:solidFill>
              <a:srgbClr val="C869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GNN</c:v>
                  </c:pt>
                  <c:pt idx="1">
                    <c:v>Common neighbours</c:v>
                  </c:pt>
                  <c:pt idx="2">
                    <c:v>Adamic-Adar</c:v>
                  </c:pt>
                  <c:pt idx="3">
                    <c:v>Semantic cosine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0.981</c:v>
                </c:pt>
                <c:pt idx="1">
                  <c:v>0.922</c:v>
                </c:pt>
                <c:pt idx="2">
                  <c:v>0.922</c:v>
                </c:pt>
                <c:pt idx="3">
                  <c:v>0.723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5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AUC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Continues the numbering after the 25 Sept deck (slides 20-31). Source: 2026-09-30/README.md. This section answers Yue's question of 29 Sept: do the anchor pathways (AP-1, MAPK, IL-17, TCR, TNF) group together in a functional network, and what is the gene-level basis if they 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2026-09-30/README.md ('What was done', 'Drill-down'). ORA reuse check vs the 19 Sept GO results agreed term by term (results/tables/ORA_reuse_check_vs_0919.csv; 312,550 rows, max q difference 1e-16). Yue's request is paraphrased from the 29 Sept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 'What was done'; code/common.py (EXCL_REGEX, ANCHOR_KEGG, ANCHOR_GO); results/network/network_summary.json (242/10,670 excluded genes is from README; anchors n_anchor_nodes = 12); results/tables/redundancy_merges_excl.csv. The exclusion is the primary version because ribosomal, mitochondrial-encoded and heat-shock genes are the classic dissociation / QC signature; Rob raised this on 24 Sept.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results/network/network_summary.json (excl: n_nodes_before_collapse 94, n_nodes 66, n_edges 157, n_isolates 21; all: 159, 112, 231, 32); README.md key-number table for group counts (a: 49/15/2/15; b: 31/15/3/4). Figure: drilldown/figures/network_full_b_primary_excl_ribo_mito_hsp_v2.png (label-avoidance version of the 09-30 figure; labels no longer overlap each other, a few still sit on the dense energy cluster).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results/tables/node_attributes_excl.csv (best_q: 1.68e-26, 1.32e-24, 2.85e-23, 1.09e-20, 3.94e-20, 6.82e-19; chart shows -log10 of these). Group L01/G01 in results/tables/group_summary_excl.csv. Comparison statements about C0/C3 and C5-2: README.md ('热图显示...') and drilldown/tables/pathway_drill_summary.csv (Energy module DEG counts BM C0 31, Spleen C3 36, BM C5-2 1). Note that Parkinson disease is a KEGG term that is essentially a respiratory-chain gene list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results/tables/anchor_by_method_excl.csv (best_q, n_measured_genes: AP-1 0.000170, 6 genes; IL-17 0.0712, 51; TNF 0.561, 78; MAPK 0.636, 159; GO MAPK cascade 1.0, 114; JNK 30; p38 22; ERK 22; Th17 response 16; TCR 92; Th17 KEGG 79; IL-17 production no q, 0 measured genes). The AP-1 members in the hit list are from README.md. The '16-114' range covers the GO anchors, TCR (92) and Th17 (79).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results/tables/anchor_by_method_excl.csv (overlap_louvain, semantic_only, golden_fusion, gnn_semantic columns); results/tables/anchor_k_sensitivity_excl.csv (gnn_semantic rows: AP1_with_MAPK True for k=2..6, False for k&gt;=7; silhouette peak at k=4, 0.261; semantic_only False from k=5); version a statement from README.md. G03 composition: results/tables/group_summary_excl.csv. Therefore the co-grouping in the primary version is not evidence of a functional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drilldown/tables/anchor_bridge_genes.csv (AP-1 vs each KEGG pathway share 3 genes: Fos/Jun + Jund, Junb or Nfatc2; energy module vs AP-1 0 shared, vs KEGG 0-3, none DEG), drilldown/tables/bridge_candidate_genes.csv (per-gene log2FC/FDR in six key comparisons; Fos BM C0 +0.93, Spleen C3 +1.78; Fosb and Dusp1 / Nr4a1 pathway membership), drilldown/figures/bridge_genes_heatmap_v2.png (v2 adds a log2FC colour bar and moves the footer; original kept). Spleen C5-2 columns show large log2FC without significance; BM and spleen C5-2 have no DEG in any drilled set. Direction of Chuk / Traf2 / Akt2 / Map2k7 / Grb2 down in Spleen C3 is from README.md and the heatmap.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drilldown/tables/pathway_drill_summary.csv (KEGG MAPK: n_members 294, n_detected 166, DEG BM C0 14, Spleen C3 14, BM C4 6, BM C5-2 0, Spleen C5-2 0, Thymus C6 7, DEG_any_key 23); figure drilldown/figures/gene_network_KEGG_MAPK.png; q = 0.636 from results/tables/anchor_by_method_excl.csv. 294 - 166 = 128 undetected. Note that the pathway-level q is computed per comparison and direction on the enrichment universe, so it is not directly derived from the 23 DEG count; treat that last bullet as an interpretation. Per-pathway figures for IL-17, TCR, Th17, TNF, AP-1 and the energy module are in drilldown/figures/.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results/tables/gnn_vs_baselines_all.csv and gnn_vs_baselines_excl.csv (AUC means over seeds 42/43/44 - all: GNN 0.973, semantic 0.840, common neighbours 0.922, Adamic-Adar 0.928; excl: 0.981, 0.723, 0.922, 0.922; n_test_pos 23 / 15); results/tables/ARI_across_gnn_seeds_all.csv (0.710, 0.623, 0.614) and ARI_across_gnn_seeds_excl.csv (0.325, 0.549, 0.364); GOLDEN-GNN ARI 0.70 in version b from README.md (results/tables/ARI_between_methods_excl.csv). Transductive link reconstruction on a small graph, not biological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drilldown/html/inkt_network_explorer.html (built by drilldown/code/08_html.py from explorer_template.html); screenshots from headless-Chrome QA in drilldown/html/qa/ (terms_after_click_hub.png, genes_from_AP1.png). Tested: node click highlight and side panel, AP-1 and KEGG MAPK buttons open the filtered gene view (6 and 294 genes), comparison dropdown recolours, edge slider, Esc / empty click reset, no console errors. Fixes on 30 Sept: anchor labels were invisible at load (zoom too small), Esc did not reset. Not tested on Safari/Firefox or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synthesis of slides 37-40; Fos/Jun direction and magnitude from drilldown/tables/bridge_candidate_genes.csv. The dissociation-stress vs niche-activation distinction and the proposed bench design are proposals for discussion, not results. No numbers on this slide are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 network drill-down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MF + full KEGG network, anchor grouping, and gene-level bridges between AP-1, MAPK, IL-17 and TCR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Yue's question of 29 Sept · analysis of 30 Sept 2026 · no new data, no recomputation of 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Yue asked on 29 Sept, and what we did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 tables (20 eligible comparisons) and frozen GO; KEGG_2019_Mouse added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06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GO MF and the full KEGG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 on GO BP, GO MF, KEGG; term size 5–500; BH within comparison × direction ×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every significant 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terms with q ≤ 0.05 and ≥ 3 hit genes enter the network (no top-N cut)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Mixed-source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BP / MF and KEGG nodes in one graph; edges = Jaccard ≥ 0.25 and ≥ 3 shared genes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 significance and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size = best −log10 q; colour = group (GNN + semantic)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anchors group together?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Louvain, semantic, GOLDEN fusion, GNN + semantic; k by silhouette (2–15)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below pathway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Gene-level drill-down and an interactive HTML explorer (pathway ↔ gene)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done: no new datasets, no ORA/GNN/DE recomputation for the drill-down; no STRING/PPI edges.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design choices to agree 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visible in the figure legends and can be toggled in the HTML explorer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D7ECEE"/>
          </a:solidFill>
          <a:ln w="12700">
            <a:solidFill>
              <a:srgbClr val="D7E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Primary version excludes ribo / mito / Hsp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^(Rp[ls]\d|Rplp\d|Rpsa$|Mrp[ls]\d|mt-|Hsp(?!g)|Dnaj) removes 242 of 10,670 genes from both query and background. Rps6k* kinases and Hspg2 are kept. Version (a) with all genes is kept for comparison.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6E2DA"/>
          </a:solidFill>
          <a:ln w="12700">
            <a:solidFill>
              <a:srgbClr val="F6E2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600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Fixed anchor nodes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146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anchors are always drawn, even if not significant: KEGG MAPK, IL-17, TCR, Th17, TNF; GO AP-1 complex, MAPK / ERK / p38 / JNK cascades, Th17 response, IL-17 production. Anchors are never merged into other nodes.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D7ECEE"/>
          </a:solidFill>
          <a:ln w="12700">
            <a:solidFill>
              <a:srgbClr val="D7EC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600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Redundancy collapse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146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Non-anchor terms with Jaccard ≥ 0.75 to a more significant term are merged, so near-identical GO terms do not inflate the graph. Merged members stay listed in node_attributes.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(primary version b)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nodes, 157 edges after excluding ribo / mito / Hsp genes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pic>
        <p:nvPicPr>
          <p:cNvPr id="6" name="Image 0" descr="/Users/zeruzhang/Documents/zhou2_latest_20260929/bio3/iNKT_by_date/2026-09-30/drilldown/figures/network_full_b_primary_excl_ribo_mito_hsp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40507"/>
            <a:ext cx="7863840" cy="41999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463040"/>
            <a:ext cx="3337560" cy="4754880"/>
          </a:xfrm>
          <a:prstGeom prst="roundRect">
            <a:avLst>
              <a:gd name="adj" fmla="val 2192"/>
            </a:avLst>
          </a:prstGeom>
          <a:solidFill>
            <a:srgbClr val="D7ECEE"/>
          </a:solidFill>
          <a:ln w="12700">
            <a:solidFill>
              <a:srgbClr val="D7EC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01168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b: 94 → 66 nodes after collapse, 157 edges, 21 isolated nodes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(all genes): 159 → 112 nodes, 231 edges, 32 isolated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 (Louvain / semantic / GOLDEN / GNN + semantic): 31 / 15 / 3 / 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connected block is energy metabolism; anchors are mostly isolated nodes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significant core is energy metabolism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survives the exclusion: six strongest terms, version b (ribo / mito-encoded / Hsp genes already removed)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251960" cy="4663440"/>
          </a:xfrm>
          <a:prstGeom prst="roundRect">
            <a:avLst>
              <a:gd name="adj" fmla="val 1720"/>
            </a:avLst>
          </a:prstGeom>
          <a:solidFill>
            <a:srgbClr val="F6E2DA"/>
          </a:solidFill>
          <a:ln w="12700">
            <a:solidFill>
              <a:srgbClr val="F6E2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1600200"/>
            <a:ext cx="3886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OXPHOS / ATP synthesis / respiratory chain terms dominate; the driver genes are nuclear-encoded (Ndu*, Cox*, Atp5*, Uqcr*)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 BM C0 and Spleen C3 (T2-up); BM and spleen C5-2 have no significant term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energy metabolism is not new for the bench, but it is a broader signal than the G01 stress program (ribo / Hsp) from 25 Sept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of a large, well-annotated pathway is not evidence of increased activity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Anchors: only AP-1 is significant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 across comparisons, version b (BH within comparison × direction × source)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371600"/>
                <a:gridCol w="182880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genes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AP-1 complex (GO:0035976)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1.7e-4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BM C0, Spleen 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IL-17 signaling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TNF signaling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MAPK signaling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TCR, KEGG Th17, GO MAPK / ERK / p38 / JNK, GO Th17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interleukin-17 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genes in frozen annotation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AP-1 is the only anchor with statistical support, and it rests on five genes: Fos, Fosl2, Jun, Junb, Jund. MAPK is not enriched among T2-up genes even though 23 of its members are DE (next slides).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anchors group together? At pathway level: it depends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each anchor by method, version b (letter + number = group id)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9728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Louvain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+ semantic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AP-1 complex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IL-17 signaling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MAPK signaling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TCR signaling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Th17 differentiation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TNF signaling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97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and semantic scatter them; GOLDEN and GNN at the silhouette k put all in G03, a 36-node catch-all of isolates and 2-node fragments.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1417320"/>
            <a:ext cx="4343400" cy="4663440"/>
          </a:xfrm>
          <a:prstGeom prst="roundRect">
            <a:avLst>
              <a:gd name="adj" fmla="val 1684"/>
            </a:avLst>
          </a:prstGeom>
          <a:solidFill>
            <a:srgbClr val="F6E2DA"/>
          </a:solidFill>
          <a:ln w="12700">
            <a:solidFill>
              <a:srgbClr val="F6E2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508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k-sensitivity (GNN + semantic)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196596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≤ 6: all anchors in one group (k chosen by silhouette = 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≥ 7: MAPK separates from AP-1 / IL-17 / TCR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Semantic-only separates them already at k ≥ 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at k = 15: AP-1, MAPK, and IL-17 / TCR are three separate places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84632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message: the question cannot be answered at pathway level. Co-grouping reflects k and method, not biology.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level: only Fos and Jun bridge the anchors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in ≥ 2 anchor pathways and DE in ≥ 1 key comparison, plus AP-1 members (* = DEG)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pic>
        <p:nvPicPr>
          <p:cNvPr id="6" name="Image 0" descr="/Users/zeruzhang/Documents/zhou2_latest_20260929/bio3/iNKT_by_date/2026-09-30/drilldown/figures/bridge_genes_heatmap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85935"/>
            <a:ext cx="6309360" cy="43090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0" y="1463040"/>
            <a:ext cx="4937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and Jun (plus Junb / Jund) are the only DE-driven bridge between AP-1 and all KEGG anchors; up in BM C0, Spleen C3, BM C4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shared genes are non-DE scaffolds: Mapk1 / 3 / 14, Nfkb1, Rela, Ikbkb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Chuk, Traf2, Akt2, Map2k7, Grb2 go down in Spleen C3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Fosb, Dusp1, Nr4a1, Egr1 are strongly DE but do not bridge (Fosb only IL-17; Dusp1 / Nr4a1 only MAPK)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module shares 0 genes with AP-1 and 0–3 non-DE genes with each KEGG anchor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 example: KEGG MAPK signaling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annotated members · 166 detected in the data · 23 DEG in at least one key comparison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pic>
        <p:nvPicPr>
          <p:cNvPr id="6" name="Image 0" descr="/Users/zeruzhang/Documents/zhou2_latest_20260929/bio3/iNKT_by_date/2026-09-30/drilldown/figures/gene_network_KEGG_MAP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32" y="1325880"/>
            <a:ext cx="4575896" cy="49834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63040"/>
          <a:ext cx="5852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 among MAPK members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 C0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 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 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 C5-2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Spleen C5-2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Thymus C6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852160" y="402336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Red-boxed stars = DEG; grey hollow = not detected (128 members); panels show BM C0 and Spleen C3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 DEG mix immediate-early genes (Fos, Jun, Jund, Dusp1/2, Nr4a1, Gadd45g) with a few signalling genes (Chuk, Traf2, Map2k7, Grb2, Akt2); the core kinases (Mapk1/3/14) are not 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Pathway-level q = 0.64: a few DEG among many unchanged members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 ablation: it adds little on a graph this small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edge prediction, mean of seeds 42 / 43 / 44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120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edges: 23 positive + 23 negative (a), 15 + 15 (b). AUC differences of ~0.05 on so few edges are within seed-to-seed noise.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46304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all genes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primary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D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vs 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vs 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vs 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stability across seeds (ARI)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0" y="32004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AUC beats graph baselines by ~0.05 but on tiny test 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(b) the GNN grouping agrees with GOLDEN fusion (ARI 0.70) and is unstable across seeds (0.32–0.55)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on ~100 nodes the GNN adds little beyond common neighbours and is less stable; groups are exploratory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explorer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file: pathway network ↔ gene network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pic>
        <p:nvPicPr>
          <p:cNvPr id="6" name="Image 0" descr="/Users/zeruzhang/Documents/zhou2_latest_20260929/bio3/iNKT_by_date/2026-09-30/drilldown/html/qa/terms_after_click_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0645"/>
            <a:ext cx="5760720" cy="3122310"/>
          </a:xfrm>
          <a:prstGeom prst="rect">
            <a:avLst/>
          </a:prstGeom>
        </p:spPr>
      </p:pic>
      <p:pic>
        <p:nvPicPr>
          <p:cNvPr id="7" name="Image 1" descr="/Users/zeruzhang/Documents/zhou2_latest_20260929/bio3/iNKT_by_date/2026-09-30/drilldown/html/qa/genes_from_A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0645"/>
            <a:ext cx="5760720" cy="31223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617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Pathway view: click a node to highlight neighbours; anchor labels visible at load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4617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Gene view: opened from the AP-1 node; stars = DEG in the chosen comparison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drilldown/html/inkt_network_explorer.html in a browser (needs internet: vis-network loads from a CDN); Esc or an empty click resets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/ b switch, group filters; button opens the gene view filtered to that pathway; comparison dropdown recolours genes by log2FC; slider sets minimum shared terms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and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T2 signature is, and what would test 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cell-level results · 3 mice pooled per tissue × condition label (n = 1 pool)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D7ECEE"/>
          </a:solidFill>
          <a:ln w="12700">
            <a:solidFill>
              <a:srgbClr val="D7E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6E2DA"/>
          </a:solidFill>
          <a:ln w="12700">
            <a:solidFill>
              <a:srgbClr val="F6E2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T2 signature in BM C0 and Spleen C3 is an immediate-early / AP-1 (Fos–Jun) response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reflect niche activation in vivo or tissue dissociation stress; these data cannot separate the two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networks add no support for a linked MAPK–IL-17–TCR program; gene-level evidence is Fos / Jun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metabolism is the statistically strongest but least specific signal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test (Rob): p-ERK, p-p38 and AP-1 (c-Fos / c-Jun) protein in sorted BM C0 and Spleen C3 iNKT cells, with dissociation controls (e.g. transcription-inhibitor during digestion)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from the collaborators: pool metadata (mouse / batch per pool), the AML dataset, FASTQ for velocity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then all statements stay exploratory (n = 1 pool per label)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iNKT pathway network drill-down (30 Sept)</dc:title>
  <dc:subject>PptxGenJS Presentation</dc:subject>
  <dc:creator>PptxGenJS</dc:creator>
  <cp:lastModifiedBy>PptxGenJS</cp:lastModifiedBy>
  <cp:revision>1</cp:revision>
  <dcterms:created xsi:type="dcterms:W3CDTF">2026-09-30T16:32:13Z</dcterms:created>
  <dcterms:modified xsi:type="dcterms:W3CDTF">2026-09-30T16:32:13Z</dcterms:modified>
</cp:coreProperties>
</file>