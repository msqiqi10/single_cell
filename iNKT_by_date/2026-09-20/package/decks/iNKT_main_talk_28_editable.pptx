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nel1.svg" ContentType="image/svg+xml"/>
  <Override PartName="/ppt/media/panel10.svg" ContentType="image/svg+xml"/>
  <Override PartName="/ppt/media/panel11.svg" ContentType="image/svg+xml"/>
  <Override PartName="/ppt/media/panel12.svg" ContentType="image/svg+xml"/>
  <Override PartName="/ppt/media/panel13.svg" ContentType="image/svg+xml"/>
  <Override PartName="/ppt/media/panel14.svg" ContentType="image/svg+xml"/>
  <Override PartName="/ppt/media/panel15.svg" ContentType="image/svg+xml"/>
  <Override PartName="/ppt/media/panel16.svg" ContentType="image/svg+xml"/>
  <Override PartName="/ppt/media/panel17.svg" ContentType="image/svg+xml"/>
  <Override PartName="/ppt/media/panel18.svg" ContentType="image/svg+xml"/>
  <Override PartName="/ppt/media/panel19.svg" ContentType="image/svg+xml"/>
  <Override PartName="/ppt/media/panel2.svg" ContentType="image/svg+xml"/>
  <Override PartName="/ppt/media/panel20.svg" ContentType="image/svg+xml"/>
  <Override PartName="/ppt/media/panel21.svg" ContentType="image/svg+xml"/>
  <Override PartName="/ppt/media/panel22.svg" ContentType="image/svg+xml"/>
  <Override PartName="/ppt/media/panel23.svg" ContentType="image/svg+xml"/>
  <Override PartName="/ppt/media/panel24.svg" ContentType="image/svg+xml"/>
  <Override PartName="/ppt/media/panel25.svg" ContentType="image/svg+xml"/>
  <Override PartName="/ppt/media/panel26.svg" ContentType="image/svg+xml"/>
  <Override PartName="/ppt/media/panel27.svg" ContentType="image/svg+xml"/>
  <Override PartName="/ppt/media/panel28.svg" ContentType="image/svg+xml"/>
  <Override PartName="/ppt/media/panel29.svg" ContentType="image/svg+xml"/>
  <Override PartName="/ppt/media/panel3.svg" ContentType="image/svg+xml"/>
  <Override PartName="/ppt/media/panel30.svg" ContentType="image/svg+xml"/>
  <Override PartName="/ppt/media/panel31.svg" ContentType="image/svg+xml"/>
  <Override PartName="/ppt/media/panel32.svg" ContentType="image/svg+xml"/>
  <Override PartName="/ppt/media/panel33.svg" ContentType="image/svg+xml"/>
  <Override PartName="/ppt/media/panel34.svg" ContentType="image/svg+xml"/>
  <Override PartName="/ppt/media/panel35.svg" ContentType="image/svg+xml"/>
  <Override PartName="/ppt/media/panel36.svg" ContentType="image/svg+xml"/>
  <Override PartName="/ppt/media/panel37.svg" ContentType="image/svg+xml"/>
  <Override PartName="/ppt/media/panel38.svg" ContentType="image/svg+xml"/>
  <Override PartName="/ppt/media/panel39.svg" ContentType="image/svg+xml"/>
  <Override PartName="/ppt/media/panel4.svg" ContentType="image/svg+xml"/>
  <Override PartName="/ppt/media/panel40.svg" ContentType="image/svg+xml"/>
  <Override PartName="/ppt/media/panel41.svg" ContentType="image/svg+xml"/>
  <Override PartName="/ppt/media/panel42.svg" ContentType="image/svg+xml"/>
  <Override PartName="/ppt/media/panel43.svg" ContentType="image/svg+xml"/>
  <Override PartName="/ppt/media/panel44.svg" ContentType="image/svg+xml"/>
  <Override PartName="/ppt/media/panel45.svg" ContentType="image/svg+xml"/>
  <Override PartName="/ppt/media/panel46.svg" ContentType="image/svg+xml"/>
  <Override PartName="/ppt/media/panel47.svg" ContentType="image/svg+xml"/>
  <Override PartName="/ppt/media/panel48.svg" ContentType="image/svg+xml"/>
  <Override PartName="/ppt/media/panel49.svg" ContentType="image/svg+xml"/>
  <Override PartName="/ppt/media/panel5.svg" ContentType="image/svg+xml"/>
  <Override PartName="/ppt/media/panel50.svg" ContentType="image/svg+xml"/>
  <Override PartName="/ppt/media/panel51.svg" ContentType="image/svg+xml"/>
  <Override PartName="/ppt/media/panel52.svg" ContentType="image/svg+xml"/>
  <Override PartName="/ppt/media/panel53.svg" ContentType="image/svg+xml"/>
  <Override PartName="/ppt/media/panel54.svg" ContentType="image/svg+xml"/>
  <Override PartName="/ppt/media/panel55.svg" ContentType="image/svg+xml"/>
  <Override PartName="/ppt/media/panel56.svg" ContentType="image/svg+xml"/>
  <Override PartName="/ppt/media/panel57.svg" ContentType="image/svg+xml"/>
  <Override PartName="/ppt/media/panel58.svg" ContentType="image/svg+xml"/>
  <Override PartName="/ppt/media/panel59.svg" ContentType="image/svg+xml"/>
  <Override PartName="/ppt/media/panel6.svg" ContentType="image/svg+xml"/>
  <Override PartName="/ppt/media/panel60.svg" ContentType="image/svg+xml"/>
  <Override PartName="/ppt/media/panel61.svg" ContentType="image/svg+xml"/>
  <Override PartName="/ppt/media/panel62.svg" ContentType="image/svg+xml"/>
  <Override PartName="/ppt/media/panel63.svg" ContentType="image/svg+xml"/>
  <Override PartName="/ppt/media/panel64.svg" ContentType="image/svg+xml"/>
  <Override PartName="/ppt/media/panel65.svg" ContentType="image/svg+xml"/>
  <Override PartName="/ppt/media/panel66.svg" ContentType="image/svg+xml"/>
  <Override PartName="/ppt/media/panel67.svg" ContentType="image/svg+xml"/>
  <Override PartName="/ppt/media/panel68.svg" ContentType="image/svg+xml"/>
  <Override PartName="/ppt/media/panel69.svg" ContentType="image/svg+xml"/>
  <Override PartName="/ppt/media/panel7.svg" ContentType="image/svg+xml"/>
  <Override PartName="/ppt/media/panel70.svg" ContentType="image/svg+xml"/>
  <Override PartName="/ppt/media/panel71.svg" ContentType="image/svg+xml"/>
  <Override PartName="/ppt/media/panel72.svg" ContentType="image/svg+xml"/>
  <Override PartName="/ppt/media/panel73.svg" ContentType="image/svg+xml"/>
  <Override PartName="/ppt/media/panel74.svg" ContentType="image/svg+xml"/>
  <Override PartName="/ppt/media/panel75.svg" ContentType="image/svg+xml"/>
  <Override PartName="/ppt/media/panel76.svg" ContentType="image/svg+xml"/>
  <Override PartName="/ppt/media/panel77.svg" ContentType="image/svg+xml"/>
  <Override PartName="/ppt/media/panel78.svg" ContentType="image/svg+xml"/>
  <Override PartName="/ppt/media/panel79.svg" ContentType="image/svg+xml"/>
  <Override PartName="/ppt/media/panel8.svg" ContentType="image/svg+xml"/>
  <Override PartName="/ppt/media/panel80.svg" ContentType="image/svg+xml"/>
  <Override PartName="/ppt/media/panel81.svg" ContentType="image/svg+xml"/>
  <Override PartName="/ppt/media/panel82.svg" ContentType="image/svg+xml"/>
  <Override PartName="/ppt/media/panel83.svg" ContentType="image/svg+xml"/>
  <Override PartName="/ppt/media/panel84.svg" ContentType="image/svg+xml"/>
  <Override PartName="/ppt/media/panel85.svg" ContentType="image/svg+xml"/>
  <Override PartName="/ppt/media/panel86.svg" ContentType="image/svg+xml"/>
  <Override PartName="/ppt/media/panel87.svg" ContentType="image/svg+xml"/>
  <Override PartName="/ppt/media/panel88.svg" ContentType="image/svg+xml"/>
  <Override PartName="/ppt/media/panel89.svg" ContentType="image/svg+xml"/>
  <Override PartName="/ppt/media/panel9.svg" ContentType="image/svg+xml"/>
  <Override PartName="/ppt/media/panel90.svg" ContentType="image/svg+xml"/>
  <Override PartName="/ppt/media/panel91.svg" ContentType="image/svg+xml"/>
  <Override PartName="/ppt/media/panel92.svg" ContentType="image/svg+xml"/>
  <Override PartName="/ppt/media/panel93.svg" ContentType="image/svg+xml"/>
  <Override PartName="/ppt/media/panel94.svg" ContentType="image/svg+xml"/>
  <Override PartName="/ppt/media/panel95.svg" ContentType="image/svg+xml"/>
  <Override PartName="/ppt/media/panel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iNKT: cell states, cytotoxic programs and functional changes</a:t>
            </a:r>
          </a:p>
          <a:p>
            <a:r>
              <a:t>主报告按数据与细胞状态、差异与功能、轨迹与解释组织。原37页和新增19页均保留，部分进入主报告，其余进入附录。</a:t>
            </a:r>
          </a:p>
          <a:p>
            <a:r>
              <a:t>Blood Fig. 3; PAGER-scFGA Fig. 5; Borra et al. Fig. 4c</a:t>
            </a:r>
          </a:p>
          <a:p>
            <a:r>
              <a:t>Main talk followed by an appendix preserving every previous and current source page.</a:t>
            </a:r>
          </a:p>
          <a:p>
            <a:r>
              <a:t>Source page: custom_01; Main talk</a:t>
            </a:r>
          </a:p>
          <a:p>
            <a:r>
              <a:t>Independent graphics: assets/panels/custom_01_*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Material, dataset and QC</a:t>
            </a:r>
          </a:p>
          <a:p>
            <a:r>
              <a:t>原综合报告第2页。QC counts match the legacy deck; downstream UMAP, Leiden and gene statistics remain a reanalysis.</a:t>
            </a:r>
          </a:p>
          <a:p>
            <a:r>
              <a:t>Original iNKT deck, slide 2; current object: 20260905 scored_base.h5ad.</a:t>
            </a:r>
          </a:p>
          <a:p>
            <a:r>
              <a:t>QC counts match the legacy deck; downstream UMAP, Leiden and gene statistics remain a reanalysis.</a:t>
            </a:r>
          </a:p>
          <a:p>
            <a:r>
              <a:t>Source page: old_02; Main talk</a:t>
            </a:r>
          </a:p>
          <a:p>
            <a:r>
              <a:t>Independent graphics: assets/panels/old_02_*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Clusters and tissue composition</a:t>
            </a:r>
          </a:p>
          <a:p>
            <a:r>
              <a:t>原综合报告第3页。Original sample hues retained on the left; Blood-style blue/red encodes condition on the right. Coordinates are unchanged.</a:t>
            </a:r>
          </a:p>
          <a:p>
            <a:r>
              <a:t>Original iNKT slides 4–5/12; Blood Fig. 3B is t-SNE/K-means, so axes and labels are not copied.</a:t>
            </a:r>
          </a:p>
          <a:p>
            <a:r>
              <a:t>Original sample hues retained on the left; Blood-style blue/red encodes condition on the right. Coordinates are unchanged.</a:t>
            </a:r>
          </a:p>
          <a:p>
            <a:r>
              <a:t>Source page: old_03; Main talk</a:t>
            </a:r>
          </a:p>
          <a:p>
            <a:r>
              <a:t>Independent graphics: assets/panels/old_03_*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iNKT1 marker program</a:t>
            </a:r>
          </a:p>
          <a:p>
            <a:r>
              <a:t>原综合报告第5页。Current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old_05; Main talk</a:t>
            </a:r>
          </a:p>
          <a:p>
            <a:r>
              <a:t>Independent graphics: assets/panels/old_05_*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iNKT2 marker program</a:t>
            </a:r>
          </a:p>
          <a:p>
            <a:r>
              <a:t>原综合报告第6页。Current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old_06; Main talk</a:t>
            </a:r>
          </a:p>
          <a:p>
            <a:r>
              <a:t>Independent graphics: assets/panels/old_06_*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iNKT17 marker program</a:t>
            </a:r>
          </a:p>
          <a:p>
            <a:r>
              <a:t>原综合报告第7页。Current score_genes units differ from legacy summed-marker scores; these panels do not establish discrete subtype identities.</a:t>
            </a:r>
          </a:p>
          <a:p>
            <a:r>
              <a:t>Original iNKT slides 6–8; marker panel and saved continuous scores from the 20260905 state analysis.</a:t>
            </a:r>
          </a:p>
          <a:p>
            <a:r>
              <a:t>Current score_genes units differ from legacy summed-marker scores; these panels do not establish discrete subtype identities.</a:t>
            </a:r>
          </a:p>
          <a:p>
            <a:r>
              <a:t>Source page: old_07; Main talk</a:t>
            </a:r>
          </a:p>
          <a:p>
            <a:r>
              <a:t>Independent graphics: assets/panels/old_07_*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cluster and condition frequencies</a:t>
            </a:r>
          </a:p>
          <a:p>
            <a:r>
              <a:t>原综合报告第8页。Captured-cell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old_08; Main talk</a:t>
            </a:r>
          </a:p>
          <a:p>
            <a:r>
              <a:t>Independent graphics: assets/panels/old_08_*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cluster and condition frequencies</a:t>
            </a:r>
          </a:p>
          <a:p>
            <a:r>
              <a:t>原综合报告第9页。Captured-cell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old_09; Main talk</a:t>
            </a:r>
          </a:p>
          <a:p>
            <a:r>
              <a:t>Independent graphics: assets/panels/old_09_*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cluster and condition frequencies</a:t>
            </a:r>
          </a:p>
          <a:p>
            <a:r>
              <a:t>原综合报告第10页。Captured-cell proportions only. No mouse-level error bars or significance are inferred from individual cells.</a:t>
            </a:r>
          </a:p>
          <a:p>
            <a:r>
              <a:t>Blood Fig. 3C; saved 20260905 frequency_reconciliation_1.csv.</a:t>
            </a:r>
          </a:p>
          <a:p>
            <a:r>
              <a:t>Captured-cell proportions only. No mouse-level error bars or significance are inferred from individual cells.</a:t>
            </a:r>
          </a:p>
          <a:p>
            <a:r>
              <a:t>Source page: old_10; Main talk</a:t>
            </a:r>
          </a:p>
          <a:p>
            <a:r>
              <a:t>Independent graphics: assets/panels/old_10_*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 Differential expression: Control vs. Tumor</a:t>
            </a:r>
          </a:p>
          <a:p>
            <a:r>
              <a:t>原综合报告第22页。Color rule retained: gene BH FDR ≤ 0.05 and |log2FC| ≥ 0.25. Vertical display thresholds are therefore ±0.25.</a:t>
            </a:r>
          </a:p>
          <a:p>
            <a:r>
              <a:t>Blood Fig. 3D; current DE tables (20260905). Paper combines K1+K2; these panels do not claim that population equivalence.</a:t>
            </a:r>
          </a:p>
          <a:p>
            <a:r>
              <a:t>Color rule retained: gene BH FDR ≤ 0.05 and |log2FC| ≥ 0.25. Vertical display thresholds are therefore ±0.25.</a:t>
            </a:r>
          </a:p>
          <a:p>
            <a:r>
              <a:t>Source page: old_22; Main talk</a:t>
            </a:r>
          </a:p>
          <a:p>
            <a:r>
              <a:t>Independent graphics: assets/panels/old_22_*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design and reference mapping</a:t>
            </a:r>
          </a:p>
          <a:p>
            <a:r>
              <a:t>采用论文中的方法和图形组织方式。没有运行SCORPION、随机森林或声称重现PAGER专有网络；GO采用官方MGI小鼠注释。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new_02; Main talk</a:t>
            </a:r>
          </a:p>
          <a:p>
            <a:r>
              <a:t>Independent graphics: assets/panels/new_02_*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Cytotoxic gene coverage and scoring</a:t>
            </a:r>
          </a:p>
          <a:p>
            <a:r>
              <a:t>分数是转录表达而不是杀伤实验读数。不同基因集的绝对分数不可视为相同量纲的功能强弱。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new_03; Main talk</a:t>
            </a:r>
          </a:p>
          <a:p>
            <a:r>
              <a:t>Independent graphics: assets/panels/new_03_*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new_04; Main talk</a:t>
            </a:r>
          </a:p>
          <a:p>
            <a:r>
              <a:t>Independent graphics: assets/panels/new_04_*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new_05; Main talk</a:t>
            </a:r>
          </a:p>
          <a:p>
            <a:r>
              <a:t>Independent graphics: assets/panels/new_05_*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new_06; Main talk</a:t>
            </a:r>
          </a:p>
          <a:p>
            <a:r>
              <a:t>Independent graphics: assets/panels/new_06_*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new_07; Main talk</a:t>
            </a:r>
          </a:p>
          <a:p>
            <a:r>
              <a:t>Independent graphics: assets/panels/new_07_*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new_08; Main talk</a:t>
            </a:r>
          </a:p>
          <a:p>
            <a:r>
              <a:t>Independent graphics: assets/panels/new_08_*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new_09; Main talk</a:t>
            </a:r>
          </a:p>
          <a:p>
            <a:r>
              <a:t>Independent graphics: assets/panels/new_09_*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new_10; Main talk</a:t>
            </a:r>
          </a:p>
          <a:p>
            <a:r>
              <a:t>Independent graphics: assets/panels/new_10_*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new_11; Main talk</a:t>
            </a:r>
          </a:p>
          <a:p>
            <a:r>
              <a:t>Independent graphics: assets/panels/new_11_*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new_12; Main talk</a:t>
            </a:r>
          </a:p>
          <a:p>
            <a:r>
              <a:t>Independent graphics: assets/panels/new_12_*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Cellular components of cytotoxic module genes</a:t>
            </a:r>
          </a:p>
          <a:p>
            <a:r>
              <a:t>这里只画真实GO细胞组分注释矩阵，不把共同定位误画为PPI相互作用。</a:t>
            </a:r>
          </a:p>
          <a:p>
            <a:r>
              <a:t>Huang et al. 2024, PAGER-scFGA, Fig. 5; doi:10.3389/fbinf.2024.1336135; official mouse GO annotations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new_17; Main talk</a:t>
            </a:r>
          </a:p>
          <a:p>
            <a:r>
              <a:t>Independent graphics: assets/panels/new_17_*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new_13; Main talk</a:t>
            </a:r>
          </a:p>
          <a:p>
            <a:r>
              <a:t>Independent graphics: assets/panels/new_13_*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new_14; Main talk</a:t>
            </a:r>
          </a:p>
          <a:p>
            <a:r>
              <a:t>Independent graphics: assets/panels/new_14_*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new_15; Main talk</a:t>
            </a:r>
          </a:p>
          <a:p>
            <a:r>
              <a:t>Independent graphics: assets/panels/new_15_*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Robustness: QC matching and alternative clustering</a:t>
            </a:r>
          </a:p>
          <a:p>
            <a:r>
              <a:t>绿色范围表示五次QC匹配结果范围，不是置信区间。完整稳定分群分析保存在表里，不把S群直接等同原来的C群。</a:t>
            </a:r>
          </a:p>
          <a:p>
            <a:r>
              <a:t>Huang et al. 2024, PAGER-scFGA, Fig. 5; doi:10.3389/fbinf.2024.1336135; sensitivity analyses added for this dataset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new_18; Main talk</a:t>
            </a:r>
          </a:p>
          <a:p>
            <a:r>
              <a:t>Independent graphics: assets/panels/new_18_*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signature changes do not imply a full killing pathway</a:t>
            </a:r>
          </a:p>
          <a:p>
            <a:r>
              <a:t>骨髓C4和脾脏C3的核心3基因模块及原4基因效应模块有一致局部变化；加入Ctla2a后的论文E1代表模块不显著。杀伤相关GO也未显著，不能推断整个细胞毒性通路增强或减弱。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new_16; Main talk</a:t>
            </a:r>
          </a:p>
          <a:p>
            <a:r>
              <a:t>Independent graphics: assets/panels/new_16_*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Interpretation: localized effector changes with shared metabolic signals</a:t>
            </a:r>
          </a:p>
          <a:p>
            <a:r>
              <a:t>骨髓C4主要是Gzmb相关变化；脾脏C3效应较小。两群均有氧化磷酸化基因富集，但细胞毒性分数方向不同。扩展E1与杀伤GO不显著，因此限制在转录状态变化。</a:t>
            </a:r>
          </a:p>
          <a:p>
            <a:r>
              <a:t>20260919 numeric results; gene-level follow-up reviewed 20260919</a:t>
            </a:r>
          </a:p>
          <a:p>
            <a:r>
              <a:t>No exhaustion, lineage direction or killing-function claim is established.</a:t>
            </a:r>
          </a:p>
          <a:p>
            <a:r>
              <a:t>Source page: custom_02; Main talk</a:t>
            </a:r>
          </a:p>
          <a:p>
            <a:r>
              <a:t>Independent graphics: assets/panels/custom_02_*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panel1.svg"/><Relationship Id="rId4" Type="http://schemas.openxmlformats.org/officeDocument/2006/relationships/image" Target="../media/image2.png"/><Relationship Id="rId5" Type="http://schemas.openxmlformats.org/officeDocument/2006/relationships/image" Target="../media/panel2.svg"/><Relationship Id="rId6" Type="http://schemas.openxmlformats.org/officeDocument/2006/relationships/image" Target="../media/image3.png"/><Relationship Id="rId7" Type="http://schemas.openxmlformats.org/officeDocument/2006/relationships/image" Target="../media/panel3.sv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panel4.svg"/><Relationship Id="rId4" Type="http://schemas.openxmlformats.org/officeDocument/2006/relationships/image" Target="../media/image5.png"/><Relationship Id="rId5" Type="http://schemas.openxmlformats.org/officeDocument/2006/relationships/image" Target="../media/panel5.svg"/><Relationship Id="rId6" Type="http://schemas.openxmlformats.org/officeDocument/2006/relationships/image" Target="../media/image6.png"/><Relationship Id="rId7" Type="http://schemas.openxmlformats.org/officeDocument/2006/relationships/image" Target="../media/panel6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panel7.svg"/><Relationship Id="rId4" Type="http://schemas.openxmlformats.org/officeDocument/2006/relationships/image" Target="../media/image8.png"/><Relationship Id="rId5" Type="http://schemas.openxmlformats.org/officeDocument/2006/relationships/image" Target="../media/panel8.svg"/><Relationship Id="rId6" Type="http://schemas.openxmlformats.org/officeDocument/2006/relationships/image" Target="../media/image9.png"/><Relationship Id="rId7" Type="http://schemas.openxmlformats.org/officeDocument/2006/relationships/image" Target="../media/panel9.svg"/><Relationship Id="rId8" Type="http://schemas.openxmlformats.org/officeDocument/2006/relationships/image" Target="../media/image10.png"/><Relationship Id="rId9" Type="http://schemas.openxmlformats.org/officeDocument/2006/relationships/image" Target="../media/panel10.svg"/><Relationship Id="rId10" Type="http://schemas.openxmlformats.org/officeDocument/2006/relationships/image" Target="../media/image11.png"/><Relationship Id="rId11" Type="http://schemas.openxmlformats.org/officeDocument/2006/relationships/image" Target="../media/panel11.svg"/><Relationship Id="rId12" Type="http://schemas.openxmlformats.org/officeDocument/2006/relationships/image" Target="../media/image12.png"/><Relationship Id="rId13" Type="http://schemas.openxmlformats.org/officeDocument/2006/relationships/image" Target="../media/panel12.svg"/><Relationship Id="rId14" Type="http://schemas.openxmlformats.org/officeDocument/2006/relationships/image" Target="../media/image13.png"/><Relationship Id="rId15" Type="http://schemas.openxmlformats.org/officeDocument/2006/relationships/image" Target="../media/panel13.svg"/><Relationship Id="rId16" Type="http://schemas.openxmlformats.org/officeDocument/2006/relationships/image" Target="../media/image14.png"/><Relationship Id="rId17" Type="http://schemas.openxmlformats.org/officeDocument/2006/relationships/image" Target="../media/panel14.svg"/><Relationship Id="rId18" Type="http://schemas.openxmlformats.org/officeDocument/2006/relationships/image" Target="../media/image15.png"/><Relationship Id="rId19" Type="http://schemas.openxmlformats.org/officeDocument/2006/relationships/image" Target="../media/panel15.svg"/><Relationship Id="rId20" Type="http://schemas.openxmlformats.org/officeDocument/2006/relationships/image" Target="../media/image16.png"/><Relationship Id="rId21" Type="http://schemas.openxmlformats.org/officeDocument/2006/relationships/image" Target="../media/panel16.svg"/><Relationship Id="rId22" Type="http://schemas.openxmlformats.org/officeDocument/2006/relationships/image" Target="../media/image17.png"/><Relationship Id="rId23" Type="http://schemas.openxmlformats.org/officeDocument/2006/relationships/image" Target="../media/panel17.svg"/><Relationship Id="rId2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panel18.svg"/><Relationship Id="rId4" Type="http://schemas.openxmlformats.org/officeDocument/2006/relationships/image" Target="../media/image19.png"/><Relationship Id="rId5" Type="http://schemas.openxmlformats.org/officeDocument/2006/relationships/image" Target="../media/panel19.svg"/><Relationship Id="rId6" Type="http://schemas.openxmlformats.org/officeDocument/2006/relationships/image" Target="../media/image20.png"/><Relationship Id="rId7" Type="http://schemas.openxmlformats.org/officeDocument/2006/relationships/image" Target="../media/panel20.svg"/><Relationship Id="rId8" Type="http://schemas.openxmlformats.org/officeDocument/2006/relationships/image" Target="../media/image21.png"/><Relationship Id="rId9" Type="http://schemas.openxmlformats.org/officeDocument/2006/relationships/image" Target="../media/panel21.svg"/><Relationship Id="rId10" Type="http://schemas.openxmlformats.org/officeDocument/2006/relationships/image" Target="../media/image22.png"/><Relationship Id="rId11" Type="http://schemas.openxmlformats.org/officeDocument/2006/relationships/image" Target="../media/panel22.svg"/><Relationship Id="rId12" Type="http://schemas.openxmlformats.org/officeDocument/2006/relationships/image" Target="../media/image23.png"/><Relationship Id="rId13" Type="http://schemas.openxmlformats.org/officeDocument/2006/relationships/image" Target="../media/panel23.svg"/><Relationship Id="rId14" Type="http://schemas.openxmlformats.org/officeDocument/2006/relationships/image" Target="../media/image24.png"/><Relationship Id="rId15" Type="http://schemas.openxmlformats.org/officeDocument/2006/relationships/image" Target="../media/panel24.svg"/><Relationship Id="rId16" Type="http://schemas.openxmlformats.org/officeDocument/2006/relationships/image" Target="../media/image25.png"/><Relationship Id="rId17" Type="http://schemas.openxmlformats.org/officeDocument/2006/relationships/image" Target="../media/panel25.svg"/><Relationship Id="rId18" Type="http://schemas.openxmlformats.org/officeDocument/2006/relationships/image" Target="../media/image26.png"/><Relationship Id="rId19" Type="http://schemas.openxmlformats.org/officeDocument/2006/relationships/image" Target="../media/panel26.svg"/><Relationship Id="rId20" Type="http://schemas.openxmlformats.org/officeDocument/2006/relationships/image" Target="../media/image27.png"/><Relationship Id="rId21" Type="http://schemas.openxmlformats.org/officeDocument/2006/relationships/image" Target="../media/panel27.svg"/><Relationship Id="rId22" Type="http://schemas.openxmlformats.org/officeDocument/2006/relationships/image" Target="../media/image28.png"/><Relationship Id="rId23" Type="http://schemas.openxmlformats.org/officeDocument/2006/relationships/image" Target="../media/panel28.svg"/><Relationship Id="rId24" Type="http://schemas.openxmlformats.org/officeDocument/2006/relationships/image" Target="../media/image29.png"/><Relationship Id="rId25" Type="http://schemas.openxmlformats.org/officeDocument/2006/relationships/image" Target="../media/panel29.svg"/><Relationship Id="rId26" Type="http://schemas.openxmlformats.org/officeDocument/2006/relationships/image" Target="../media/image30.png"/><Relationship Id="rId27" Type="http://schemas.openxmlformats.org/officeDocument/2006/relationships/image" Target="../media/panel30.svg"/><Relationship Id="rId28" Type="http://schemas.openxmlformats.org/officeDocument/2006/relationships/image" Target="../media/image31.png"/><Relationship Id="rId29" Type="http://schemas.openxmlformats.org/officeDocument/2006/relationships/image" Target="../media/panel31.svg"/><Relationship Id="rId30" Type="http://schemas.openxmlformats.org/officeDocument/2006/relationships/image" Target="../media/image32.png"/><Relationship Id="rId31" Type="http://schemas.openxmlformats.org/officeDocument/2006/relationships/image" Target="../media/panel32.svg"/><Relationship Id="rId3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panel33.svg"/><Relationship Id="rId4" Type="http://schemas.openxmlformats.org/officeDocument/2006/relationships/image" Target="../media/image34.png"/><Relationship Id="rId5" Type="http://schemas.openxmlformats.org/officeDocument/2006/relationships/image" Target="../media/panel34.svg"/><Relationship Id="rId6" Type="http://schemas.openxmlformats.org/officeDocument/2006/relationships/image" Target="../media/image35.png"/><Relationship Id="rId7" Type="http://schemas.openxmlformats.org/officeDocument/2006/relationships/image" Target="../media/panel35.svg"/><Relationship Id="rId8" Type="http://schemas.openxmlformats.org/officeDocument/2006/relationships/image" Target="../media/image36.png"/><Relationship Id="rId9" Type="http://schemas.openxmlformats.org/officeDocument/2006/relationships/image" Target="../media/panel36.svg"/><Relationship Id="rId10" Type="http://schemas.openxmlformats.org/officeDocument/2006/relationships/image" Target="../media/image37.png"/><Relationship Id="rId11" Type="http://schemas.openxmlformats.org/officeDocument/2006/relationships/image" Target="../media/panel37.svg"/><Relationship Id="rId12" Type="http://schemas.openxmlformats.org/officeDocument/2006/relationships/image" Target="../media/image38.png"/><Relationship Id="rId13" Type="http://schemas.openxmlformats.org/officeDocument/2006/relationships/image" Target="../media/panel38.svg"/><Relationship Id="rId14" Type="http://schemas.openxmlformats.org/officeDocument/2006/relationships/image" Target="../media/image39.png"/><Relationship Id="rId15" Type="http://schemas.openxmlformats.org/officeDocument/2006/relationships/image" Target="../media/panel39.svg"/><Relationship Id="rId16" Type="http://schemas.openxmlformats.org/officeDocument/2006/relationships/image" Target="../media/image29.png"/><Relationship Id="rId17" Type="http://schemas.openxmlformats.org/officeDocument/2006/relationships/image" Target="../media/panel40.svg"/><Relationship Id="rId18" Type="http://schemas.openxmlformats.org/officeDocument/2006/relationships/image" Target="../media/image30.png"/><Relationship Id="rId19" Type="http://schemas.openxmlformats.org/officeDocument/2006/relationships/image" Target="../media/panel41.svg"/><Relationship Id="rId20" Type="http://schemas.openxmlformats.org/officeDocument/2006/relationships/image" Target="../media/image40.png"/><Relationship Id="rId21" Type="http://schemas.openxmlformats.org/officeDocument/2006/relationships/image" Target="../media/panel42.svg"/><Relationship Id="rId22" Type="http://schemas.openxmlformats.org/officeDocument/2006/relationships/image" Target="../media/image41.png"/><Relationship Id="rId23" Type="http://schemas.openxmlformats.org/officeDocument/2006/relationships/image" Target="../media/panel43.svg"/><Relationship Id="rId2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panel44.svg"/><Relationship Id="rId4" Type="http://schemas.openxmlformats.org/officeDocument/2006/relationships/image" Target="../media/image43.png"/><Relationship Id="rId5" Type="http://schemas.openxmlformats.org/officeDocument/2006/relationships/image" Target="../media/panel45.sv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panel46.svg"/><Relationship Id="rId4" Type="http://schemas.openxmlformats.org/officeDocument/2006/relationships/image" Target="../media/image45.png"/><Relationship Id="rId5" Type="http://schemas.openxmlformats.org/officeDocument/2006/relationships/image" Target="../media/panel47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panel48.svg"/><Relationship Id="rId4" Type="http://schemas.openxmlformats.org/officeDocument/2006/relationships/image" Target="../media/image47.png"/><Relationship Id="rId5" Type="http://schemas.openxmlformats.org/officeDocument/2006/relationships/image" Target="../media/panel49.sv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panel50.svg"/><Relationship Id="rId4" Type="http://schemas.openxmlformats.org/officeDocument/2006/relationships/image" Target="../media/image49.png"/><Relationship Id="rId5" Type="http://schemas.openxmlformats.org/officeDocument/2006/relationships/image" Target="../media/panel51.svg"/><Relationship Id="rId6" Type="http://schemas.openxmlformats.org/officeDocument/2006/relationships/image" Target="../media/image50.png"/><Relationship Id="rId7" Type="http://schemas.openxmlformats.org/officeDocument/2006/relationships/image" Target="../media/panel52.svg"/><Relationship Id="rId8" Type="http://schemas.openxmlformats.org/officeDocument/2006/relationships/image" Target="../media/image51.png"/><Relationship Id="rId9" Type="http://schemas.openxmlformats.org/officeDocument/2006/relationships/image" Target="../media/panel53.sv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panel54.svg"/><Relationship Id="rId4" Type="http://schemas.openxmlformats.org/officeDocument/2006/relationships/image" Target="../media/image53.png"/><Relationship Id="rId5" Type="http://schemas.openxmlformats.org/officeDocument/2006/relationships/image" Target="../media/panel55.svg"/><Relationship Id="rId6" Type="http://schemas.openxmlformats.org/officeDocument/2006/relationships/image" Target="../media/image54.png"/><Relationship Id="rId7" Type="http://schemas.openxmlformats.org/officeDocument/2006/relationships/image" Target="../media/panel56.sv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panel57.svg"/><Relationship Id="rId4" Type="http://schemas.openxmlformats.org/officeDocument/2006/relationships/image" Target="../media/image56.png"/><Relationship Id="rId5" Type="http://schemas.openxmlformats.org/officeDocument/2006/relationships/image" Target="../media/panel58.svg"/><Relationship Id="rId6" Type="http://schemas.openxmlformats.org/officeDocument/2006/relationships/image" Target="../media/image57.png"/><Relationship Id="rId7" Type="http://schemas.openxmlformats.org/officeDocument/2006/relationships/image" Target="../media/panel59.svg"/><Relationship Id="rId8" Type="http://schemas.openxmlformats.org/officeDocument/2006/relationships/image" Target="../media/image58.png"/><Relationship Id="rId9" Type="http://schemas.openxmlformats.org/officeDocument/2006/relationships/image" Target="../media/panel60.svg"/><Relationship Id="rId10" Type="http://schemas.openxmlformats.org/officeDocument/2006/relationships/image" Target="../media/image59.png"/><Relationship Id="rId11" Type="http://schemas.openxmlformats.org/officeDocument/2006/relationships/image" Target="../media/panel61.svg"/><Relationship Id="rId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panel62.svg"/><Relationship Id="rId4" Type="http://schemas.openxmlformats.org/officeDocument/2006/relationships/image" Target="../media/image56.png"/><Relationship Id="rId5" Type="http://schemas.openxmlformats.org/officeDocument/2006/relationships/image" Target="../media/panel63.svg"/><Relationship Id="rId6" Type="http://schemas.openxmlformats.org/officeDocument/2006/relationships/image" Target="../media/image61.png"/><Relationship Id="rId7" Type="http://schemas.openxmlformats.org/officeDocument/2006/relationships/image" Target="../media/panel64.svg"/><Relationship Id="rId8" Type="http://schemas.openxmlformats.org/officeDocument/2006/relationships/image" Target="../media/image62.png"/><Relationship Id="rId9" Type="http://schemas.openxmlformats.org/officeDocument/2006/relationships/image" Target="../media/panel65.svg"/><Relationship Id="rId10" Type="http://schemas.openxmlformats.org/officeDocument/2006/relationships/image" Target="../media/image63.png"/><Relationship Id="rId11" Type="http://schemas.openxmlformats.org/officeDocument/2006/relationships/image" Target="../media/panel66.svg"/><Relationship Id="rId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panel67.svg"/><Relationship Id="rId4" Type="http://schemas.openxmlformats.org/officeDocument/2006/relationships/image" Target="../media/image56.png"/><Relationship Id="rId5" Type="http://schemas.openxmlformats.org/officeDocument/2006/relationships/image" Target="../media/panel68.svg"/><Relationship Id="rId6" Type="http://schemas.openxmlformats.org/officeDocument/2006/relationships/image" Target="../media/image65.png"/><Relationship Id="rId7" Type="http://schemas.openxmlformats.org/officeDocument/2006/relationships/image" Target="../media/panel69.svg"/><Relationship Id="rId8" Type="http://schemas.openxmlformats.org/officeDocument/2006/relationships/image" Target="../media/image66.png"/><Relationship Id="rId9" Type="http://schemas.openxmlformats.org/officeDocument/2006/relationships/image" Target="../media/panel70.svg"/><Relationship Id="rId10" Type="http://schemas.openxmlformats.org/officeDocument/2006/relationships/image" Target="../media/image67.png"/><Relationship Id="rId11" Type="http://schemas.openxmlformats.org/officeDocument/2006/relationships/image" Target="../media/panel71.svg"/><Relationship Id="rId1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panel72.svg"/><Relationship Id="rId4" Type="http://schemas.openxmlformats.org/officeDocument/2006/relationships/image" Target="../media/image69.png"/><Relationship Id="rId5" Type="http://schemas.openxmlformats.org/officeDocument/2006/relationships/image" Target="../media/panel73.sv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panel74.svg"/><Relationship Id="rId4" Type="http://schemas.openxmlformats.org/officeDocument/2006/relationships/image" Target="../media/image69.png"/><Relationship Id="rId5" Type="http://schemas.openxmlformats.org/officeDocument/2006/relationships/image" Target="../media/panel75.sv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panel76.svg"/><Relationship Id="rId4" Type="http://schemas.openxmlformats.org/officeDocument/2006/relationships/image" Target="../media/image69.png"/><Relationship Id="rId5" Type="http://schemas.openxmlformats.org/officeDocument/2006/relationships/image" Target="../media/panel77.sv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panel78.svg"/><Relationship Id="rId4" Type="http://schemas.openxmlformats.org/officeDocument/2006/relationships/image" Target="../media/image69.png"/><Relationship Id="rId5" Type="http://schemas.openxmlformats.org/officeDocument/2006/relationships/image" Target="../media/panel79.sv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panel80.svg"/><Relationship Id="rId4" Type="http://schemas.openxmlformats.org/officeDocument/2006/relationships/image" Target="../media/image69.png"/><Relationship Id="rId5" Type="http://schemas.openxmlformats.org/officeDocument/2006/relationships/image" Target="../media/panel81.sv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panel82.svg"/><Relationship Id="rId4" Type="http://schemas.openxmlformats.org/officeDocument/2006/relationships/image" Target="../media/image69.png"/><Relationship Id="rId5" Type="http://schemas.openxmlformats.org/officeDocument/2006/relationships/image" Target="../media/panel83.sv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panel84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panel85.svg"/><Relationship Id="rId4" Type="http://schemas.openxmlformats.org/officeDocument/2006/relationships/image" Target="../media/image77.png"/><Relationship Id="rId5" Type="http://schemas.openxmlformats.org/officeDocument/2006/relationships/image" Target="../media/panel86.svg"/><Relationship Id="rId6" Type="http://schemas.openxmlformats.org/officeDocument/2006/relationships/image" Target="../media/image78.png"/><Relationship Id="rId7" Type="http://schemas.openxmlformats.org/officeDocument/2006/relationships/image" Target="../media/panel87.sv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panel88.svg"/><Relationship Id="rId4" Type="http://schemas.openxmlformats.org/officeDocument/2006/relationships/image" Target="../media/image77.png"/><Relationship Id="rId5" Type="http://schemas.openxmlformats.org/officeDocument/2006/relationships/image" Target="../media/panel89.svg"/><Relationship Id="rId6" Type="http://schemas.openxmlformats.org/officeDocument/2006/relationships/image" Target="../media/image80.png"/><Relationship Id="rId7" Type="http://schemas.openxmlformats.org/officeDocument/2006/relationships/image" Target="../media/panel90.svg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panel91.svg"/><Relationship Id="rId4" Type="http://schemas.openxmlformats.org/officeDocument/2006/relationships/image" Target="../media/image77.png"/><Relationship Id="rId5" Type="http://schemas.openxmlformats.org/officeDocument/2006/relationships/image" Target="../media/panel92.svg"/><Relationship Id="rId6" Type="http://schemas.openxmlformats.org/officeDocument/2006/relationships/image" Target="../media/image82.png"/><Relationship Id="rId7" Type="http://schemas.openxmlformats.org/officeDocument/2006/relationships/image" Target="../media/panel93.svg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panel94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panel95.svg"/><Relationship Id="rId4" Type="http://schemas.openxmlformats.org/officeDocument/2006/relationships/image" Target="../media/image85.png"/><Relationship Id="rId5" Type="http://schemas.openxmlformats.org/officeDocument/2006/relationships/image" Target="../media/panel96.sv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| iNKT: cell states, cytotoxic programs and functional changes"/>
          <p:cNvSpPr txBox="1"/>
          <p:nvPr/>
        </p:nvSpPr>
        <p:spPr>
          <a:xfrm>
            <a:off x="658368" y="484631"/>
            <a:ext cx="11523794" cy="3963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iNKT: cell states, cytotoxic programs and functional changes</a:t>
            </a:r>
          </a:p>
        </p:txBody>
      </p:sp>
      <p:sp>
        <p:nvSpPr>
          <p:cNvPr id="3" name="figure_text | Integrated editable presentation | main talk + complete source-pa"/>
          <p:cNvSpPr txBox="1"/>
          <p:nvPr/>
        </p:nvSpPr>
        <p:spPr>
          <a:xfrm>
            <a:off x="658368" y="1019556"/>
            <a:ext cx="677010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Integrated editable presentation | main talk + complete source-page appendix</a:t>
            </a:r>
          </a:p>
        </p:txBody>
      </p:sp>
      <p:sp>
        <p:nvSpPr>
          <p:cNvPr id="4" name="figure_text | 20 September 2026 | Existing iNKT analyses; no new statistical an"/>
          <p:cNvSpPr txBox="1"/>
          <p:nvPr/>
        </p:nvSpPr>
        <p:spPr>
          <a:xfrm>
            <a:off x="658368" y="7749540"/>
            <a:ext cx="5957910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20 September 2026 | Existing iNKT analyses; no new statistical analysis in this packaging step.</a:t>
            </a:r>
          </a:p>
        </p:txBody>
      </p:sp>
      <p:sp>
        <p:nvSpPr>
          <p:cNvPr id="5" name="figure_text | Research question"/>
          <p:cNvSpPr txBox="1"/>
          <p:nvPr/>
        </p:nvSpPr>
        <p:spPr>
          <a:xfrm>
            <a:off x="804672" y="1947220"/>
            <a:ext cx="2678826" cy="3144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Research question</a:t>
            </a:r>
          </a:p>
        </p:txBody>
      </p:sp>
      <p:sp>
        <p:nvSpPr>
          <p:cNvPr id="6" name="figure_text | How does the T2-associated response differ across tissues and iNK"/>
          <p:cNvSpPr txBox="1"/>
          <p:nvPr/>
        </p:nvSpPr>
        <p:spPr>
          <a:xfrm>
            <a:off x="804672" y="2542032"/>
            <a:ext cx="8851997" cy="289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How does the T2-associated response differ across tissues and iNKT states?</a:t>
            </a:r>
          </a:p>
        </p:txBody>
      </p:sp>
      <p:sp>
        <p:nvSpPr>
          <p:cNvPr id="7" name="figure_text | Presentation sequence"/>
          <p:cNvSpPr txBox="1"/>
          <p:nvPr/>
        </p:nvSpPr>
        <p:spPr>
          <a:xfrm>
            <a:off x="804672" y="3510844"/>
            <a:ext cx="3306470" cy="314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Presentation sequence</a:t>
            </a:r>
          </a:p>
        </p:txBody>
      </p:sp>
      <p:sp>
        <p:nvSpPr>
          <p:cNvPr id="8" name="figure_text | 1  Cohort, cell-state markers and tissue composition  2  Differen"/>
          <p:cNvSpPr txBox="1"/>
          <p:nvPr/>
        </p:nvSpPr>
        <p:spPr>
          <a:xfrm>
            <a:off x="804672" y="4352544"/>
            <a:ext cx="7301758" cy="1370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1  Cohort, cell-state markers and tissue composition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2  Differential expression, cytotoxic modules and GO functions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3  Local state ordering, robustness and bounded interpretation</a:t>
            </a:r>
          </a:p>
        </p:txBody>
      </p:sp>
      <p:sp>
        <p:nvSpPr>
          <p:cNvPr id="9" name="figure_text | 15,532 cells | 3 tissues | Ctrl / T2 | 9 original refined cluster"/>
          <p:cNvSpPr txBox="1"/>
          <p:nvPr/>
        </p:nvSpPr>
        <p:spPr>
          <a:xfrm>
            <a:off x="804672" y="6311558"/>
            <a:ext cx="7373973" cy="4746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15,532 cells | 3 tissues | Ctrl / T2 | 9 original refined clusters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One sample label per tissue x condition: all biological conclusions remain exploratory.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2_panel_02" descr="old_02_panel_02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723380" y="2112263"/>
            <a:ext cx="2448051" cy="3346704"/>
          </a:xfrm>
          <a:prstGeom prst="rect">
            <a:avLst/>
          </a:prstGeom>
        </p:spPr>
      </p:pic>
      <p:pic>
        <p:nvPicPr>
          <p:cNvPr id="3" name="plot_panel | old_02_panel_03" descr="old_02_panel_03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9055100" y="2109443"/>
            <a:ext cx="2530347" cy="3413012"/>
          </a:xfrm>
          <a:prstGeom prst="rect">
            <a:avLst/>
          </a:prstGeom>
        </p:spPr>
      </p:pic>
      <p:pic>
        <p:nvPicPr>
          <p:cNvPr id="4" name="plot_panel | old_02_panel_04" descr="old_02_panel_04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98300" y="2112263"/>
            <a:ext cx="2201163" cy="3346704"/>
          </a:xfrm>
          <a:prstGeom prst="rect">
            <a:avLst/>
          </a:prstGeom>
        </p:spPr>
      </p:pic>
      <p:graphicFrame>
        <p:nvGraphicFramePr>
          <p:cNvPr id="5" name="Editable numerical / explanatory table"/>
          <p:cNvGraphicFramePr>
            <a:graphicFrameLocks noGrp="1"/>
          </p:cNvGraphicFramePr>
          <p:nvPr/>
        </p:nvGraphicFramePr>
        <p:xfrm>
          <a:off x="585216" y="1645919"/>
          <a:ext cx="5559552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76"/>
                <a:gridCol w="1389888"/>
                <a:gridCol w="1389888"/>
              </a:tblGrid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Input cells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Retained</a:t>
                      </a:r>
                    </a:p>
                  </a:txBody>
                  <a:tcPr marL="54864" marR="36576" marT="22860" marB="22860" anchor="ctr">
                    <a:solidFill>
                      <a:srgbClr val="EDEDED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Ctrl_Thymus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2101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1372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Ctrl_BM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3998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3379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Ctrl_Spleen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3829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3422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T2_Thymus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1639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1257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T2_BM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3131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2731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T2_Spleen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3760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3371</a:t>
                      </a:r>
                    </a:p>
                  </a:txBody>
                  <a:tcPr marL="54864" marR="36576" marT="22860" marB="22860" anchor="ctr">
                    <a:solidFill>
                      <a:srgbClr val="F8F8F8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itle | Material, dataset and QC"/>
          <p:cNvSpPr txBox="1"/>
          <p:nvPr/>
        </p:nvSpPr>
        <p:spPr>
          <a:xfrm>
            <a:off x="512064" y="402335"/>
            <a:ext cx="437156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Material, dataset and QC</a:t>
            </a:r>
          </a:p>
        </p:txBody>
      </p:sp>
      <p:sp>
        <p:nvSpPr>
          <p:cNvPr id="7" name="figure_text | Six samples • 15,532 retained cells • 10,670 measured genes"/>
          <p:cNvSpPr txBox="1"/>
          <p:nvPr/>
        </p:nvSpPr>
        <p:spPr>
          <a:xfrm>
            <a:off x="512064" y="838504"/>
            <a:ext cx="507796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Six samples • 15,532 retained cells • 10,670 measured genes</a:t>
            </a:r>
          </a:p>
        </p:txBody>
      </p:sp>
      <p:sp>
        <p:nvSpPr>
          <p:cNvPr id="8" name="figure_text | QC counts match the legacy deck; downstream UMAP, Leiden and gene"/>
          <p:cNvSpPr txBox="1"/>
          <p:nvPr/>
        </p:nvSpPr>
        <p:spPr>
          <a:xfrm>
            <a:off x="512064" y="7578547"/>
            <a:ext cx="6889866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QC counts match the legacy deck; downstream UMAP, Leiden and gene statistics remain a reanalysis.</a:t>
            </a:r>
          </a:p>
        </p:txBody>
      </p:sp>
      <p:sp>
        <p:nvSpPr>
          <p:cNvPr id="9" name="figure_text | Original iNKT deck, slide 2; current object: 20260905 scored_base"/>
          <p:cNvSpPr txBox="1"/>
          <p:nvPr/>
        </p:nvSpPr>
        <p:spPr>
          <a:xfrm>
            <a:off x="512064" y="7939735"/>
            <a:ext cx="4241695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deck, slide 2; current object: 20260905 scored_base.h5ad.</a:t>
            </a:r>
          </a:p>
        </p:txBody>
      </p:sp>
      <p:sp>
        <p:nvSpPr>
          <p:cNvPr id="10" name="page_number | 2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figure_text | Gene min_cells = 100, then 200 ≤ detected genes &lt; 2,500; mitochon"/>
          <p:cNvSpPr txBox="1"/>
          <p:nvPr/>
        </p:nvSpPr>
        <p:spPr>
          <a:xfrm>
            <a:off x="7168896" y="5900078"/>
            <a:ext cx="5255971" cy="4746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Gene min_cells = 100, then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200 ≤ detected genes &lt; 2,500; mitochondrial fraction &lt; 5%.</a:t>
            </a:r>
          </a:p>
        </p:txBody>
      </p:sp>
      <p:sp>
        <p:nvSpPr>
          <p:cNvPr id="12" name="plot_title | Detected genes"/>
          <p:cNvSpPr txBox="1"/>
          <p:nvPr/>
        </p:nvSpPr>
        <p:spPr>
          <a:xfrm>
            <a:off x="7511796" y="1926336"/>
            <a:ext cx="141402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Detected genes</a:t>
            </a:r>
          </a:p>
        </p:txBody>
      </p:sp>
      <p:sp>
        <p:nvSpPr>
          <p:cNvPr id="13" name="plot_title | UMI counts"/>
          <p:cNvSpPr txBox="1"/>
          <p:nvPr/>
        </p:nvSpPr>
        <p:spPr>
          <a:xfrm>
            <a:off x="10117836" y="1928914"/>
            <a:ext cx="1014618" cy="23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UMI counts</a:t>
            </a:r>
          </a:p>
        </p:txBody>
      </p:sp>
      <p:sp>
        <p:nvSpPr>
          <p:cNvPr id="14" name="plot_title | Mitochondrial %"/>
          <p:cNvSpPr txBox="1"/>
          <p:nvPr/>
        </p:nvSpPr>
        <p:spPr>
          <a:xfrm>
            <a:off x="12326112" y="1926336"/>
            <a:ext cx="144255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Mitochondrial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3_panel_01" descr="old_0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28823" y="1700784"/>
            <a:ext cx="4136805" cy="5255056"/>
          </a:xfrm>
          <a:prstGeom prst="rect">
            <a:avLst/>
          </a:prstGeom>
        </p:spPr>
      </p:pic>
      <p:pic>
        <p:nvPicPr>
          <p:cNvPr id="3" name="plot_panel | old_03_panel_02" descr="old_0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383703" y="1700784"/>
            <a:ext cx="4136805" cy="5406512"/>
          </a:xfrm>
          <a:prstGeom prst="rect">
            <a:avLst/>
          </a:prstGeom>
        </p:spPr>
      </p:pic>
      <p:pic>
        <p:nvPicPr>
          <p:cNvPr id="4" name="plot_panel | old_03_panel_03" descr="old_0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0138583" y="1700784"/>
            <a:ext cx="4136805" cy="5091504"/>
          </a:xfrm>
          <a:prstGeom prst="rect">
            <a:avLst/>
          </a:prstGeom>
        </p:spPr>
      </p:pic>
      <p:sp>
        <p:nvSpPr>
          <p:cNvPr id="5" name="title | Clusters and tissue composition"/>
          <p:cNvSpPr txBox="1"/>
          <p:nvPr/>
        </p:nvSpPr>
        <p:spPr>
          <a:xfrm>
            <a:off x="512064" y="402335"/>
            <a:ext cx="556979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Clusters and tissue composition</a:t>
            </a:r>
          </a:p>
        </p:txBody>
      </p:sp>
      <p:sp>
        <p:nvSpPr>
          <p:cNvPr id="6" name="figure_text | Fixed 50-PC UMAP; C5 refined to C5-1 and C5-2"/>
          <p:cNvSpPr txBox="1"/>
          <p:nvPr/>
        </p:nvSpPr>
        <p:spPr>
          <a:xfrm>
            <a:off x="512064" y="838504"/>
            <a:ext cx="388567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Fixed 50-PC UMAP; C5 refined to C5-1 and C5-2</a:t>
            </a:r>
          </a:p>
        </p:txBody>
      </p:sp>
      <p:sp>
        <p:nvSpPr>
          <p:cNvPr id="7" name="figure_text | Original sample hues retained on the left; Blood-style blue/red e"/>
          <p:cNvSpPr txBox="1"/>
          <p:nvPr/>
        </p:nvSpPr>
        <p:spPr>
          <a:xfrm>
            <a:off x="512064" y="7578547"/>
            <a:ext cx="8351992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Original sample hues retained on the left; Blood-style blue/red encodes condition on the right. Coordinates are unchanged.</a:t>
            </a:r>
          </a:p>
        </p:txBody>
      </p:sp>
      <p:sp>
        <p:nvSpPr>
          <p:cNvPr id="8" name="figure_text | Original iNKT slides 4–5/12; Blood Fig. 3B is t-SNE/K-means, so a"/>
          <p:cNvSpPr txBox="1"/>
          <p:nvPr/>
        </p:nvSpPr>
        <p:spPr>
          <a:xfrm>
            <a:off x="512064" y="7939735"/>
            <a:ext cx="5421054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4–5/12; Blood Fig. 3B is t-SNE/K-means, so axes and labels are not copied.</a:t>
            </a:r>
          </a:p>
        </p:txBody>
      </p:sp>
      <p:sp>
        <p:nvSpPr>
          <p:cNvPr id="9" name="page_number | 3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plot_title | Sample"/>
          <p:cNvSpPr txBox="1"/>
          <p:nvPr/>
        </p:nvSpPr>
        <p:spPr>
          <a:xfrm>
            <a:off x="2423160" y="1496567"/>
            <a:ext cx="814913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Sample</a:t>
            </a:r>
          </a:p>
        </p:txBody>
      </p:sp>
      <p:sp>
        <p:nvSpPr>
          <p:cNvPr id="11" name="plot_title | Current clusters"/>
          <p:cNvSpPr txBox="1"/>
          <p:nvPr/>
        </p:nvSpPr>
        <p:spPr>
          <a:xfrm>
            <a:off x="6761130" y="1496567"/>
            <a:ext cx="1682084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Current clusters</a:t>
            </a:r>
          </a:p>
        </p:txBody>
      </p:sp>
      <p:sp>
        <p:nvSpPr>
          <p:cNvPr id="12" name="plot_title | Condition"/>
          <p:cNvSpPr txBox="1"/>
          <p:nvPr/>
        </p:nvSpPr>
        <p:spPr>
          <a:xfrm>
            <a:off x="11832336" y="1496567"/>
            <a:ext cx="1024128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5_panel_01" descr="old_0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5_panel_02" descr="old_05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86333" cy="2688336"/>
          </a:xfrm>
          <a:prstGeom prst="rect">
            <a:avLst/>
          </a:prstGeom>
        </p:spPr>
      </p:pic>
      <p:pic>
        <p:nvPicPr>
          <p:cNvPr id="4" name="plot_panel | old_05_panel_03" descr="old_0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68118" y="4910328"/>
            <a:ext cx="3882673" cy="1945116"/>
          </a:xfrm>
          <a:prstGeom prst="rect">
            <a:avLst/>
          </a:prstGeom>
        </p:spPr>
      </p:pic>
      <p:pic>
        <p:nvPicPr>
          <p:cNvPr id="5" name="plot_panel | old_05_panel_04" descr="old_05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5_panel_05" descr="old_05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27874"/>
            <a:ext cx="282752" cy="1811702"/>
          </a:xfrm>
          <a:prstGeom prst="rect">
            <a:avLst/>
          </a:prstGeom>
        </p:spPr>
      </p:pic>
      <p:pic>
        <p:nvPicPr>
          <p:cNvPr id="7" name="plot_panel | old_05_panel_06" descr="old_05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5_panel_07" descr="old_05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47087"/>
            <a:ext cx="365048" cy="1792488"/>
          </a:xfrm>
          <a:prstGeom prst="rect">
            <a:avLst/>
          </a:prstGeom>
        </p:spPr>
      </p:pic>
      <p:pic>
        <p:nvPicPr>
          <p:cNvPr id="9" name="plot_panel | old_05_panel_08" descr="old_05_panel_08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5_panel_09" descr="old_05_panel_09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5_panel_10" descr="old_05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10600436" y="2194560"/>
            <a:ext cx="3545331" cy="4795782"/>
          </a:xfrm>
          <a:prstGeom prst="rect">
            <a:avLst/>
          </a:prstGeom>
        </p:spPr>
      </p:pic>
      <p:pic>
        <p:nvPicPr>
          <p:cNvPr id="12" name="plot_panel | old_05_panel_11" descr="old_05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3" name="title | iNKT1 marker program"/>
          <p:cNvSpPr txBox="1"/>
          <p:nvPr/>
        </p:nvSpPr>
        <p:spPr>
          <a:xfrm>
            <a:off x="512064" y="402335"/>
            <a:ext cx="400202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iNKT1 marker program</a:t>
            </a:r>
          </a:p>
        </p:txBody>
      </p:sp>
      <p:sp>
        <p:nvSpPr>
          <p:cNvPr id="14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5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16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17" name="page_number | 4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8" name="plot_title | iNKT1 score"/>
          <p:cNvSpPr txBox="1"/>
          <p:nvPr/>
        </p:nvSpPr>
        <p:spPr>
          <a:xfrm>
            <a:off x="1968110" y="1343193"/>
            <a:ext cx="1129329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iNKT1 score</a:t>
            </a:r>
          </a:p>
        </p:txBody>
      </p:sp>
      <p:sp>
        <p:nvSpPr>
          <p:cNvPr id="19" name="plot_title | Ifng"/>
          <p:cNvSpPr txBox="1"/>
          <p:nvPr/>
        </p:nvSpPr>
        <p:spPr>
          <a:xfrm>
            <a:off x="5166908" y="1640336"/>
            <a:ext cx="38697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Ifng</a:t>
            </a:r>
          </a:p>
        </p:txBody>
      </p:sp>
      <p:sp>
        <p:nvSpPr>
          <p:cNvPr id="20" name="plot_title | Il2rb"/>
          <p:cNvSpPr txBox="1"/>
          <p:nvPr/>
        </p:nvSpPr>
        <p:spPr>
          <a:xfrm>
            <a:off x="6968276" y="1640336"/>
            <a:ext cx="44403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Il2rb</a:t>
            </a:r>
          </a:p>
        </p:txBody>
      </p:sp>
      <p:sp>
        <p:nvSpPr>
          <p:cNvPr id="21" name="plot_title | Tbx21"/>
          <p:cNvSpPr txBox="1"/>
          <p:nvPr/>
        </p:nvSpPr>
        <p:spPr>
          <a:xfrm>
            <a:off x="8733068" y="1640336"/>
            <a:ext cx="577169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Tbx21</a:t>
            </a:r>
          </a:p>
        </p:txBody>
      </p:sp>
      <p:sp>
        <p:nvSpPr>
          <p:cNvPr id="22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6_panel_01" descr="old_0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6_panel_02" descr="old_06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86333" cy="2747184"/>
          </a:xfrm>
          <a:prstGeom prst="rect">
            <a:avLst/>
          </a:prstGeom>
        </p:spPr>
      </p:pic>
      <p:pic>
        <p:nvPicPr>
          <p:cNvPr id="4" name="plot_panel | old_06_panel_03" descr="old_06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58974" y="4910328"/>
            <a:ext cx="3891817" cy="1945116"/>
          </a:xfrm>
          <a:prstGeom prst="rect">
            <a:avLst/>
          </a:prstGeom>
        </p:spPr>
      </p:pic>
      <p:pic>
        <p:nvPicPr>
          <p:cNvPr id="5" name="plot_panel | old_06_panel_04" descr="old_06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6_panel_05" descr="old_06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47088"/>
            <a:ext cx="365048" cy="1792488"/>
          </a:xfrm>
          <a:prstGeom prst="rect">
            <a:avLst/>
          </a:prstGeom>
        </p:spPr>
      </p:pic>
      <p:pic>
        <p:nvPicPr>
          <p:cNvPr id="7" name="plot_panel | old_06_panel_06" descr="old_06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6_panel_07" descr="old_06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26563"/>
            <a:ext cx="365048" cy="1813012"/>
          </a:xfrm>
          <a:prstGeom prst="rect">
            <a:avLst/>
          </a:prstGeom>
        </p:spPr>
      </p:pic>
      <p:pic>
        <p:nvPicPr>
          <p:cNvPr id="9" name="plot_panel | old_06_panel_08" descr="old_06_panel_08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6_panel_09" descr="old_06_panel_09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6_panel_10" descr="old_06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4507992" y="4203704"/>
            <a:ext cx="1619585" cy="1797294"/>
          </a:xfrm>
          <a:prstGeom prst="rect">
            <a:avLst/>
          </a:prstGeom>
        </p:spPr>
      </p:pic>
      <p:pic>
        <p:nvPicPr>
          <p:cNvPr id="12" name="plot_panel | old_06_panel_11" descr="old_06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6106363" y="4233672"/>
            <a:ext cx="365048" cy="1792488"/>
          </a:xfrm>
          <a:prstGeom prst="rect">
            <a:avLst/>
          </a:prstGeom>
        </p:spPr>
      </p:pic>
      <p:pic>
        <p:nvPicPr>
          <p:cNvPr id="13" name="plot_panel | old_06_panel_12" descr="old_06_panel_12.png"/>
          <p:cNvPicPr>
            <a:picLocks noChangeAspect="1"/>
          </p:cNvPicPr>
          <p:nvPr/>
        </p:nvPicPr>
        <p:blipFill>
          <a:blip r:embed="rId24">
            <a:extLst xmlns:asvg="http://schemas.microsoft.com/office/drawing/2016/SVG/main">
              <a:ext uri="{96DAC541-7B7A-43D3-8B79-37D633B846F1}">
                <asvg:svgBlip r:embed="rId25"/>
              </a:ext>
            </a:extLst>
          </a:blip>
          <a:stretch>
            <a:fillRect/>
          </a:stretch>
        </p:blipFill>
        <p:spPr>
          <a:xfrm>
            <a:off x="6336792" y="4203704"/>
            <a:ext cx="1619585" cy="1797294"/>
          </a:xfrm>
          <a:prstGeom prst="rect">
            <a:avLst/>
          </a:prstGeom>
        </p:spPr>
      </p:pic>
      <p:pic>
        <p:nvPicPr>
          <p:cNvPr id="14" name="plot_panel | old_06_panel_13" descr="old_06_panel_13.png"/>
          <p:cNvPicPr>
            <a:picLocks noChangeAspect="1"/>
          </p:cNvPicPr>
          <p:nvPr/>
        </p:nvPicPr>
        <p:blipFill>
          <a:blip r:embed="rId26">
            <a:extLst xmlns:asvg="http://schemas.microsoft.com/office/drawing/2016/SVG/main">
              <a:ext uri="{96DAC541-7B7A-43D3-8B79-37D633B846F1}">
                <asvg:svgBlip r:embed="rId27"/>
              </a:ext>
            </a:extLst>
          </a:blip>
          <a:stretch>
            <a:fillRect/>
          </a:stretch>
        </p:blipFill>
        <p:spPr>
          <a:xfrm>
            <a:off x="7935163" y="4233671"/>
            <a:ext cx="365048" cy="1792488"/>
          </a:xfrm>
          <a:prstGeom prst="rect">
            <a:avLst/>
          </a:prstGeom>
        </p:spPr>
      </p:pic>
      <p:pic>
        <p:nvPicPr>
          <p:cNvPr id="15" name="plot_panel | old_06_panel_14" descr="old_06_panel_14.png"/>
          <p:cNvPicPr>
            <a:picLocks noChangeAspect="1"/>
          </p:cNvPicPr>
          <p:nvPr/>
        </p:nvPicPr>
        <p:blipFill>
          <a:blip r:embed="rId28">
            <a:extLst xmlns:asvg="http://schemas.microsoft.com/office/drawing/2016/SVG/main">
              <a:ext uri="{96DAC541-7B7A-43D3-8B79-37D633B846F1}">
                <asvg:svgBlip r:embed="rId29"/>
              </a:ext>
            </a:extLst>
          </a:blip>
          <a:stretch>
            <a:fillRect/>
          </a:stretch>
        </p:blipFill>
        <p:spPr>
          <a:xfrm>
            <a:off x="10536428" y="2194560"/>
            <a:ext cx="3609339" cy="4795782"/>
          </a:xfrm>
          <a:prstGeom prst="rect">
            <a:avLst/>
          </a:prstGeom>
        </p:spPr>
      </p:pic>
      <p:pic>
        <p:nvPicPr>
          <p:cNvPr id="16" name="plot_panel | old_06_panel_15" descr="old_06_panel_15.png"/>
          <p:cNvPicPr>
            <a:picLocks noChangeAspect="1"/>
          </p:cNvPicPr>
          <p:nvPr/>
        </p:nvPicPr>
        <p:blipFill>
          <a:blip r:embed="rId30">
            <a:extLst xmlns:asvg="http://schemas.microsoft.com/office/drawing/2016/SVG/main">
              <a:ext uri="{96DAC541-7B7A-43D3-8B79-37D633B846F1}">
                <asvg:svgBlip r:embed="rId31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7" name="title | iNKT2 marker program"/>
          <p:cNvSpPr txBox="1"/>
          <p:nvPr/>
        </p:nvSpPr>
        <p:spPr>
          <a:xfrm>
            <a:off x="512064" y="402335"/>
            <a:ext cx="400202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iNKT2 marker program</a:t>
            </a:r>
          </a:p>
        </p:txBody>
      </p:sp>
      <p:sp>
        <p:nvSpPr>
          <p:cNvPr id="18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9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20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21" name="page_number | 5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2" name="plot_title | iNKT2 score"/>
          <p:cNvSpPr txBox="1"/>
          <p:nvPr/>
        </p:nvSpPr>
        <p:spPr>
          <a:xfrm>
            <a:off x="1968110" y="1343193"/>
            <a:ext cx="1129329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iNKT2 score</a:t>
            </a:r>
          </a:p>
        </p:txBody>
      </p:sp>
      <p:sp>
        <p:nvSpPr>
          <p:cNvPr id="23" name="plot_title | Cd4"/>
          <p:cNvSpPr txBox="1"/>
          <p:nvPr/>
        </p:nvSpPr>
        <p:spPr>
          <a:xfrm>
            <a:off x="5162336" y="1640336"/>
            <a:ext cx="39648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Cd4</a:t>
            </a:r>
          </a:p>
        </p:txBody>
      </p:sp>
      <p:sp>
        <p:nvSpPr>
          <p:cNvPr id="24" name="plot_title | Gata3"/>
          <p:cNvSpPr txBox="1"/>
          <p:nvPr/>
        </p:nvSpPr>
        <p:spPr>
          <a:xfrm>
            <a:off x="6913412" y="1643420"/>
            <a:ext cx="558149" cy="225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Gata3</a:t>
            </a:r>
          </a:p>
        </p:txBody>
      </p:sp>
      <p:sp>
        <p:nvSpPr>
          <p:cNvPr id="25" name="plot_title | Il17rb"/>
          <p:cNvSpPr txBox="1"/>
          <p:nvPr/>
        </p:nvSpPr>
        <p:spPr>
          <a:xfrm>
            <a:off x="8746784" y="1640336"/>
            <a:ext cx="54864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Il17rb</a:t>
            </a:r>
          </a:p>
        </p:txBody>
      </p:sp>
      <p:sp>
        <p:nvSpPr>
          <p:cNvPr id="26" name="plot_title | Il4"/>
          <p:cNvSpPr txBox="1"/>
          <p:nvPr/>
        </p:nvSpPr>
        <p:spPr>
          <a:xfrm>
            <a:off x="5221772" y="4026920"/>
            <a:ext cx="27285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Il4</a:t>
            </a:r>
          </a:p>
        </p:txBody>
      </p:sp>
      <p:sp>
        <p:nvSpPr>
          <p:cNvPr id="27" name="plot_title | Zbtb16"/>
          <p:cNvSpPr txBox="1"/>
          <p:nvPr/>
        </p:nvSpPr>
        <p:spPr>
          <a:xfrm>
            <a:off x="6858548" y="4026920"/>
            <a:ext cx="67226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Zbtb16</a:t>
            </a:r>
          </a:p>
        </p:txBody>
      </p:sp>
      <p:sp>
        <p:nvSpPr>
          <p:cNvPr id="28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7_panel_01" descr="old_0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1100913" y="1536191"/>
            <a:ext cx="2584849" cy="2853436"/>
          </a:xfrm>
          <a:prstGeom prst="rect">
            <a:avLst/>
          </a:prstGeom>
        </p:spPr>
      </p:pic>
      <p:pic>
        <p:nvPicPr>
          <p:cNvPr id="3" name="plot_panel | old_07_panel_02" descr="old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715024" y="1536191"/>
            <a:ext cx="558901" cy="2688336"/>
          </a:xfrm>
          <a:prstGeom prst="rect">
            <a:avLst/>
          </a:prstGeom>
        </p:spPr>
      </p:pic>
      <p:pic>
        <p:nvPicPr>
          <p:cNvPr id="4" name="plot_panel | old_07_panel_03" descr="old_07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58974" y="4865016"/>
            <a:ext cx="3891817" cy="1990428"/>
          </a:xfrm>
          <a:prstGeom prst="rect">
            <a:avLst/>
          </a:prstGeom>
        </p:spPr>
      </p:pic>
      <p:pic>
        <p:nvPicPr>
          <p:cNvPr id="5" name="plot_panel | old_07_panel_04" descr="old_07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4507992" y="1817120"/>
            <a:ext cx="1619585" cy="1797294"/>
          </a:xfrm>
          <a:prstGeom prst="rect">
            <a:avLst/>
          </a:prstGeom>
        </p:spPr>
      </p:pic>
      <p:pic>
        <p:nvPicPr>
          <p:cNvPr id="6" name="plot_panel | old_07_panel_05" descr="old_07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106363" y="1847088"/>
            <a:ext cx="365048" cy="1792488"/>
          </a:xfrm>
          <a:prstGeom prst="rect">
            <a:avLst/>
          </a:prstGeom>
        </p:spPr>
      </p:pic>
      <p:pic>
        <p:nvPicPr>
          <p:cNvPr id="7" name="plot_panel | old_07_panel_06" descr="old_07_panel_06.png"/>
          <p:cNvPicPr>
            <a:picLocks noChangeAspect="1"/>
          </p:cNvPicPr>
          <p:nvPr/>
        </p:nvPicPr>
        <p:blipFill>
          <a:blip r:embed="rId12">
            <a:extLst xmlns:asvg="http://schemas.microsoft.com/office/drawing/2016/SVG/main"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336792" y="1817120"/>
            <a:ext cx="1619585" cy="1797294"/>
          </a:xfrm>
          <a:prstGeom prst="rect">
            <a:avLst/>
          </a:prstGeom>
        </p:spPr>
      </p:pic>
      <p:pic>
        <p:nvPicPr>
          <p:cNvPr id="8" name="plot_panel | old_07_panel_07" descr="old_07_panel_07.png"/>
          <p:cNvPicPr>
            <a:picLocks noChangeAspect="1"/>
          </p:cNvPicPr>
          <p:nvPr/>
        </p:nvPicPr>
        <p:blipFill>
          <a:blip r:embed="rId14">
            <a:extLst xmlns:asvg="http://schemas.microsoft.com/office/drawing/2016/SVG/main"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7935163" y="1833643"/>
            <a:ext cx="365048" cy="1805933"/>
          </a:xfrm>
          <a:prstGeom prst="rect">
            <a:avLst/>
          </a:prstGeom>
        </p:spPr>
      </p:pic>
      <p:pic>
        <p:nvPicPr>
          <p:cNvPr id="9" name="plot_panel | old_07_panel_08" descr="old_06_panel_12.png"/>
          <p:cNvPicPr>
            <a:picLocks noChangeAspect="1"/>
          </p:cNvPicPr>
          <p:nvPr/>
        </p:nvPicPr>
        <p:blipFill>
          <a:blip r:embed="rId16">
            <a:extLst xmlns:asvg="http://schemas.microsoft.com/office/drawing/2016/SVG/main">
              <a:ext uri="{96DAC541-7B7A-43D3-8B79-37D633B846F1}">
                <asvg:svgBlip r:embed="rId17"/>
              </a:ext>
            </a:extLst>
          </a:blip>
          <a:stretch>
            <a:fillRect/>
          </a:stretch>
        </p:blipFill>
        <p:spPr>
          <a:xfrm>
            <a:off x="8165592" y="1817120"/>
            <a:ext cx="1619585" cy="1797294"/>
          </a:xfrm>
          <a:prstGeom prst="rect">
            <a:avLst/>
          </a:prstGeom>
        </p:spPr>
      </p:pic>
      <p:pic>
        <p:nvPicPr>
          <p:cNvPr id="10" name="plot_panel | old_07_panel_09" descr="old_06_panel_13.png"/>
          <p:cNvPicPr>
            <a:picLocks noChangeAspect="1"/>
          </p:cNvPicPr>
          <p:nvPr/>
        </p:nvPicPr>
        <p:blipFill>
          <a:blip r:embed="rId18">
            <a:extLst xmlns:asvg="http://schemas.microsoft.com/office/drawing/2016/SVG/main">
              <a:ext uri="{96DAC541-7B7A-43D3-8B79-37D633B846F1}">
                <asvg:svgBlip r:embed="rId19"/>
              </a:ext>
            </a:extLst>
          </a:blip>
          <a:stretch>
            <a:fillRect/>
          </a:stretch>
        </p:blipFill>
        <p:spPr>
          <a:xfrm>
            <a:off x="9763963" y="1847087"/>
            <a:ext cx="365048" cy="1792488"/>
          </a:xfrm>
          <a:prstGeom prst="rect">
            <a:avLst/>
          </a:prstGeom>
        </p:spPr>
      </p:pic>
      <p:pic>
        <p:nvPicPr>
          <p:cNvPr id="11" name="plot_panel | old_07_panel_10" descr="old_07_panel_10.png"/>
          <p:cNvPicPr>
            <a:picLocks noChangeAspect="1"/>
          </p:cNvPicPr>
          <p:nvPr/>
        </p:nvPicPr>
        <p:blipFill>
          <a:blip r:embed="rId20">
            <a:extLst xmlns:asvg="http://schemas.microsoft.com/office/drawing/2016/SVG/main">
              <a:ext uri="{96DAC541-7B7A-43D3-8B79-37D633B846F1}">
                <asvg:svgBlip r:embed="rId21"/>
              </a:ext>
            </a:extLst>
          </a:blip>
          <a:stretch>
            <a:fillRect/>
          </a:stretch>
        </p:blipFill>
        <p:spPr>
          <a:xfrm>
            <a:off x="10536428" y="2194560"/>
            <a:ext cx="3609339" cy="4795782"/>
          </a:xfrm>
          <a:prstGeom prst="rect">
            <a:avLst/>
          </a:prstGeom>
        </p:spPr>
      </p:pic>
      <p:pic>
        <p:nvPicPr>
          <p:cNvPr id="12" name="plot_panel | old_07_panel_11" descr="old_07_panel_11.png"/>
          <p:cNvPicPr>
            <a:picLocks noChangeAspect="1"/>
          </p:cNvPicPr>
          <p:nvPr/>
        </p:nvPicPr>
        <p:blipFill>
          <a:blip r:embed="rId22">
            <a:extLst xmlns:asvg="http://schemas.microsoft.com/office/drawing/2016/SVG/main">
              <a:ext uri="{96DAC541-7B7A-43D3-8B79-37D633B846F1}">
                <asvg:svgBlip r:embed="rId23"/>
              </a:ext>
            </a:extLst>
          </a:blip>
          <a:stretch>
            <a:fillRect/>
          </a:stretch>
        </p:blipFill>
        <p:spPr>
          <a:xfrm>
            <a:off x="11301984" y="5840272"/>
            <a:ext cx="2551176" cy="550402"/>
          </a:xfrm>
          <a:prstGeom prst="rect">
            <a:avLst/>
          </a:prstGeom>
        </p:spPr>
      </p:pic>
      <p:sp>
        <p:nvSpPr>
          <p:cNvPr id="13" name="title | iNKT17 marker program"/>
          <p:cNvSpPr txBox="1"/>
          <p:nvPr/>
        </p:nvSpPr>
        <p:spPr>
          <a:xfrm>
            <a:off x="512064" y="402335"/>
            <a:ext cx="421123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iNKT17 marker program</a:t>
            </a:r>
          </a:p>
        </p:txBody>
      </p:sp>
      <p:sp>
        <p:nvSpPr>
          <p:cNvPr id="14" name="figure_text | Score map, cluster distributions, individual markers and expressi"/>
          <p:cNvSpPr txBox="1"/>
          <p:nvPr/>
        </p:nvSpPr>
        <p:spPr>
          <a:xfrm>
            <a:off x="512064" y="838504"/>
            <a:ext cx="614409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Score map, cluster distributions, individual markers and expression dotplot</a:t>
            </a:r>
          </a:p>
        </p:txBody>
      </p:sp>
      <p:sp>
        <p:nvSpPr>
          <p:cNvPr id="15" name="figure_text | Current score_genes units differ from legacy summed-marker scores"/>
          <p:cNvSpPr txBox="1"/>
          <p:nvPr/>
        </p:nvSpPr>
        <p:spPr>
          <a:xfrm>
            <a:off x="512064" y="7578547"/>
            <a:ext cx="8590925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Current score_genes units differ from legacy summed-marker scores; these panels do not establish discrete subtype identities.</a:t>
            </a:r>
          </a:p>
        </p:txBody>
      </p:sp>
      <p:sp>
        <p:nvSpPr>
          <p:cNvPr id="16" name="figure_text | Original iNKT slides 6–8; marker panel and saved continuous score"/>
          <p:cNvSpPr txBox="1"/>
          <p:nvPr/>
        </p:nvSpPr>
        <p:spPr>
          <a:xfrm>
            <a:off x="512064" y="7939735"/>
            <a:ext cx="5951372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Original iNKT slides 6–8; marker panel and saved continuous scores from the 20260905 state analysis.</a:t>
            </a:r>
          </a:p>
        </p:txBody>
      </p:sp>
      <p:sp>
        <p:nvSpPr>
          <p:cNvPr id="17" name="page_number | 6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8" name="figure_text | Ccr6 is absent from the filtered feature set. Missing markers are"/>
          <p:cNvSpPr txBox="1"/>
          <p:nvPr/>
        </p:nvSpPr>
        <p:spPr>
          <a:xfrm>
            <a:off x="4681728" y="6369041"/>
            <a:ext cx="3745851" cy="4084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Ccr6 is absent from the filtered feature set.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Missing markers are not shown as zero expression.</a:t>
            </a:r>
          </a:p>
        </p:txBody>
      </p:sp>
      <p:sp>
        <p:nvSpPr>
          <p:cNvPr id="19" name="plot_title | iNKT17 score"/>
          <p:cNvSpPr txBox="1"/>
          <p:nvPr/>
        </p:nvSpPr>
        <p:spPr>
          <a:xfrm>
            <a:off x="1913246" y="1343193"/>
            <a:ext cx="1243446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iNKT17 score</a:t>
            </a:r>
          </a:p>
        </p:txBody>
      </p:sp>
      <p:sp>
        <p:nvSpPr>
          <p:cNvPr id="20" name="plot_title | Il23r"/>
          <p:cNvSpPr txBox="1"/>
          <p:nvPr/>
        </p:nvSpPr>
        <p:spPr>
          <a:xfrm>
            <a:off x="5139476" y="1640336"/>
            <a:ext cx="44403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Il23r</a:t>
            </a:r>
          </a:p>
        </p:txBody>
      </p:sp>
      <p:sp>
        <p:nvSpPr>
          <p:cNvPr id="21" name="plot_title | Rorc"/>
          <p:cNvSpPr txBox="1"/>
          <p:nvPr/>
        </p:nvSpPr>
        <p:spPr>
          <a:xfrm>
            <a:off x="6977920" y="1643420"/>
            <a:ext cx="423972" cy="225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Rorc</a:t>
            </a:r>
          </a:p>
        </p:txBody>
      </p:sp>
      <p:sp>
        <p:nvSpPr>
          <p:cNvPr id="22" name="plot_title | Zbtb16"/>
          <p:cNvSpPr txBox="1"/>
          <p:nvPr/>
        </p:nvSpPr>
        <p:spPr>
          <a:xfrm>
            <a:off x="8687348" y="1640336"/>
            <a:ext cx="67226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Zbtb16</a:t>
            </a:r>
          </a:p>
        </p:txBody>
      </p:sp>
      <p:sp>
        <p:nvSpPr>
          <p:cNvPr id="23" name="plot_title | Marker expression"/>
          <p:cNvSpPr txBox="1"/>
          <p:nvPr/>
        </p:nvSpPr>
        <p:spPr>
          <a:xfrm>
            <a:off x="11816119" y="2001561"/>
            <a:ext cx="1742560" cy="250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Marker expression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8_panel_01" descr="old_0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08_panel_02" descr="old_08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288195" cy="5091307"/>
          </a:xfrm>
          <a:prstGeom prst="rect">
            <a:avLst/>
          </a:prstGeom>
        </p:spPr>
      </p:pic>
      <p:sp>
        <p:nvSpPr>
          <p:cNvPr id="4" name="title | Bone marrow: cluster and condition frequencies"/>
          <p:cNvSpPr txBox="1"/>
          <p:nvPr/>
        </p:nvSpPr>
        <p:spPr>
          <a:xfrm>
            <a:off x="512064" y="402335"/>
            <a:ext cx="83846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7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09_panel_01" descr="old_09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09_panel_02" descr="old_09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180615" cy="5091307"/>
          </a:xfrm>
          <a:prstGeom prst="rect">
            <a:avLst/>
          </a:prstGeom>
        </p:spPr>
      </p:pic>
      <p:sp>
        <p:nvSpPr>
          <p:cNvPr id="4" name="title | Spleen: cluster and condition frequencies"/>
          <p:cNvSpPr txBox="1"/>
          <p:nvPr/>
        </p:nvSpPr>
        <p:spPr>
          <a:xfrm>
            <a:off x="512064" y="402335"/>
            <a:ext cx="727204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8"/>
          <p:cNvSpPr txBox="1"/>
          <p:nvPr/>
        </p:nvSpPr>
        <p:spPr>
          <a:xfrm>
            <a:off x="14045184" y="7944333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10_panel_01" descr="old_10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83080"/>
            <a:ext cx="4986055" cy="5309907"/>
          </a:xfrm>
          <a:prstGeom prst="rect">
            <a:avLst/>
          </a:prstGeom>
        </p:spPr>
      </p:pic>
      <p:pic>
        <p:nvPicPr>
          <p:cNvPr id="3" name="plot_panel | old_10_panel_02" descr="old_10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99392" y="1783080"/>
            <a:ext cx="7180615" cy="5091307"/>
          </a:xfrm>
          <a:prstGeom prst="rect">
            <a:avLst/>
          </a:prstGeom>
        </p:spPr>
      </p:pic>
      <p:sp>
        <p:nvSpPr>
          <p:cNvPr id="4" name="title | Thymus: cluster and condition frequencies"/>
          <p:cNvSpPr txBox="1"/>
          <p:nvPr/>
        </p:nvSpPr>
        <p:spPr>
          <a:xfrm>
            <a:off x="512064" y="402335"/>
            <a:ext cx="743370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cluster and condition frequencies</a:t>
            </a:r>
          </a:p>
        </p:txBody>
      </p:sp>
      <p:sp>
        <p:nvSpPr>
          <p:cNvPr id="5" name="figure_text | C  •  The two denominators from Blood Figure 3C, presented side b"/>
          <p:cNvSpPr txBox="1"/>
          <p:nvPr/>
        </p:nvSpPr>
        <p:spPr>
          <a:xfrm>
            <a:off x="512064" y="838504"/>
            <a:ext cx="593785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  •  The two denominators from Blood Figure 3C, presented side by side</a:t>
            </a:r>
          </a:p>
        </p:txBody>
      </p:sp>
      <p:sp>
        <p:nvSpPr>
          <p:cNvPr id="6" name="figure_text | Captured-cell proportions only. No mouse-level error bars or sign"/>
          <p:cNvSpPr txBox="1"/>
          <p:nvPr/>
        </p:nvSpPr>
        <p:spPr>
          <a:xfrm>
            <a:off x="512064" y="7578547"/>
            <a:ext cx="723058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Captured-cell proportions only. No mouse-level error bars or significance are inferred from individual cells.</a:t>
            </a:r>
          </a:p>
        </p:txBody>
      </p:sp>
      <p:sp>
        <p:nvSpPr>
          <p:cNvPr id="7" name="figure_text | Blood Fig. 3C; saved 20260905 frequency_reconciliation_1.csv."/>
          <p:cNvSpPr txBox="1"/>
          <p:nvPr/>
        </p:nvSpPr>
        <p:spPr>
          <a:xfrm>
            <a:off x="512064" y="7939735"/>
            <a:ext cx="369339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3C; saved 20260905 frequency_reconciliation_1.csv.</a:t>
            </a:r>
          </a:p>
        </p:txBody>
      </p:sp>
      <p:sp>
        <p:nvSpPr>
          <p:cNvPr id="8" name="page_number | 9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9" name="figure_text | Left: n(cluster, condition) / N(condition)     |     Right: n(con"/>
          <p:cNvSpPr txBox="1"/>
          <p:nvPr/>
        </p:nvSpPr>
        <p:spPr>
          <a:xfrm>
            <a:off x="1024128" y="7146036"/>
            <a:ext cx="7304135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Left: n(cluster, condition) / N(condition)     |     Right: n(condition, cluster) / N(cluster)</a:t>
            </a:r>
          </a:p>
        </p:txBody>
      </p:sp>
      <p:sp>
        <p:nvSpPr>
          <p:cNvPr id="10" name="plot_title | Cluster frequency within condition"/>
          <p:cNvSpPr txBox="1"/>
          <p:nvPr/>
        </p:nvSpPr>
        <p:spPr>
          <a:xfrm>
            <a:off x="1716571" y="1578864"/>
            <a:ext cx="3501866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Cluster frequency within condition</a:t>
            </a:r>
          </a:p>
        </p:txBody>
      </p:sp>
      <p:sp>
        <p:nvSpPr>
          <p:cNvPr id="11" name="plot_title | Condition share within cluster"/>
          <p:cNvSpPr txBox="1"/>
          <p:nvPr/>
        </p:nvSpPr>
        <p:spPr>
          <a:xfrm>
            <a:off x="9022627" y="1578864"/>
            <a:ext cx="3064417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Condition share within cluster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old_22_panel_01" descr="old_22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27776" y="1453895"/>
            <a:ext cx="6449095" cy="2534447"/>
          </a:xfrm>
          <a:prstGeom prst="rect">
            <a:avLst/>
          </a:prstGeom>
        </p:spPr>
      </p:pic>
      <p:pic>
        <p:nvPicPr>
          <p:cNvPr id="3" name="plot_panel | old_22_panel_02" descr="old_22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7550368" y="1453895"/>
            <a:ext cx="6449095" cy="2534447"/>
          </a:xfrm>
          <a:prstGeom prst="rect">
            <a:avLst/>
          </a:prstGeom>
        </p:spPr>
      </p:pic>
      <p:pic>
        <p:nvPicPr>
          <p:cNvPr id="4" name="plot_panel | old_22_panel_03" descr="old_22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7776" y="4416552"/>
            <a:ext cx="6449095" cy="2534447"/>
          </a:xfrm>
          <a:prstGeom prst="rect">
            <a:avLst/>
          </a:prstGeom>
        </p:spPr>
      </p:pic>
      <p:pic>
        <p:nvPicPr>
          <p:cNvPr id="5" name="plot_panel | old_22_panel_04" descr="old_22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7550368" y="4416552"/>
            <a:ext cx="6449095" cy="2534447"/>
          </a:xfrm>
          <a:prstGeom prst="rect">
            <a:avLst/>
          </a:prstGeom>
        </p:spPr>
      </p:pic>
      <p:sp>
        <p:nvSpPr>
          <p:cNvPr id="6" name="title | D  Differential expression: Control vs. Tumor"/>
          <p:cNvSpPr txBox="1"/>
          <p:nvPr/>
        </p:nvSpPr>
        <p:spPr>
          <a:xfrm>
            <a:off x="512064" y="402335"/>
            <a:ext cx="774262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D  Differential expression: Control vs. Tumor</a:t>
            </a:r>
          </a:p>
        </p:txBody>
      </p:sp>
      <p:sp>
        <p:nvSpPr>
          <p:cNvPr id="7" name="figure_text | Paper axes and blue/red direction; current tissue × cluster compa"/>
          <p:cNvSpPr txBox="1"/>
          <p:nvPr/>
        </p:nvSpPr>
        <p:spPr>
          <a:xfrm>
            <a:off x="512064" y="838504"/>
            <a:ext cx="5839484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Paper axes and blue/red direction; current tissue × cluster comparisons</a:t>
            </a:r>
          </a:p>
        </p:txBody>
      </p:sp>
      <p:sp>
        <p:nvSpPr>
          <p:cNvPr id="8" name="figure_text | Color rule retained: gene BH FDR ≤ 0.05 and |log2FC| ≥ 0.25. Vert"/>
          <p:cNvSpPr txBox="1"/>
          <p:nvPr/>
        </p:nvSpPr>
        <p:spPr>
          <a:xfrm>
            <a:off x="512064" y="7578547"/>
            <a:ext cx="7446633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Color rule retained: gene BH FDR ≤ 0.05 and |log2FC| ≥ 0.25. Vertical display thresholds are therefore ±0.25.</a:t>
            </a:r>
          </a:p>
        </p:txBody>
      </p:sp>
      <p:sp>
        <p:nvSpPr>
          <p:cNvPr id="9" name="figure_text | Blood Fig. 3D; current DE tables (20260905). Paper combines K1+K2"/>
          <p:cNvSpPr txBox="1"/>
          <p:nvPr/>
        </p:nvSpPr>
        <p:spPr>
          <a:xfrm>
            <a:off x="512064" y="7939735"/>
            <a:ext cx="7301906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Blood Fig. 3D; current DE tables (20260905). Paper combines K1+K2; these panels do not claim that population equivalence.</a:t>
            </a:r>
          </a:p>
        </p:txBody>
      </p:sp>
      <p:sp>
        <p:nvSpPr>
          <p:cNvPr id="10" name="page_number | 10"/>
          <p:cNvSpPr txBox="1"/>
          <p:nvPr/>
        </p:nvSpPr>
        <p:spPr>
          <a:xfrm>
            <a:off x="13972032" y="7944333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" name="figure_text | Common axes: |log2FC| ≤ 5; −log10(P) capped at 100. All uncapped "/>
          <p:cNvSpPr txBox="1"/>
          <p:nvPr/>
        </p:nvSpPr>
        <p:spPr>
          <a:xfrm>
            <a:off x="1097280" y="7049293"/>
            <a:ext cx="7861348" cy="2110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Common axes: |log2FC| ≤ 5; −log10(P) capped at 100. All uncapped values and display flags are exported.</a:t>
            </a:r>
          </a:p>
        </p:txBody>
      </p:sp>
      <p:sp>
        <p:nvSpPr>
          <p:cNvPr id="12" name="plot_title | C0 / BM"/>
          <p:cNvSpPr txBox="1"/>
          <p:nvPr/>
        </p:nvSpPr>
        <p:spPr>
          <a:xfrm>
            <a:off x="3703320" y="1270546"/>
            <a:ext cx="738835" cy="23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C0 / BM</a:t>
            </a:r>
          </a:p>
        </p:txBody>
      </p:sp>
      <p:sp>
        <p:nvSpPr>
          <p:cNvPr id="13" name="plot_title | C6 / Thy"/>
          <p:cNvSpPr txBox="1"/>
          <p:nvPr/>
        </p:nvSpPr>
        <p:spPr>
          <a:xfrm>
            <a:off x="10703052" y="1267967"/>
            <a:ext cx="78638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C6 / Thy</a:t>
            </a:r>
          </a:p>
        </p:txBody>
      </p:sp>
      <p:sp>
        <p:nvSpPr>
          <p:cNvPr id="14" name="plot_title | C5-1 / Spl"/>
          <p:cNvSpPr txBox="1"/>
          <p:nvPr/>
        </p:nvSpPr>
        <p:spPr>
          <a:xfrm>
            <a:off x="3625596" y="4230624"/>
            <a:ext cx="900501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C5-1 / Spl</a:t>
            </a:r>
          </a:p>
        </p:txBody>
      </p:sp>
      <p:sp>
        <p:nvSpPr>
          <p:cNvPr id="15" name="plot_title | C5-2 / BM"/>
          <p:cNvSpPr txBox="1"/>
          <p:nvPr/>
        </p:nvSpPr>
        <p:spPr>
          <a:xfrm>
            <a:off x="10643616" y="4233202"/>
            <a:ext cx="910010" cy="238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C5-2 / BM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85216" y="1728215"/>
          <a:ext cx="1345996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995"/>
                <a:gridCol w="2018995"/>
                <a:gridCol w="4441789"/>
                <a:gridCol w="4980188"/>
              </a:tblGrid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Input / definition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Implementation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Cytotoxicity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PAGER Fig. 5C/D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Core: Prf1, Gzma, Gzmb; E1: +Ctla2a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Mean log1p expression; matched-control score sensitivity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GO cluster identity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GAFA Fig. 4c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Cluster vs rest within each tissue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Wilcoxon, gene BH &lt;= .05 and log2FC &gt;= .25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GO treatment response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GAFA functional comparison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T2-up and Ctrl-up genes tested separately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Hypergeometric; full eligible GO BP/MF/CC families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Local trajectories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PAGER Fig. 5D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Recompute diffusion map on tissue-specific graphs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Precursor-rooted DPT; 20 shared bins; 3-root sensitivity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Robustness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Adaptation to this dataset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Stable clusters; five QC-matched resamples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Effects and direction consistency; no animal replication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Analysis design and reference mapping"/>
          <p:cNvSpPr txBox="1"/>
          <p:nvPr/>
        </p:nvSpPr>
        <p:spPr>
          <a:xfrm>
            <a:off x="512064" y="361187"/>
            <a:ext cx="6901159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Analysis design and reference mapping</a:t>
            </a:r>
          </a:p>
        </p:txBody>
      </p:sp>
      <p:sp>
        <p:nvSpPr>
          <p:cNvPr id="4" name="figure_text | Methods adapted to mouse iNKT; biological conclusions are derived"/>
          <p:cNvSpPr txBox="1"/>
          <p:nvPr/>
        </p:nvSpPr>
        <p:spPr>
          <a:xfrm>
            <a:off x="512064" y="813816"/>
            <a:ext cx="68819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Methods adapted to mouse iNKT; biological conclusions are derived from these data.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7" name="page_number | 11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8" name="figure_text | GO uses official mouse annotations. An enrichment of upregulated "/>
          <p:cNvSpPr txBox="1"/>
          <p:nvPr/>
        </p:nvSpPr>
        <p:spPr>
          <a:xfrm>
            <a:off x="731520" y="6867144"/>
            <a:ext cx="8843825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GO uses official mouse annotations. An enrichment of upregulated genes does not prove pathway activation.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3_panel_01" descr="new_0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83224" y="1700784"/>
            <a:ext cx="6366799" cy="4883433"/>
          </a:xfrm>
          <a:prstGeom prst="rect">
            <a:avLst/>
          </a:prstGeom>
        </p:spPr>
      </p:pic>
      <p:pic>
        <p:nvPicPr>
          <p:cNvPr id="3" name="plot_panel | new_03_panel_02" descr="new_0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222996" y="1700784"/>
            <a:ext cx="4992278" cy="5101238"/>
          </a:xfrm>
          <a:prstGeom prst="rect">
            <a:avLst/>
          </a:prstGeom>
        </p:spPr>
      </p:pic>
      <p:pic>
        <p:nvPicPr>
          <p:cNvPr id="4" name="plot_panel | new_03_panel_03" descr="new_0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3273796" y="2417673"/>
            <a:ext cx="503671" cy="3308415"/>
          </a:xfrm>
          <a:prstGeom prst="rect">
            <a:avLst/>
          </a:prstGeom>
        </p:spPr>
      </p:pic>
      <p:sp>
        <p:nvSpPr>
          <p:cNvPr id="5" name="title | Cytotoxic gene coverage and scoring"/>
          <p:cNvSpPr txBox="1"/>
          <p:nvPr/>
        </p:nvSpPr>
        <p:spPr>
          <a:xfrm>
            <a:off x="512064" y="361187"/>
            <a:ext cx="645420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Cytotoxic gene coverage and scoring</a:t>
            </a:r>
          </a:p>
        </p:txBody>
      </p:sp>
      <p:sp>
        <p:nvSpPr>
          <p:cNvPr id="6" name="figure_text | Primary endpoint: mean log-normalized expression of Prf1 / Gzma /"/>
          <p:cNvSpPr txBox="1"/>
          <p:nvPr/>
        </p:nvSpPr>
        <p:spPr>
          <a:xfrm>
            <a:off x="512064" y="813816"/>
            <a:ext cx="605910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Primary endpoint: mean log-normalized expression of Prf1 / Gzma / Gzmb.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12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0" name="plot_title | A  Measured marker coverage"/>
          <p:cNvSpPr txBox="1"/>
          <p:nvPr/>
        </p:nvSpPr>
        <p:spPr>
          <a:xfrm>
            <a:off x="1170432" y="1514855"/>
            <a:ext cx="2630980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Measured marker coverage</a:t>
            </a:r>
          </a:p>
        </p:txBody>
      </p:sp>
      <p:sp>
        <p:nvSpPr>
          <p:cNvPr id="11" name="plot_title | B  Sample-level mean expression"/>
          <p:cNvSpPr txBox="1"/>
          <p:nvPr/>
        </p:nvSpPr>
        <p:spPr>
          <a:xfrm>
            <a:off x="8924544" y="1514855"/>
            <a:ext cx="3258921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B  Sample-level mean expression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4_panel_01" descr="new_0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3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4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4_panel_03" descr="new_04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618487"/>
            <a:ext cx="3529970" cy="5287727"/>
          </a:xfrm>
          <a:prstGeom prst="rect">
            <a:avLst/>
          </a:prstGeom>
        </p:spPr>
      </p:pic>
      <p:pic>
        <p:nvPicPr>
          <p:cNvPr id="5" name="plot_panel | new_04_panel_04" descr="new_04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4_panel_05" descr="new_04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5"/>
            <a:ext cx="3517899" cy="4756439"/>
          </a:xfrm>
          <a:prstGeom prst="rect">
            <a:avLst/>
          </a:prstGeom>
        </p:spPr>
      </p:pic>
      <p:sp>
        <p:nvSpPr>
          <p:cNvPr id="7" name="title | Bone marrow: cytotoxic expression and condition effects"/>
          <p:cNvSpPr txBox="1"/>
          <p:nvPr/>
        </p:nvSpPr>
        <p:spPr>
          <a:xfrm>
            <a:off x="512064" y="361187"/>
            <a:ext cx="988722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13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5_panel_01" descr="new_0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5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5_panel_03" descr="new_0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618487"/>
            <a:ext cx="3529970" cy="5287727"/>
          </a:xfrm>
          <a:prstGeom prst="rect">
            <a:avLst/>
          </a:prstGeom>
        </p:spPr>
      </p:pic>
      <p:pic>
        <p:nvPicPr>
          <p:cNvPr id="5" name="plot_panel | new_05_panel_04" descr="new_05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5_panel_05" descr="new_05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6"/>
            <a:ext cx="3517899" cy="4756439"/>
          </a:xfrm>
          <a:prstGeom prst="rect">
            <a:avLst/>
          </a:prstGeom>
        </p:spPr>
      </p:pic>
      <p:sp>
        <p:nvSpPr>
          <p:cNvPr id="7" name="title | Spleen: cytotoxic expression and condition effects"/>
          <p:cNvSpPr txBox="1"/>
          <p:nvPr/>
        </p:nvSpPr>
        <p:spPr>
          <a:xfrm>
            <a:off x="512064" y="361187"/>
            <a:ext cx="87745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14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6_panel_01" descr="new_0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6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6_panel_03" descr="new_06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577340"/>
            <a:ext cx="3529970" cy="5328875"/>
          </a:xfrm>
          <a:prstGeom prst="rect">
            <a:avLst/>
          </a:prstGeom>
        </p:spPr>
      </p:pic>
      <p:pic>
        <p:nvPicPr>
          <p:cNvPr id="5" name="plot_panel | new_06_panel_04" descr="new_06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6_panel_05" descr="new_06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6"/>
            <a:ext cx="3517899" cy="4756439"/>
          </a:xfrm>
          <a:prstGeom prst="rect">
            <a:avLst/>
          </a:prstGeom>
        </p:spPr>
      </p:pic>
      <p:sp>
        <p:nvSpPr>
          <p:cNvPr id="7" name="title | Thymus: cytotoxic expression and condition effects"/>
          <p:cNvSpPr txBox="1"/>
          <p:nvPr/>
        </p:nvSpPr>
        <p:spPr>
          <a:xfrm>
            <a:off x="512064" y="361187"/>
            <a:ext cx="893624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15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7_panel_01" descr="new_0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476563" y="1536191"/>
            <a:ext cx="11431478" cy="5126228"/>
          </a:xfrm>
          <a:prstGeom prst="rect">
            <a:avLst/>
          </a:prstGeom>
        </p:spPr>
      </p:pic>
      <p:pic>
        <p:nvPicPr>
          <p:cNvPr id="3" name="plot_panel | new_07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Bone marrow: GO biological processes: cluster identity"/>
          <p:cNvSpPr txBox="1"/>
          <p:nvPr/>
        </p:nvSpPr>
        <p:spPr>
          <a:xfrm>
            <a:off x="512064" y="361187"/>
            <a:ext cx="95543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6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8_panel_01" descr="new_0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604579" y="1536191"/>
            <a:ext cx="11303462" cy="5126228"/>
          </a:xfrm>
          <a:prstGeom prst="rect">
            <a:avLst/>
          </a:prstGeom>
        </p:spPr>
      </p:pic>
      <p:pic>
        <p:nvPicPr>
          <p:cNvPr id="3" name="plot_panel | new_08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Spleen: GO biological processes: cluster identity"/>
          <p:cNvSpPr txBox="1"/>
          <p:nvPr/>
        </p:nvSpPr>
        <p:spPr>
          <a:xfrm>
            <a:off x="512064" y="361187"/>
            <a:ext cx="844174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7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9_panel_01" descr="new_09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411984" y="1536191"/>
            <a:ext cx="11496058" cy="5126228"/>
          </a:xfrm>
          <a:prstGeom prst="rect">
            <a:avLst/>
          </a:prstGeom>
        </p:spPr>
      </p:pic>
      <p:pic>
        <p:nvPicPr>
          <p:cNvPr id="3" name="plot_panel | new_09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Thymus: GO biological processes: cluster identity"/>
          <p:cNvSpPr txBox="1"/>
          <p:nvPr/>
        </p:nvSpPr>
        <p:spPr>
          <a:xfrm>
            <a:off x="512064" y="361187"/>
            <a:ext cx="860340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8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0_panel_01" descr="new_10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549429" y="1536191"/>
            <a:ext cx="11358612" cy="5546310"/>
          </a:xfrm>
          <a:prstGeom prst="rect">
            <a:avLst/>
          </a:prstGeom>
        </p:spPr>
      </p:pic>
      <p:pic>
        <p:nvPicPr>
          <p:cNvPr id="3" name="plot_panel | new_10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Bone marrow: GO biological processes: condition response"/>
          <p:cNvSpPr txBox="1"/>
          <p:nvPr/>
        </p:nvSpPr>
        <p:spPr>
          <a:xfrm>
            <a:off x="512064" y="361187"/>
            <a:ext cx="1021055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9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1_panel_01" descr="new_11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549429" y="1536191"/>
            <a:ext cx="11358612" cy="5546310"/>
          </a:xfrm>
          <a:prstGeom prst="rect">
            <a:avLst/>
          </a:prstGeom>
        </p:spPr>
      </p:pic>
      <p:pic>
        <p:nvPicPr>
          <p:cNvPr id="3" name="plot_panel | new_11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Spleen: GO biological processes: condition response"/>
          <p:cNvSpPr txBox="1"/>
          <p:nvPr/>
        </p:nvSpPr>
        <p:spPr>
          <a:xfrm>
            <a:off x="512064" y="361187"/>
            <a:ext cx="909791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20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2_panel_01" descr="new_12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693447" y="1536191"/>
            <a:ext cx="11214594" cy="5441446"/>
          </a:xfrm>
          <a:prstGeom prst="rect">
            <a:avLst/>
          </a:prstGeom>
        </p:spPr>
      </p:pic>
      <p:pic>
        <p:nvPicPr>
          <p:cNvPr id="3" name="plot_panel | new_12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Thymus: GO biological processes: condition response"/>
          <p:cNvSpPr txBox="1"/>
          <p:nvPr/>
        </p:nvSpPr>
        <p:spPr>
          <a:xfrm>
            <a:off x="512064" y="361187"/>
            <a:ext cx="925958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21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7_panel_01" descr="new_1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336796" y="1700784"/>
            <a:ext cx="8711691" cy="5048025"/>
          </a:xfrm>
          <a:prstGeom prst="rect">
            <a:avLst/>
          </a:prstGeom>
        </p:spPr>
      </p:pic>
      <p:sp>
        <p:nvSpPr>
          <p:cNvPr id="3" name="title | Cellular components of cytotoxic module genes"/>
          <p:cNvSpPr txBox="1"/>
          <p:nvPr/>
        </p:nvSpPr>
        <p:spPr>
          <a:xfrm>
            <a:off x="512064" y="361187"/>
            <a:ext cx="8242035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Cellular components of cytotoxic module genes</a:t>
            </a:r>
          </a:p>
        </p:txBody>
      </p:sp>
      <p:sp>
        <p:nvSpPr>
          <p:cNvPr id="4" name="figure_text | GO-CC membership supports localization; this is not a protein-int"/>
          <p:cNvSpPr txBox="1"/>
          <p:nvPr/>
        </p:nvSpPr>
        <p:spPr>
          <a:xfrm>
            <a:off x="512064" y="813816"/>
            <a:ext cx="675955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GO-CC membership supports localization; this is not a protein-interaction network.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611036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official mouse GO annotations</a:t>
            </a:r>
          </a:p>
        </p:txBody>
      </p:sp>
      <p:sp>
        <p:nvSpPr>
          <p:cNvPr id="7" name="page_number | 22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8" name="plot_title | Measured genes x propagated GO-CC membership"/>
          <p:cNvSpPr txBox="1"/>
          <p:nvPr/>
        </p:nvSpPr>
        <p:spPr>
          <a:xfrm>
            <a:off x="6291072" y="1514856"/>
            <a:ext cx="440692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Measured genes x propagated GO-CC membership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3_panel_01" descr="new_1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6"/>
            <a:ext cx="4581509" cy="4169663"/>
          </a:xfrm>
          <a:prstGeom prst="rect">
            <a:avLst/>
          </a:prstGeom>
        </p:spPr>
      </p:pic>
      <p:pic>
        <p:nvPicPr>
          <p:cNvPr id="3" name="plot_panel | new_13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3_panel_03" descr="new_1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42287" cy="4180367"/>
          </a:xfrm>
          <a:prstGeom prst="rect">
            <a:avLst/>
          </a:prstGeom>
        </p:spPr>
      </p:pic>
      <p:sp>
        <p:nvSpPr>
          <p:cNvPr id="5" name="title | Bone marrow: local cytotoxicity along pseudotime"/>
          <p:cNvSpPr txBox="1"/>
          <p:nvPr/>
        </p:nvSpPr>
        <p:spPr>
          <a:xfrm>
            <a:off x="512064" y="361187"/>
            <a:ext cx="871752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23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10" name="figure_text | Root state: bone_marrow_S0; measured root markers: Egr2 / Hivep3 "/>
          <p:cNvSpPr txBox="1"/>
          <p:nvPr/>
        </p:nvSpPr>
        <p:spPr>
          <a:xfrm>
            <a:off x="877824" y="6695210"/>
            <a:ext cx="8865519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bone_marrow_S0; measured root markers: Egr2 / Hivep3 (Cd24a unavailable). Root sensitivity rho: 0.89, 0.76.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6,110/6,110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4_panel_01" descr="new_1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5"/>
            <a:ext cx="4581509" cy="4169664"/>
          </a:xfrm>
          <a:prstGeom prst="rect">
            <a:avLst/>
          </a:prstGeom>
        </p:spPr>
      </p:pic>
      <p:pic>
        <p:nvPicPr>
          <p:cNvPr id="3" name="plot_panel | new_14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4_panel_03" descr="new_14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42287" cy="4180367"/>
          </a:xfrm>
          <a:prstGeom prst="rect">
            <a:avLst/>
          </a:prstGeom>
        </p:spPr>
      </p:pic>
      <p:sp>
        <p:nvSpPr>
          <p:cNvPr id="5" name="title | Spleen: local cytotoxicity along pseudotime"/>
          <p:cNvSpPr txBox="1"/>
          <p:nvPr/>
        </p:nvSpPr>
        <p:spPr>
          <a:xfrm>
            <a:off x="512064" y="361187"/>
            <a:ext cx="7604881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24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0" name="figure_text | Root state: spleen_S0; measured root markers: Egr2 / Hivep3 (Cd24"/>
          <p:cNvSpPr txBox="1"/>
          <p:nvPr/>
        </p:nvSpPr>
        <p:spPr>
          <a:xfrm>
            <a:off x="877824" y="6695210"/>
            <a:ext cx="8367148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spleen_S0; measured root markers: Egr2 / Hivep3 (Cd24a unavailable). Root sensitivity rho: 0.97, 0.76.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6,793/6,793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5_panel_01" descr="new_1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5"/>
            <a:ext cx="4581509" cy="4169664"/>
          </a:xfrm>
          <a:prstGeom prst="rect">
            <a:avLst/>
          </a:prstGeom>
        </p:spPr>
      </p:pic>
      <p:pic>
        <p:nvPicPr>
          <p:cNvPr id="3" name="plot_panel | new_15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5_panel_03" descr="new_1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67030" cy="4180367"/>
          </a:xfrm>
          <a:prstGeom prst="rect">
            <a:avLst/>
          </a:prstGeom>
        </p:spPr>
      </p:pic>
      <p:sp>
        <p:nvSpPr>
          <p:cNvPr id="5" name="title | Thymus: local cytotoxicity along pseudotime"/>
          <p:cNvSpPr txBox="1"/>
          <p:nvPr/>
        </p:nvSpPr>
        <p:spPr>
          <a:xfrm>
            <a:off x="512064" y="361187"/>
            <a:ext cx="776654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25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10" name="figure_text | Root state: thymus_S5; measured root markers: Egr2 / Hivep3 (Cd24"/>
          <p:cNvSpPr txBox="1"/>
          <p:nvPr/>
        </p:nvSpPr>
        <p:spPr>
          <a:xfrm>
            <a:off x="877824" y="6695210"/>
            <a:ext cx="8443226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thymus_S5; measured root markers: Egr2 / Hivep3 (Cd24a unavailable). Root sensitivity rho: 1.00, 1.00.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2,629/2,629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8_panel_01" descr="new_1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00784"/>
            <a:ext cx="13032775" cy="4736483"/>
          </a:xfrm>
          <a:prstGeom prst="rect">
            <a:avLst/>
          </a:prstGeom>
        </p:spPr>
      </p:pic>
      <p:sp>
        <p:nvSpPr>
          <p:cNvPr id="3" name="title | Robustness: QC matching and alternative clustering"/>
          <p:cNvSpPr txBox="1"/>
          <p:nvPr/>
        </p:nvSpPr>
        <p:spPr>
          <a:xfrm>
            <a:off x="512064" y="361187"/>
            <a:ext cx="907889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Robustness: QC matching and alternative clustering</a:t>
            </a:r>
          </a:p>
        </p:txBody>
      </p:sp>
      <p:sp>
        <p:nvSpPr>
          <p:cNvPr id="4" name="figure_text | Five condition-balanced QC resamples within each tissue x cluster"/>
          <p:cNvSpPr txBox="1"/>
          <p:nvPr/>
        </p:nvSpPr>
        <p:spPr>
          <a:xfrm>
            <a:off x="512064" y="813816"/>
            <a:ext cx="543561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Five condition-balanced QC resamples within each tissue x cluster.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6795066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sensitivity analyses added for this dataset</a:t>
            </a:r>
          </a:p>
        </p:txBody>
      </p:sp>
      <p:sp>
        <p:nvSpPr>
          <p:cNvPr id="7" name="page_number | 26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8" name="figure_text | Teal range: five QC-matched effect estimates (not a confidence in"/>
          <p:cNvSpPr txBox="1"/>
          <p:nvPr/>
        </p:nvSpPr>
        <p:spPr>
          <a:xfrm>
            <a:off x="1097280" y="6780521"/>
            <a:ext cx="8356301" cy="4084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Teal range: five QC-matched effect estimates (not a confidence interval).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Stable tissue clusters are a separate sensitivity analysis; their labels are not interchangeable with original C labels.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6_panel_01" descr="new_1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852931" y="1947672"/>
            <a:ext cx="5450941" cy="3373022"/>
          </a:xfrm>
          <a:prstGeom prst="rect">
            <a:avLst/>
          </a:prstGeom>
        </p:spPr>
      </p:pic>
      <p:pic>
        <p:nvPicPr>
          <p:cNvPr id="3" name="plot_panel | new_16_panel_02" descr="new_16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377025" y="1947672"/>
            <a:ext cx="680973" cy="2935224"/>
          </a:xfrm>
          <a:prstGeom prst="rect">
            <a:avLst/>
          </a:prstGeom>
        </p:spPr>
      </p:pic>
      <p:sp>
        <p:nvSpPr>
          <p:cNvPr id="4" name="title | Core signature changes do not imply a full killing pathway"/>
          <p:cNvSpPr txBox="1"/>
          <p:nvPr/>
        </p:nvSpPr>
        <p:spPr>
          <a:xfrm>
            <a:off x="512064" y="361187"/>
            <a:ext cx="1013462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Core signature changes do not imply a full killing pathway</a:t>
            </a:r>
          </a:p>
        </p:txBody>
      </p:sp>
      <p:sp>
        <p:nvSpPr>
          <p:cNvPr id="5" name="figure_text | Two reproducible local core signals; the broader E1 signature is "/>
          <p:cNvSpPr txBox="1"/>
          <p:nvPr/>
        </p:nvSpPr>
        <p:spPr>
          <a:xfrm>
            <a:off x="512064" y="813816"/>
            <a:ext cx="640130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Two reproducible local core signals; the broader E1 signature is not significant.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7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8" name="page_number | 27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9" name="figure_text | B  Complementary evidence from the same dataset  Bone marrow C4 c"/>
          <p:cNvSpPr txBox="1"/>
          <p:nvPr/>
        </p:nvSpPr>
        <p:spPr>
          <a:xfrm>
            <a:off x="8046720" y="1883664"/>
            <a:ext cx="4795490" cy="27134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  Complementary evidence from the same dataset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Bone marrow C4 core: +0.086; q = 0.025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Spleen C3 core: -0.023; q = 0.0015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Both: same direction in all 5 QC resamples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Stable-cluster effects: +0.111 and -0.022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Original-cell overlap: 98.7% and 99.5%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E1 (+Ctla2a): q = 0.93 and 0.53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Killing-related GO terms: no q &lt;= 0.05</a:t>
            </a:r>
          </a:p>
        </p:txBody>
      </p:sp>
      <p:sp>
        <p:nvSpPr>
          <p:cNvPr id="10" name="figure_text | The evidence supports a localized core-effector transcriptional s"/>
          <p:cNvSpPr txBox="1"/>
          <p:nvPr/>
        </p:nvSpPr>
        <p:spPr>
          <a:xfrm>
            <a:off x="1170432" y="6157341"/>
            <a:ext cx="9380978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The evidence supports a localized core-effector transcriptional shift.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It does not establish increased/decreased killing activity or coordinated activation of a full cytotoxic pathway.</a:t>
            </a:r>
          </a:p>
        </p:txBody>
      </p:sp>
      <p:sp>
        <p:nvSpPr>
          <p:cNvPr id="11" name="plot_title | A  Signature sensitivity"/>
          <p:cNvSpPr txBox="1"/>
          <p:nvPr/>
        </p:nvSpPr>
        <p:spPr>
          <a:xfrm>
            <a:off x="1463040" y="1761744"/>
            <a:ext cx="234598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A  Signature sensitivity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658368" y="1975104"/>
          <a:ext cx="13313662" cy="378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322"/>
                <a:gridCol w="5591738"/>
                <a:gridCol w="5458602"/>
              </a:tblGrid>
              <a:tr h="75712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Population / scope</a:t>
                      </a:r>
                    </a:p>
                  </a:txBody>
                  <a:tcPr marL="54864" marR="36576" marT="22860" marB="22860" anchor="ctr">
                    <a:solidFill>
                      <a:srgbClr val="EAF0F5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 marL="54864" marR="36576" marT="22860" marB="22860" anchor="ctr">
                    <a:solidFill>
                      <a:srgbClr val="EAF0F5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54864" marR="36576" marT="22860" marB="22860" anchor="ctr">
                    <a:solidFill>
                      <a:srgbClr val="EAF0F5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712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Bone marrow C4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Core score +0.086; q=0.025. Gzmb detection 29% to 44%.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Selective Gzmb-associated effector transcriptional shift.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712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Spleen C3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Core score -0.023; q=0.0015. Prf1 and Nkg7 decrease.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Small reduction in effector-associated transcripts.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712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Both populations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T2-up genes enriched for oxidative phosphorylation.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Respiration-related gene expression shifts; no metabolic flux measured.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712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Limits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Broader E1 signature and killing-related GO are not significant.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No demonstrated change in killing capacity or animal-level treatment effect.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Interpretation: localized effector changes with shared metabolic "/>
          <p:cNvSpPr txBox="1"/>
          <p:nvPr/>
        </p:nvSpPr>
        <p:spPr>
          <a:xfrm>
            <a:off x="658368" y="484631"/>
            <a:ext cx="13672108" cy="3963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Interpretation: localized effector changes with shared metabolic signals</a:t>
            </a:r>
          </a:p>
        </p:txBody>
      </p:sp>
      <p:sp>
        <p:nvSpPr>
          <p:cNvPr id="4" name="figure_text | Separate direct observations, working hypotheses and unresolved e"/>
          <p:cNvSpPr txBox="1"/>
          <p:nvPr/>
        </p:nvSpPr>
        <p:spPr>
          <a:xfrm>
            <a:off x="658368" y="1019556"/>
            <a:ext cx="6503830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Separate direct observations, working hypotheses and unresolved evidence</a:t>
            </a:r>
          </a:p>
        </p:txBody>
      </p:sp>
      <p:sp>
        <p:nvSpPr>
          <p:cNvPr id="5" name="figure_text | 20 September 2026 | Existing iNKT analyses; no new statistical an"/>
          <p:cNvSpPr txBox="1"/>
          <p:nvPr/>
        </p:nvSpPr>
        <p:spPr>
          <a:xfrm>
            <a:off x="658368" y="7749540"/>
            <a:ext cx="5957910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20 September 2026 | Existing iNKT analyses; no new statistical analysis in this packaging step.</a:t>
            </a:r>
          </a:p>
        </p:txBody>
      </p:sp>
      <p:sp>
        <p:nvSpPr>
          <p:cNvPr id="6" name="figure_text | Both core effects persist under QC matching and overlapping stabl"/>
          <p:cNvSpPr txBox="1"/>
          <p:nvPr/>
        </p:nvSpPr>
        <p:spPr>
          <a:xfrm>
            <a:off x="804672" y="6229262"/>
            <a:ext cx="9240857" cy="4746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Both core effects persist under QC matching and overlapping stable clusters.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These same-data checks support candidates; independent animals and functional assays remain necessary.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iNKT — editable source-element presentation</dc:title>
  <dc:subject>Native text and tables, individual SVG/PNG figure panels</dc:subject>
  <dc:creator>iNKT analysis project</dc:creator>
  <cp:keywords/>
  <dc:description>Full-slide images are excluded. All figure panels have source assets and provenance.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