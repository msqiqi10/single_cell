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panel1.svg" ContentType="image/svg+xml"/>
  <Override PartName="/ppt/media/panel10.svg" ContentType="image/svg+xml"/>
  <Override PartName="/ppt/media/panel11.svg" ContentType="image/svg+xml"/>
  <Override PartName="/ppt/media/panel12.svg" ContentType="image/svg+xml"/>
  <Override PartName="/ppt/media/panel13.svg" ContentType="image/svg+xml"/>
  <Override PartName="/ppt/media/panel14.svg" ContentType="image/svg+xml"/>
  <Override PartName="/ppt/media/panel15.svg" ContentType="image/svg+xml"/>
  <Override PartName="/ppt/media/panel16.svg" ContentType="image/svg+xml"/>
  <Override PartName="/ppt/media/panel17.svg" ContentType="image/svg+xml"/>
  <Override PartName="/ppt/media/panel18.svg" ContentType="image/svg+xml"/>
  <Override PartName="/ppt/media/panel19.svg" ContentType="image/svg+xml"/>
  <Override PartName="/ppt/media/panel2.svg" ContentType="image/svg+xml"/>
  <Override PartName="/ppt/media/panel20.svg" ContentType="image/svg+xml"/>
  <Override PartName="/ppt/media/panel21.svg" ContentType="image/svg+xml"/>
  <Override PartName="/ppt/media/panel22.svg" ContentType="image/svg+xml"/>
  <Override PartName="/ppt/media/panel23.svg" ContentType="image/svg+xml"/>
  <Override PartName="/ppt/media/panel24.svg" ContentType="image/svg+xml"/>
  <Override PartName="/ppt/media/panel25.svg" ContentType="image/svg+xml"/>
  <Override PartName="/ppt/media/panel26.svg" ContentType="image/svg+xml"/>
  <Override PartName="/ppt/media/panel27.svg" ContentType="image/svg+xml"/>
  <Override PartName="/ppt/media/panel28.svg" ContentType="image/svg+xml"/>
  <Override PartName="/ppt/media/panel29.svg" ContentType="image/svg+xml"/>
  <Override PartName="/ppt/media/panel3.svg" ContentType="image/svg+xml"/>
  <Override PartName="/ppt/media/panel30.svg" ContentType="image/svg+xml"/>
  <Override PartName="/ppt/media/panel31.svg" ContentType="image/svg+xml"/>
  <Override PartName="/ppt/media/panel32.svg" ContentType="image/svg+xml"/>
  <Override PartName="/ppt/media/panel33.svg" ContentType="image/svg+xml"/>
  <Override PartName="/ppt/media/panel34.svg" ContentType="image/svg+xml"/>
  <Override PartName="/ppt/media/panel35.svg" ContentType="image/svg+xml"/>
  <Override PartName="/ppt/media/panel36.svg" ContentType="image/svg+xml"/>
  <Override PartName="/ppt/media/panel37.svg" ContentType="image/svg+xml"/>
  <Override PartName="/ppt/media/panel38.svg" ContentType="image/svg+xml"/>
  <Override PartName="/ppt/media/panel39.svg" ContentType="image/svg+xml"/>
  <Override PartName="/ppt/media/panel4.svg" ContentType="image/svg+xml"/>
  <Override PartName="/ppt/media/panel40.svg" ContentType="image/svg+xml"/>
  <Override PartName="/ppt/media/panel41.svg" ContentType="image/svg+xml"/>
  <Override PartName="/ppt/media/panel42.svg" ContentType="image/svg+xml"/>
  <Override PartName="/ppt/media/panel43.svg" ContentType="image/svg+xml"/>
  <Override PartName="/ppt/media/panel44.svg" ContentType="image/svg+xml"/>
  <Override PartName="/ppt/media/panel45.svg" ContentType="image/svg+xml"/>
  <Override PartName="/ppt/media/panel46.svg" ContentType="image/svg+xml"/>
  <Override PartName="/ppt/media/panel47.svg" ContentType="image/svg+xml"/>
  <Override PartName="/ppt/media/panel48.svg" ContentType="image/svg+xml"/>
  <Override PartName="/ppt/media/panel49.svg" ContentType="image/svg+xml"/>
  <Override PartName="/ppt/media/panel5.svg" ContentType="image/svg+xml"/>
  <Override PartName="/ppt/media/panel50.svg" ContentType="image/svg+xml"/>
  <Override PartName="/ppt/media/panel51.svg" ContentType="image/svg+xml"/>
  <Override PartName="/ppt/media/panel52.svg" ContentType="image/svg+xml"/>
  <Override PartName="/ppt/media/panel53.svg" ContentType="image/svg+xml"/>
  <Override PartName="/ppt/media/panel54.svg" ContentType="image/svg+xml"/>
  <Override PartName="/ppt/media/panel55.svg" ContentType="image/svg+xml"/>
  <Override PartName="/ppt/media/panel56.svg" ContentType="image/svg+xml"/>
  <Override PartName="/ppt/media/panel57.svg" ContentType="image/svg+xml"/>
  <Override PartName="/ppt/media/panel58.svg" ContentType="image/svg+xml"/>
  <Override PartName="/ppt/media/panel59.svg" ContentType="image/svg+xml"/>
  <Override PartName="/ppt/media/panel6.svg" ContentType="image/svg+xml"/>
  <Override PartName="/ppt/media/panel60.svg" ContentType="image/svg+xml"/>
  <Override PartName="/ppt/media/panel61.svg" ContentType="image/svg+xml"/>
  <Override PartName="/ppt/media/panel62.svg" ContentType="image/svg+xml"/>
  <Override PartName="/ppt/media/panel63.svg" ContentType="image/svg+xml"/>
  <Override PartName="/ppt/media/panel64.svg" ContentType="image/svg+xml"/>
  <Override PartName="/ppt/media/panel65.svg" ContentType="image/svg+xml"/>
  <Override PartName="/ppt/media/panel66.svg" ContentType="image/svg+xml"/>
  <Override PartName="/ppt/media/panel67.svg" ContentType="image/svg+xml"/>
  <Override PartName="/ppt/media/panel68.svg" ContentType="image/svg+xml"/>
  <Override PartName="/ppt/media/panel69.svg" ContentType="image/svg+xml"/>
  <Override PartName="/ppt/media/panel7.svg" ContentType="image/svg+xml"/>
  <Override PartName="/ppt/media/panel70.svg" ContentType="image/svg+xml"/>
  <Override PartName="/ppt/media/panel71.svg" ContentType="image/svg+xml"/>
  <Override PartName="/ppt/media/panel72.svg" ContentType="image/svg+xml"/>
  <Override PartName="/ppt/media/panel73.svg" ContentType="image/svg+xml"/>
  <Override PartName="/ppt/media/panel74.svg" ContentType="image/svg+xml"/>
  <Override PartName="/ppt/media/panel75.svg" ContentType="image/svg+xml"/>
  <Override PartName="/ppt/media/panel76.svg" ContentType="image/svg+xml"/>
  <Override PartName="/ppt/media/panel77.svg" ContentType="image/svg+xml"/>
  <Override PartName="/ppt/media/panel78.svg" ContentType="image/svg+xml"/>
  <Override PartName="/ppt/media/panel79.svg" ContentType="image/svg+xml"/>
  <Override PartName="/ppt/media/panel8.svg" ContentType="image/svg+xml"/>
  <Override PartName="/ppt/media/panel80.svg" ContentType="image/svg+xml"/>
  <Override PartName="/ppt/media/panel81.svg" ContentType="image/svg+xml"/>
  <Override PartName="/ppt/media/panel82.svg" ContentType="image/svg+xml"/>
  <Override PartName="/ppt/media/panel83.svg" ContentType="image/svg+xml"/>
  <Override PartName="/ppt/media/panel84.svg" ContentType="image/svg+xml"/>
  <Override PartName="/ppt/media/panel85.svg" ContentType="image/svg+xml"/>
  <Override PartName="/ppt/media/panel86.svg" ContentType="image/svg+xml"/>
  <Override PartName="/ppt/media/panel87.svg" ContentType="image/svg+xml"/>
  <Override PartName="/ppt/media/panel88.svg" ContentType="image/svg+xml"/>
  <Override PartName="/ppt/media/panel89.svg" ContentType="image/svg+xml"/>
  <Override PartName="/ppt/media/panel9.svg" ContentType="image/svg+xml"/>
  <Override PartName="/ppt/media/panel90.svg" ContentType="image/svg+xml"/>
  <Override PartName="/ppt/media/panel9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iNKT: results in the reference presentation formats</a:t>
            </a:r>
          </a:p>
          <a:p>
            <a:r>
              <a:t>原综合报告第1页。Same analytical question → same figure grammar. Different algorithms, populations and thresholds are stated explicitly.</a:t>
            </a:r>
          </a:p>
          <a:p>
            <a:r>
              <a:t>References: original iNKT.pptx (33 slides); Kuznetsova et al., Blood Advances 2025, Figure 3 and Tables S3/S5.</a:t>
            </a:r>
          </a:p>
          <a:p>
            <a:r>
              <a:t>Same analytical question → same figure grammar. Different algorithms, populations and thresholds are stated explicitly.</a:t>
            </a:r>
          </a:p>
          <a:p>
            <a:r>
              <a:t>Source page: old_01; Main talk</a:t>
            </a:r>
          </a:p>
          <a:p>
            <a:r>
              <a:t>Independent graphics: assets/panels/old_01_*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Material, dataset and QC</a:t>
            </a:r>
          </a:p>
          <a:p>
            <a:r>
              <a:t>原综合报告第2页。QC counts match the legacy deck; downstream UMAP, Leiden and gene statistics remain a reanalysis.</a:t>
            </a:r>
          </a:p>
          <a:p>
            <a:r>
              <a:t>Original iNKT deck, slide 2; current object: 20260905 scored_base.h5ad.</a:t>
            </a:r>
          </a:p>
          <a:p>
            <a:r>
              <a:t>QC counts match the legacy deck; downstream UMAP, Leiden and gene statistics remain a reanalysis.</a:t>
            </a:r>
          </a:p>
          <a:p>
            <a:r>
              <a:t>Source page: old_02; Main talk</a:t>
            </a:r>
          </a:p>
          <a:p>
            <a:r>
              <a:t>Independent graphics: assets/panels/old_02_*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Clusters and tissue composition</a:t>
            </a:r>
          </a:p>
          <a:p>
            <a:r>
              <a:t>原综合报告第3页。Original sample hues retained on the left; Blood-style blue/red encodes condition on the right. Coordinates are unchanged.</a:t>
            </a:r>
          </a:p>
          <a:p>
            <a:r>
              <a:t>Original iNKT slides 4–5/12; Blood Fig. 3B is t-SNE/K-means, so axes and labels are not copied.</a:t>
            </a:r>
          </a:p>
          <a:p>
            <a:r>
              <a:t>Original sample hues retained on the left; Blood-style blue/red encodes condition on the right. Coordinates are unchanged.</a:t>
            </a:r>
          </a:p>
          <a:p>
            <a:r>
              <a:t>Source page: old_03; Main talk</a:t>
            </a:r>
          </a:p>
          <a:p>
            <a:r>
              <a:t>Independent graphics: assets/panels/old_03_*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UMAP: 50, 100 and 200 principal components</a:t>
            </a:r>
          </a:p>
          <a:p>
            <a:r>
              <a:t>原综合报告第4页。PC number varies; all other settings are fixed. Labels are fixed reference clusters, not separate reclustering outcomes.</a:t>
            </a:r>
          </a:p>
          <a:p>
            <a:r>
              <a:t>Original iNKT slide 4; frozen 20260825 PC-sweep result.</a:t>
            </a:r>
          </a:p>
          <a:p>
            <a:r>
              <a:t>PC number varies; all other settings are fixed. Labels are fixed reference clusters, not separate reclustering outcomes.</a:t>
            </a:r>
          </a:p>
          <a:p>
            <a:r>
              <a:t>Source page: old_04; Main talk</a:t>
            </a:r>
          </a:p>
          <a:p>
            <a:r>
              <a:t>Independent graphics: assets/panels/old_04_*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iNKT1 marker program</a:t>
            </a:r>
          </a:p>
          <a:p>
            <a:r>
              <a:t>原综合报告第5页。Current score_genes units differ from legacy summed-marker scores; these panels do not establish discrete subtype identities.</a:t>
            </a:r>
          </a:p>
          <a:p>
            <a:r>
              <a:t>Original iNKT slides 6–8; marker panel and saved continuous scores from the 20260905 state analysis.</a:t>
            </a:r>
          </a:p>
          <a:p>
            <a:r>
              <a:t>Current score_genes units differ from legacy summed-marker scores; these panels do not establish discrete subtype identities.</a:t>
            </a:r>
          </a:p>
          <a:p>
            <a:r>
              <a:t>Source page: old_05; Main talk</a:t>
            </a:r>
          </a:p>
          <a:p>
            <a:r>
              <a:t>Independent graphics: assets/panels/old_05_*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iNKT2 marker program</a:t>
            </a:r>
          </a:p>
          <a:p>
            <a:r>
              <a:t>原综合报告第6页。Current score_genes units differ from legacy summed-marker scores; these panels do not establish discrete subtype identities.</a:t>
            </a:r>
          </a:p>
          <a:p>
            <a:r>
              <a:t>Original iNKT slides 6–8; marker panel and saved continuous scores from the 20260905 state analysis.</a:t>
            </a:r>
          </a:p>
          <a:p>
            <a:r>
              <a:t>Current score_genes units differ from legacy summed-marker scores; these panels do not establish discrete subtype identities.</a:t>
            </a:r>
          </a:p>
          <a:p>
            <a:r>
              <a:t>Source page: old_06; Main talk</a:t>
            </a:r>
          </a:p>
          <a:p>
            <a:r>
              <a:t>Independent graphics: assets/panels/old_06_*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iNKT17 marker program</a:t>
            </a:r>
          </a:p>
          <a:p>
            <a:r>
              <a:t>原综合报告第7页。Current score_genes units differ from legacy summed-marker scores; these panels do not establish discrete subtype identities.</a:t>
            </a:r>
          </a:p>
          <a:p>
            <a:r>
              <a:t>Original iNKT slides 6–8; marker panel and saved continuous scores from the 20260905 state analysis.</a:t>
            </a:r>
          </a:p>
          <a:p>
            <a:r>
              <a:t>Current score_genes units differ from legacy summed-marker scores; these panels do not establish discrete subtype identities.</a:t>
            </a:r>
          </a:p>
          <a:p>
            <a:r>
              <a:t>Source page: old_07; Main talk</a:t>
            </a:r>
          </a:p>
          <a:p>
            <a:r>
              <a:t>Independent graphics: assets/panels/old_07_*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Bone marrow: cluster and condition frequencies</a:t>
            </a:r>
          </a:p>
          <a:p>
            <a:r>
              <a:t>原综合报告第8页。Captured-cell proportions only. No mouse-level error bars or significance are inferred from individual cells.</a:t>
            </a:r>
          </a:p>
          <a:p>
            <a:r>
              <a:t>Blood Fig. 3C; saved 20260905 frequency_reconciliation_1.csv.</a:t>
            </a:r>
          </a:p>
          <a:p>
            <a:r>
              <a:t>Captured-cell proportions only. No mouse-level error bars or significance are inferred from individual cells.</a:t>
            </a:r>
          </a:p>
          <a:p>
            <a:r>
              <a:t>Source page: old_08; Main talk</a:t>
            </a:r>
          </a:p>
          <a:p>
            <a:r>
              <a:t>Independent graphics: assets/panels/old_08_*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Spleen: cluster and condition frequencies</a:t>
            </a:r>
          </a:p>
          <a:p>
            <a:r>
              <a:t>原综合报告第9页。Captured-cell proportions only. No mouse-level error bars or significance are inferred from individual cells.</a:t>
            </a:r>
          </a:p>
          <a:p>
            <a:r>
              <a:t>Blood Fig. 3C; saved 20260905 frequency_reconciliation_1.csv.</a:t>
            </a:r>
          </a:p>
          <a:p>
            <a:r>
              <a:t>Captured-cell proportions only. No mouse-level error bars or significance are inferred from individual cells.</a:t>
            </a:r>
          </a:p>
          <a:p>
            <a:r>
              <a:t>Source page: old_09; Main talk</a:t>
            </a:r>
          </a:p>
          <a:p>
            <a:r>
              <a:t>Independent graphics: assets/panels/old_09_*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Thymus: cluster and condition frequencies</a:t>
            </a:r>
          </a:p>
          <a:p>
            <a:r>
              <a:t>原综合报告第10页。Captured-cell proportions only. No mouse-level error bars or significance are inferred from individual cells.</a:t>
            </a:r>
          </a:p>
          <a:p>
            <a:r>
              <a:t>Blood Fig. 3C; saved 20260905 frequency_reconciliation_1.csv.</a:t>
            </a:r>
          </a:p>
          <a:p>
            <a:r>
              <a:t>Captured-cell proportions only. No mouse-level error bars or significance are inferred from individual cells.</a:t>
            </a:r>
          </a:p>
          <a:p>
            <a:r>
              <a:t>Source page: old_10; Main talk</a:t>
            </a:r>
          </a:p>
          <a:p>
            <a:r>
              <a:t>Independent graphics: assets/panels/old_10_*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T2 vs. Control DEGs: global</a:t>
            </a:r>
          </a:p>
          <a:p>
            <a:r>
              <a:t>原综合报告第11页。Displayed: 7 strongest FDR-ranked genes per direction, when available; full gene table linked in the source index.</a:t>
            </a:r>
          </a:p>
          <a:p>
            <a:r>
              <a:t>Original iNKT slide 10; current 20260905 DE.</a:t>
            </a:r>
          </a:p>
          <a:p>
            <a:r>
              <a:t>Displayed: 7 strongest FDR-ranked genes per direction, when available; full gene table linked in the source index.</a:t>
            </a:r>
          </a:p>
          <a:p>
            <a:r>
              <a:t>Source page: old_11; Main talk</a:t>
            </a:r>
          </a:p>
          <a:p>
            <a:r>
              <a:t>Independent graphics: assets/panels/old_11_*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T2 vs. Control DEGs: BM</a:t>
            </a:r>
          </a:p>
          <a:p>
            <a:r>
              <a:t>原综合报告第12页。Displayed: 7 strongest FDR-ranked genes per direction, when available; full gene table linked in the source index.</a:t>
            </a:r>
          </a:p>
          <a:p>
            <a:r>
              <a:t>Original iNKT slide 11; current 20260905 DE.</a:t>
            </a:r>
          </a:p>
          <a:p>
            <a:r>
              <a:t>Displayed: 7 strongest FDR-ranked genes per direction, when available; full gene table linked in the source index.</a:t>
            </a:r>
          </a:p>
          <a:p>
            <a:r>
              <a:t>Source page: old_12; Main talk</a:t>
            </a:r>
          </a:p>
          <a:p>
            <a:r>
              <a:t>Independent graphics: assets/panels/old_12_*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T2 vs. Control DEGs: Spl</a:t>
            </a:r>
          </a:p>
          <a:p>
            <a:r>
              <a:t>原综合报告第13页。Displayed: 7 strongest FDR-ranked genes per direction, when available; full gene table linked in the source index.</a:t>
            </a:r>
          </a:p>
          <a:p>
            <a:r>
              <a:t>Original iNKT slide 11; current 20260905 DE.</a:t>
            </a:r>
          </a:p>
          <a:p>
            <a:r>
              <a:t>Displayed: 7 strongest FDR-ranked genes per direction, when available; full gene table linked in the source index.</a:t>
            </a:r>
          </a:p>
          <a:p>
            <a:r>
              <a:t>Source page: old_13; Main talk</a:t>
            </a:r>
          </a:p>
          <a:p>
            <a:r>
              <a:t>Independent graphics: assets/panels/old_13_*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T2 vs. Control DEGs: Thy</a:t>
            </a:r>
          </a:p>
          <a:p>
            <a:r>
              <a:t>原综合报告第14页。Displayed: 7 strongest FDR-ranked genes per direction, when available; full gene table linked in the source index.</a:t>
            </a:r>
          </a:p>
          <a:p>
            <a:r>
              <a:t>Original iNKT slide 11; current 20260905 DE.</a:t>
            </a:r>
          </a:p>
          <a:p>
            <a:r>
              <a:t>Displayed: 7 strongest FDR-ranked genes per direction, when available; full gene table linked in the source index.</a:t>
            </a:r>
          </a:p>
          <a:p>
            <a:r>
              <a:t>Source page: old_14; Main talk</a:t>
            </a:r>
          </a:p>
          <a:p>
            <a:r>
              <a:t>Independent graphics: assets/panels/old_14_*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T2 vs. Control DEGs: C0 / BM</a:t>
            </a:r>
          </a:p>
          <a:p>
            <a:r>
              <a:t>原综合报告第15页。Displayed: 7 strongest FDR-ranked genes per direction, when available; full gene table linked in the source index.</a:t>
            </a:r>
          </a:p>
          <a:p>
            <a:r>
              <a:t>Original iNKT slide 17 layout; current BM C0; current 20260905 DE.</a:t>
            </a:r>
          </a:p>
          <a:p>
            <a:r>
              <a:t>Displayed: 7 strongest FDR-ranked genes per direction, when available; full gene table linked in the source index.</a:t>
            </a:r>
          </a:p>
          <a:p>
            <a:r>
              <a:t>Source page: old_15; Main talk</a:t>
            </a:r>
          </a:p>
          <a:p>
            <a:r>
              <a:t>Independent graphics: assets/panels/old_15_*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T2 vs. Control DEGs: C6 / Thy</a:t>
            </a:r>
          </a:p>
          <a:p>
            <a:r>
              <a:t>原综合报告第16页。Displayed: 7 strongest FDR-ranked genes per direction, when available; full gene table linked in the source index.</a:t>
            </a:r>
          </a:p>
          <a:p>
            <a:r>
              <a:t>Original iNKT slide 13 layout; current Thy C6; current 20260905 DE.</a:t>
            </a:r>
          </a:p>
          <a:p>
            <a:r>
              <a:t>Displayed: 7 strongest FDR-ranked genes per direction, when available; full gene table linked in the source index.</a:t>
            </a:r>
          </a:p>
          <a:p>
            <a:r>
              <a:t>Source page: old_16; Main talk</a:t>
            </a:r>
          </a:p>
          <a:p>
            <a:r>
              <a:t>Independent graphics: assets/panels/old_16_*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T2 vs. Control DEGs: C5-1 / Spl</a:t>
            </a:r>
          </a:p>
          <a:p>
            <a:r>
              <a:t>原综合报告第17页。Displayed: 7 strongest FDR-ranked genes per direction, when available; full gene table linked in the source index.</a:t>
            </a:r>
          </a:p>
          <a:p>
            <a:r>
              <a:t>Original iNKT slide 19 layout; current Spl C5-1; current 20260905 DE.</a:t>
            </a:r>
          </a:p>
          <a:p>
            <a:r>
              <a:t>Displayed: 7 strongest FDR-ranked genes per direction, when available; full gene table linked in the source index.</a:t>
            </a:r>
          </a:p>
          <a:p>
            <a:r>
              <a:t>Source page: old_17; Main talk</a:t>
            </a:r>
          </a:p>
          <a:p>
            <a:r>
              <a:t>Independent graphics: assets/panels/old_17_*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T2 vs. Control DEGs: C5-2 / BM</a:t>
            </a:r>
          </a:p>
          <a:p>
            <a:r>
              <a:t>原综合报告第18页。Displayed: 7 strongest FDR-ranked genes per direction, when available; full gene table linked in the source index.</a:t>
            </a:r>
          </a:p>
          <a:p>
            <a:r>
              <a:t>Original iNKT cluster-DE layout; current BM C5-2; current 20260905 DE.</a:t>
            </a:r>
          </a:p>
          <a:p>
            <a:r>
              <a:t>Displayed: 7 strongest FDR-ranked genes per direction, when available; full gene table linked in the source index.</a:t>
            </a:r>
          </a:p>
          <a:p>
            <a:r>
              <a:t>Source page: old_18; Main talk</a:t>
            </a:r>
          </a:p>
          <a:p>
            <a:r>
              <a:t>Independent graphics: assets/panels/old_18_*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Pathways: C6 / Thy</a:t>
            </a:r>
          </a:p>
          <a:p>
            <a:r>
              <a:t>原综合报告第19页。Legacy/current cluster correspondence is a response comparison, not an identity claim; pathway versions and thresholds differ.</a:t>
            </a:r>
          </a:p>
          <a:p>
            <a:r>
              <a:t>Original iNKT slide 14; 20260905 PPT_pathway_validation_every_row.csv.</a:t>
            </a:r>
          </a:p>
          <a:p>
            <a:r>
              <a:t>Legacy/current cluster correspondence is a response comparison, not an identity claim; pathway versions and thresholds differ.</a:t>
            </a:r>
          </a:p>
          <a:p>
            <a:r>
              <a:t>Source page: old_19; Main talk</a:t>
            </a:r>
          </a:p>
          <a:p>
            <a:r>
              <a:t>Independent graphics: assets/panels/old_19_*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Pathways: C0 / BM</a:t>
            </a:r>
          </a:p>
          <a:p>
            <a:r>
              <a:t>原综合报告第20页。Legacy/current cluster correspondence is a response comparison, not an identity claim; pathway versions and thresholds differ.</a:t>
            </a:r>
          </a:p>
          <a:p>
            <a:r>
              <a:t>Original iNKT slide 18; 20260905 PPT_pathway_validation_every_row.csv.</a:t>
            </a:r>
          </a:p>
          <a:p>
            <a:r>
              <a:t>Legacy/current cluster correspondence is a response comparison, not an identity claim; pathway versions and thresholds differ.</a:t>
            </a:r>
          </a:p>
          <a:p>
            <a:r>
              <a:t>Source page: old_20; Main talk</a:t>
            </a:r>
          </a:p>
          <a:p>
            <a:r>
              <a:t>Independent graphics: assets/panels/old_20_*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Pathways: C5-1 / Spl</a:t>
            </a:r>
          </a:p>
          <a:p>
            <a:r>
              <a:t>原综合报告第21页。Legacy/current cluster correspondence is a response comparison, not an identity claim; pathway versions and thresholds differ.</a:t>
            </a:r>
          </a:p>
          <a:p>
            <a:r>
              <a:t>Original iNKT slide 20; 20260905 PPT_pathway_validation_every_row.csv.</a:t>
            </a:r>
          </a:p>
          <a:p>
            <a:r>
              <a:t>Legacy/current cluster correspondence is a response comparison, not an identity claim; pathway versions and thresholds differ.</a:t>
            </a:r>
          </a:p>
          <a:p>
            <a:r>
              <a:t>Source page: old_21; Main talk</a:t>
            </a:r>
          </a:p>
          <a:p>
            <a:r>
              <a:t>Independent graphics: assets/panels/old_21_*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  Differential expression: Control vs. Tumor</a:t>
            </a:r>
          </a:p>
          <a:p>
            <a:r>
              <a:t>原综合报告第22页。Color rule retained: gene BH FDR ≤ 0.05 and |log2FC| ≥ 0.25. Vertical display thresholds are therefore ±0.25.</a:t>
            </a:r>
          </a:p>
          <a:p>
            <a:r>
              <a:t>Blood Fig. 3D; current DE tables (20260905). Paper combines K1+K2; these panels do not claim that population equivalence.</a:t>
            </a:r>
          </a:p>
          <a:p>
            <a:r>
              <a:t>Color rule retained: gene BH FDR ≤ 0.05 and |log2FC| ≥ 0.25. Vertical display thresholds are therefore ±0.25.</a:t>
            </a:r>
          </a:p>
          <a:p>
            <a:r>
              <a:t>Source page: old_22; Main talk</a:t>
            </a:r>
          </a:p>
          <a:p>
            <a:r>
              <a:t>Independent graphics: assets/panels/old_22_*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  Paper pathways: C0 / BM</a:t>
            </a:r>
          </a:p>
          <a:p>
            <a:r>
              <a:t>原综合报告第23页。Score = −ln(nominal enrichment P), verified against Table S3; * pathway BH FDR ≤ 0.05. Scale does not remove method/library differences.</a:t>
            </a:r>
          </a:p>
          <a:p>
            <a:r>
              <a:t>Blood Fig. 3E/Table S3; our ORA: nominal DEG P ≤ 0.05, linear FC ≥ 1.5; frozen KEGG_2019_Mouse.</a:t>
            </a:r>
          </a:p>
          <a:p>
            <a:r>
              <a:t>Score = −ln(nominal enrichment P), verified against Table S3; * pathway BH FDR ≤ 0.05. Scale does not remove method/library differences.</a:t>
            </a:r>
          </a:p>
          <a:p>
            <a:r>
              <a:t>Source page: old_23; Main talk</a:t>
            </a:r>
          </a:p>
          <a:p>
            <a:r>
              <a:t>Independent graphics: assets/panels/old_23_*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  Paper pathways: C5-1 / Spl</a:t>
            </a:r>
          </a:p>
          <a:p>
            <a:r>
              <a:t>原综合报告第24页。Score = −ln(nominal enrichment P), verified against Table S3; * pathway BH FDR ≤ 0.05. Scale does not remove method/library differences.</a:t>
            </a:r>
          </a:p>
          <a:p>
            <a:r>
              <a:t>Blood Fig. 3E/Table S3; our ORA: nominal DEG P ≤ 0.05, linear FC ≥ 1.5; frozen KEGG_2019_Mouse.</a:t>
            </a:r>
          </a:p>
          <a:p>
            <a:r>
              <a:t>Score = −ln(nominal enrichment P), verified against Table S3; * pathway BH FDR ≤ 0.05. Scale does not remove method/library differences.</a:t>
            </a:r>
          </a:p>
          <a:p>
            <a:r>
              <a:t>Source page: old_24; Main talk</a:t>
            </a:r>
          </a:p>
          <a:p>
            <a:r>
              <a:t>Independent graphics: assets/panels/old_24_*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  Paper pathways: C6 / Thy</a:t>
            </a:r>
          </a:p>
          <a:p>
            <a:r>
              <a:t>原综合报告第25页。Score = −ln(nominal enrichment P), verified against Table S3; * pathway BH FDR ≤ 0.05. Scale does not remove method/library differences.</a:t>
            </a:r>
          </a:p>
          <a:p>
            <a:r>
              <a:t>Blood Fig. 3E/Table S3; our ORA: nominal DEG P ≤ 0.05, linear FC ≥ 1.5; frozen KEGG_2019_Mouse.</a:t>
            </a:r>
          </a:p>
          <a:p>
            <a:r>
              <a:t>Score = −ln(nominal enrichment P), verified against Table S3; * pathway BH FDR ≤ 0.05. Scale does not remove method/library differences.</a:t>
            </a:r>
          </a:p>
          <a:p>
            <a:r>
              <a:t>Source page: old_25; Main talk</a:t>
            </a:r>
          </a:p>
          <a:p>
            <a:r>
              <a:t>Independent graphics: assets/panels/old_25_*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  Current top pathways: C0 / BM</a:t>
            </a:r>
          </a:p>
          <a:p>
            <a:r>
              <a:t>原综合报告第26页。Top 10 by pathway BH FDR, then nominal P and term name; rows without * are not FDR-significant. No post-hoc pathway renaming.</a:t>
            </a:r>
          </a:p>
          <a:p>
            <a:r>
              <a:t>Blood Fig. 3E presentation adapted to current data; exact tested KEGG terms retained.</a:t>
            </a:r>
          </a:p>
          <a:p>
            <a:r>
              <a:t>Top 10 by pathway BH FDR, then nominal P and term name; rows without * are not FDR-significant. No post-hoc pathway renaming.</a:t>
            </a:r>
          </a:p>
          <a:p>
            <a:r>
              <a:t>Source page: old_26; Main talk</a:t>
            </a:r>
          </a:p>
          <a:p>
            <a:r>
              <a:t>Independent graphics: assets/panels/old_26_*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  Current top pathways: C5-1 / Spl</a:t>
            </a:r>
          </a:p>
          <a:p>
            <a:r>
              <a:t>原综合报告第27页。Top 10 by pathway BH FDR, then nominal P and term name; rows without * are not FDR-significant. No post-hoc pathway renaming.</a:t>
            </a:r>
          </a:p>
          <a:p>
            <a:r>
              <a:t>Blood Fig. 3E presentation adapted to current data; exact tested KEGG terms retained.</a:t>
            </a:r>
          </a:p>
          <a:p>
            <a:r>
              <a:t>Top 10 by pathway BH FDR, then nominal P and term name; rows without * are not FDR-significant. No post-hoc pathway renaming.</a:t>
            </a:r>
          </a:p>
          <a:p>
            <a:r>
              <a:t>Source page: old_27; Main talk</a:t>
            </a:r>
          </a:p>
          <a:p>
            <a:r>
              <a:t>Independent graphics: assets/panels/old_27_*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  Current top pathways: C6 / Thy</a:t>
            </a:r>
          </a:p>
          <a:p>
            <a:r>
              <a:t>原综合报告第28页。Top 10 by pathway BH FDR, then nominal P and term name; rows without * are not FDR-significant. No post-hoc pathway renaming.</a:t>
            </a:r>
          </a:p>
          <a:p>
            <a:r>
              <a:t>Blood Fig. 3E presentation adapted to current data; exact tested KEGG terms retained.</a:t>
            </a:r>
          </a:p>
          <a:p>
            <a:r>
              <a:t>Top 10 by pathway BH FDR, then nominal P and term name; rows without * are not FDR-significant. No post-hoc pathway renaming.</a:t>
            </a:r>
          </a:p>
          <a:p>
            <a:r>
              <a:t>Source page: old_28; Main talk</a:t>
            </a:r>
          </a:p>
          <a:p>
            <a:r>
              <a:t>Independent graphics: assets/panels/old_28_*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  Shared T2-up genes across state × tissue</a:t>
            </a:r>
          </a:p>
          <a:p>
            <a:r>
              <a:t>原综合报告第29页。All-four intersection = 0 in both rules. This does not establish absence of shared biology; set membership depends on thresholds.</a:t>
            </a:r>
          </a:p>
          <a:p>
            <a:r>
              <a:t>Blood Fig. 3F; original C5 overlap memberships from 20260830; geometry is schematic, not area-proportional.</a:t>
            </a:r>
          </a:p>
          <a:p>
            <a:r>
              <a:t>All-four intersection = 0 in both rules. This does not establish absence of shared biology; set membership depends on thresholds.</a:t>
            </a:r>
          </a:p>
          <a:p>
            <a:r>
              <a:t>Source page: old_29; Main talk</a:t>
            </a:r>
          </a:p>
          <a:p>
            <a:r>
              <a:t>Independent graphics: assets/panels/old_29_*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Batch sensitivity: show the actual UMAPs</a:t>
            </a:r>
          </a:p>
          <a:p>
            <a:r>
              <a:t>原综合报告第30页。Integration increases mixing but changes condition/cluster structure. An independently identified technical batch is unavailable.</a:t>
            </a:r>
          </a:p>
          <a:p>
            <a:r>
              <a:t>R01 from the 20260906 report; embedding objects and metrics generated on 20260905.</a:t>
            </a:r>
          </a:p>
          <a:p>
            <a:r>
              <a:t>Integration increases mixing but changes condition/cluster structure. An independently identified technical batch is unavailable.</a:t>
            </a:r>
          </a:p>
          <a:p>
            <a:r>
              <a:t>Source page: old_30; Main talk</a:t>
            </a:r>
          </a:p>
          <a:p>
            <a:r>
              <a:t>Independent graphics: assets/panels/old_30_*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Additional analysis: signed GSEA and heat-shock sensitivity</a:t>
            </a:r>
          </a:p>
          <a:p>
            <a:r>
              <a:t>原综合报告第31页。Red/blue represent signed NES; symbols use GSEA q. Hsp/Dnaj masking changes the ranking and tested gene sets.</a:t>
            </a:r>
          </a:p>
          <a:p>
            <a:r>
              <a:t>20260905 existing GSEA; this is not the enrichment-score plot of Blood Fig. 3E.</a:t>
            </a:r>
          </a:p>
          <a:p>
            <a:r>
              <a:t>Red/blue represent signed NES; symbols use GSEA q. Hsp/Dnaj masking changes the ranking and tested gene sets.</a:t>
            </a:r>
          </a:p>
          <a:p>
            <a:r>
              <a:t>Source page: old_31; Main talk</a:t>
            </a:r>
          </a:p>
          <a:p>
            <a:r>
              <a:t>Independent graphics: assets/panels/old_31_*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Additional analysis: reference NK state coverage</a:t>
            </a:r>
          </a:p>
          <a:p>
            <a:r>
              <a:t>原综合报告第32页。Adaptive state is not reliably scoreable. These continuous programs do not establish the paper NK cluster identities.</a:t>
            </a:r>
          </a:p>
          <a:p>
            <a:r>
              <a:t>R02; original 20260905 full-feature state-score output.</a:t>
            </a:r>
          </a:p>
          <a:p>
            <a:r>
              <a:t>Adaptive state is not reliably scoreable. These continuous programs do not establish the paper NK cluster identities.</a:t>
            </a:r>
          </a:p>
          <a:p>
            <a:r>
              <a:t>Source page: old_32; Main talk</a:t>
            </a:r>
          </a:p>
          <a:p>
            <a:r>
              <a:t>Independent graphics: assets/panels/old_32_*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Additional analysis: bone marrow separately</a:t>
            </a:r>
          </a:p>
          <a:p>
            <a:r>
              <a:t>原综合报告第33页。New within-tissue labels differ from original C# labels; use saved cell-overlap tables for correspondence.</a:t>
            </a:r>
          </a:p>
          <a:p>
            <a:r>
              <a:t>R03; 20260905 stability-selected bone marrow output.</a:t>
            </a:r>
          </a:p>
          <a:p>
            <a:r>
              <a:t>New within-tissue labels differ from original C# labels; use saved cell-overlap tables for correspondence.</a:t>
            </a:r>
          </a:p>
          <a:p>
            <a:r>
              <a:t>Source page: old_33; Main talk</a:t>
            </a:r>
          </a:p>
          <a:p>
            <a:r>
              <a:t>Independent graphics: assets/panels/old_33_*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IL-4 and CD94: condition-masked expression</a:t>
            </a:r>
          </a:p>
          <a:p>
            <a:r>
              <a:t>原综合报告第34页。Complementarity is weak, not strict exclusivity. UMAP positions are not physical tissue locations or RNA velocity.</a:t>
            </a:r>
          </a:p>
          <a:p>
            <a:r>
              <a:t>20260830 condition-mask output; marker display requested in the earlier meeting.</a:t>
            </a:r>
          </a:p>
          <a:p>
            <a:r>
              <a:t>Complementarity is weak, not strict exclusivity. UMAP positions are not physical tissue locations or RNA velocity.</a:t>
            </a:r>
          </a:p>
          <a:p>
            <a:r>
              <a:t>Source page: old_34; Main talk</a:t>
            </a:r>
          </a:p>
          <a:p>
            <a:r>
              <a:t>Independent graphics: assets/panels/old_34_*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Local information: bone marrow C4</a:t>
            </a:r>
          </a:p>
          <a:p>
            <a:r>
              <a:t>原综合报告第35页。Same-data sensitivity checks support a candidate, not an independent replicate or established mechanism.</a:t>
            </a:r>
          </a:p>
          <a:p>
            <a:r>
              <a:t>R13; 20260905 discovery results; relates to the local-vs-global question in original iNKT slides 27–28.</a:t>
            </a:r>
          </a:p>
          <a:p>
            <a:r>
              <a:t>Same-data sensitivity checks support a candidate, not an independent replicate or established mechanism.</a:t>
            </a:r>
          </a:p>
          <a:p>
            <a:r>
              <a:t>Source page: old_35; Main talk</a:t>
            </a:r>
          </a:p>
          <a:p>
            <a:r>
              <a:t>Independent graphics: assets/panels/old_35_*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Local information: spleen C3 CCT/TriC program</a:t>
            </a:r>
          </a:p>
          <a:p>
            <a:r>
              <a:t>原综合报告第36页。Shared driver genes link several pathway names. Expression evidence does not directly measure protein-folding or killing function.</a:t>
            </a:r>
          </a:p>
          <a:p>
            <a:r>
              <a:t>R13; 20260905 discovery output.</a:t>
            </a:r>
          </a:p>
          <a:p>
            <a:r>
              <a:t>Shared driver genes link several pathway names. Expression evidence does not directly measure protein-folding or killing function.</a:t>
            </a:r>
          </a:p>
          <a:p>
            <a:r>
              <a:t>Source page: old_36; Main talk</a:t>
            </a:r>
          </a:p>
          <a:p>
            <a:r>
              <a:t>Independent graphics: assets/panels/old_36_*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is comparable, and what remains different</a:t>
            </a:r>
          </a:p>
          <a:p>
            <a:r>
              <a:t>原综合报告第37页。Current priority: BM C4 expression-state candidates and Spl C3 CCT/TriC-related expression; independent validation remains pending.</a:t>
            </a:r>
          </a:p>
          <a:p>
            <a:r>
              <a:t>Original iNKT deck and Blood main/supplementary figures reviewed; see presentation_audit.md for the full mapping.</a:t>
            </a:r>
          </a:p>
          <a:p>
            <a:r>
              <a:t>Current priority: BM C4 expression-state candidates and Spl C3 CCT/TriC-related expression; independent validation remains pending.</a:t>
            </a:r>
          </a:p>
          <a:p>
            <a:r>
              <a:t>Source page: old_37; Main talk</a:t>
            </a:r>
          </a:p>
          <a:p>
            <a:r>
              <a:t>Independent graphics: assets/panels/old_37_*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panel1.svg"/><Relationship Id="rId4" Type="http://schemas.openxmlformats.org/officeDocument/2006/relationships/image" Target="../media/image2.png"/><Relationship Id="rId5" Type="http://schemas.openxmlformats.org/officeDocument/2006/relationships/image" Target="../media/panel2.svg"/><Relationship Id="rId6" Type="http://schemas.openxmlformats.org/officeDocument/2006/relationships/image" Target="../media/image3.png"/><Relationship Id="rId7" Type="http://schemas.openxmlformats.org/officeDocument/2006/relationships/image" Target="../media/panel3.svg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panel4.svg"/><Relationship Id="rId4" Type="http://schemas.openxmlformats.org/officeDocument/2006/relationships/image" Target="../media/image5.png"/><Relationship Id="rId5" Type="http://schemas.openxmlformats.org/officeDocument/2006/relationships/image" Target="../media/panel5.svg"/><Relationship Id="rId6" Type="http://schemas.openxmlformats.org/officeDocument/2006/relationships/image" Target="../media/image6.png"/><Relationship Id="rId7" Type="http://schemas.openxmlformats.org/officeDocument/2006/relationships/image" Target="../media/panel6.svg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panel7.svg"/><Relationship Id="rId4" Type="http://schemas.openxmlformats.org/officeDocument/2006/relationships/image" Target="../media/image9.png"/><Relationship Id="rId5" Type="http://schemas.openxmlformats.org/officeDocument/2006/relationships/image" Target="../media/panel8.svg"/><Relationship Id="rId6" Type="http://schemas.openxmlformats.org/officeDocument/2006/relationships/image" Target="../media/image10.png"/><Relationship Id="rId7" Type="http://schemas.openxmlformats.org/officeDocument/2006/relationships/image" Target="../media/panel9.svg"/><Relationship Id="rId8" Type="http://schemas.openxmlformats.org/officeDocument/2006/relationships/image" Target="../media/image11.png"/><Relationship Id="rId9" Type="http://schemas.openxmlformats.org/officeDocument/2006/relationships/image" Target="../media/panel10.svg"/><Relationship Id="rId10" Type="http://schemas.openxmlformats.org/officeDocument/2006/relationships/image" Target="../media/image12.png"/><Relationship Id="rId11" Type="http://schemas.openxmlformats.org/officeDocument/2006/relationships/image" Target="../media/panel11.svg"/><Relationship Id="rId12" Type="http://schemas.openxmlformats.org/officeDocument/2006/relationships/image" Target="../media/image13.png"/><Relationship Id="rId13" Type="http://schemas.openxmlformats.org/officeDocument/2006/relationships/image" Target="../media/panel12.svg"/><Relationship Id="rId14" Type="http://schemas.openxmlformats.org/officeDocument/2006/relationships/image" Target="../media/image14.png"/><Relationship Id="rId15" Type="http://schemas.openxmlformats.org/officeDocument/2006/relationships/image" Target="../media/panel13.svg"/><Relationship Id="rId16" Type="http://schemas.openxmlformats.org/officeDocument/2006/relationships/image" Target="../media/image15.png"/><Relationship Id="rId17" Type="http://schemas.openxmlformats.org/officeDocument/2006/relationships/image" Target="../media/panel14.svg"/><Relationship Id="rId18" Type="http://schemas.openxmlformats.org/officeDocument/2006/relationships/image" Target="../media/image16.png"/><Relationship Id="rId19" Type="http://schemas.openxmlformats.org/officeDocument/2006/relationships/image" Target="../media/panel15.svg"/><Relationship Id="rId20" Type="http://schemas.openxmlformats.org/officeDocument/2006/relationships/image" Target="../media/image17.png"/><Relationship Id="rId21" Type="http://schemas.openxmlformats.org/officeDocument/2006/relationships/image" Target="../media/panel16.svg"/><Relationship Id="rId22" Type="http://schemas.openxmlformats.org/officeDocument/2006/relationships/image" Target="../media/image18.png"/><Relationship Id="rId23" Type="http://schemas.openxmlformats.org/officeDocument/2006/relationships/image" Target="../media/panel17.svg"/><Relationship Id="rId2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panel18.svg"/><Relationship Id="rId4" Type="http://schemas.openxmlformats.org/officeDocument/2006/relationships/image" Target="../media/image20.png"/><Relationship Id="rId5" Type="http://schemas.openxmlformats.org/officeDocument/2006/relationships/image" Target="../media/panel19.svg"/><Relationship Id="rId6" Type="http://schemas.openxmlformats.org/officeDocument/2006/relationships/image" Target="../media/image21.png"/><Relationship Id="rId7" Type="http://schemas.openxmlformats.org/officeDocument/2006/relationships/image" Target="../media/panel20.svg"/><Relationship Id="rId8" Type="http://schemas.openxmlformats.org/officeDocument/2006/relationships/image" Target="../media/image22.png"/><Relationship Id="rId9" Type="http://schemas.openxmlformats.org/officeDocument/2006/relationships/image" Target="../media/panel21.svg"/><Relationship Id="rId10" Type="http://schemas.openxmlformats.org/officeDocument/2006/relationships/image" Target="../media/image23.png"/><Relationship Id="rId11" Type="http://schemas.openxmlformats.org/officeDocument/2006/relationships/image" Target="../media/panel22.svg"/><Relationship Id="rId12" Type="http://schemas.openxmlformats.org/officeDocument/2006/relationships/image" Target="../media/image24.png"/><Relationship Id="rId13" Type="http://schemas.openxmlformats.org/officeDocument/2006/relationships/image" Target="../media/panel23.svg"/><Relationship Id="rId14" Type="http://schemas.openxmlformats.org/officeDocument/2006/relationships/image" Target="../media/image25.png"/><Relationship Id="rId15" Type="http://schemas.openxmlformats.org/officeDocument/2006/relationships/image" Target="../media/panel24.svg"/><Relationship Id="rId16" Type="http://schemas.openxmlformats.org/officeDocument/2006/relationships/image" Target="../media/image26.png"/><Relationship Id="rId17" Type="http://schemas.openxmlformats.org/officeDocument/2006/relationships/image" Target="../media/panel25.svg"/><Relationship Id="rId18" Type="http://schemas.openxmlformats.org/officeDocument/2006/relationships/image" Target="../media/image27.png"/><Relationship Id="rId19" Type="http://schemas.openxmlformats.org/officeDocument/2006/relationships/image" Target="../media/panel26.svg"/><Relationship Id="rId20" Type="http://schemas.openxmlformats.org/officeDocument/2006/relationships/image" Target="../media/image28.png"/><Relationship Id="rId21" Type="http://schemas.openxmlformats.org/officeDocument/2006/relationships/image" Target="../media/panel27.svg"/><Relationship Id="rId22" Type="http://schemas.openxmlformats.org/officeDocument/2006/relationships/image" Target="../media/image29.png"/><Relationship Id="rId23" Type="http://schemas.openxmlformats.org/officeDocument/2006/relationships/image" Target="../media/panel28.svg"/><Relationship Id="rId24" Type="http://schemas.openxmlformats.org/officeDocument/2006/relationships/image" Target="../media/image30.png"/><Relationship Id="rId25" Type="http://schemas.openxmlformats.org/officeDocument/2006/relationships/image" Target="../media/panel29.svg"/><Relationship Id="rId26" Type="http://schemas.openxmlformats.org/officeDocument/2006/relationships/image" Target="../media/image31.png"/><Relationship Id="rId27" Type="http://schemas.openxmlformats.org/officeDocument/2006/relationships/image" Target="../media/panel30.svg"/><Relationship Id="rId28" Type="http://schemas.openxmlformats.org/officeDocument/2006/relationships/image" Target="../media/image32.png"/><Relationship Id="rId29" Type="http://schemas.openxmlformats.org/officeDocument/2006/relationships/image" Target="../media/panel31.svg"/><Relationship Id="rId30" Type="http://schemas.openxmlformats.org/officeDocument/2006/relationships/image" Target="../media/image33.png"/><Relationship Id="rId31" Type="http://schemas.openxmlformats.org/officeDocument/2006/relationships/image" Target="../media/panel32.svg"/><Relationship Id="rId3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panel33.svg"/><Relationship Id="rId4" Type="http://schemas.openxmlformats.org/officeDocument/2006/relationships/image" Target="../media/image35.png"/><Relationship Id="rId5" Type="http://schemas.openxmlformats.org/officeDocument/2006/relationships/image" Target="../media/panel34.svg"/><Relationship Id="rId6" Type="http://schemas.openxmlformats.org/officeDocument/2006/relationships/image" Target="../media/image36.png"/><Relationship Id="rId7" Type="http://schemas.openxmlformats.org/officeDocument/2006/relationships/image" Target="../media/panel35.svg"/><Relationship Id="rId8" Type="http://schemas.openxmlformats.org/officeDocument/2006/relationships/image" Target="../media/image37.png"/><Relationship Id="rId9" Type="http://schemas.openxmlformats.org/officeDocument/2006/relationships/image" Target="../media/panel36.svg"/><Relationship Id="rId10" Type="http://schemas.openxmlformats.org/officeDocument/2006/relationships/image" Target="../media/image38.png"/><Relationship Id="rId11" Type="http://schemas.openxmlformats.org/officeDocument/2006/relationships/image" Target="../media/panel37.svg"/><Relationship Id="rId12" Type="http://schemas.openxmlformats.org/officeDocument/2006/relationships/image" Target="../media/image39.png"/><Relationship Id="rId13" Type="http://schemas.openxmlformats.org/officeDocument/2006/relationships/image" Target="../media/panel38.svg"/><Relationship Id="rId14" Type="http://schemas.openxmlformats.org/officeDocument/2006/relationships/image" Target="../media/image40.png"/><Relationship Id="rId15" Type="http://schemas.openxmlformats.org/officeDocument/2006/relationships/image" Target="../media/panel39.svg"/><Relationship Id="rId16" Type="http://schemas.openxmlformats.org/officeDocument/2006/relationships/image" Target="../media/image30.png"/><Relationship Id="rId17" Type="http://schemas.openxmlformats.org/officeDocument/2006/relationships/image" Target="../media/panel40.svg"/><Relationship Id="rId18" Type="http://schemas.openxmlformats.org/officeDocument/2006/relationships/image" Target="../media/image31.png"/><Relationship Id="rId19" Type="http://schemas.openxmlformats.org/officeDocument/2006/relationships/image" Target="../media/panel41.svg"/><Relationship Id="rId20" Type="http://schemas.openxmlformats.org/officeDocument/2006/relationships/image" Target="../media/image41.png"/><Relationship Id="rId21" Type="http://schemas.openxmlformats.org/officeDocument/2006/relationships/image" Target="../media/panel42.svg"/><Relationship Id="rId22" Type="http://schemas.openxmlformats.org/officeDocument/2006/relationships/image" Target="../media/image42.png"/><Relationship Id="rId23" Type="http://schemas.openxmlformats.org/officeDocument/2006/relationships/image" Target="../media/panel43.svg"/><Relationship Id="rId2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panel44.svg"/><Relationship Id="rId4" Type="http://schemas.openxmlformats.org/officeDocument/2006/relationships/image" Target="../media/image44.png"/><Relationship Id="rId5" Type="http://schemas.openxmlformats.org/officeDocument/2006/relationships/image" Target="../media/panel45.svg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panel46.svg"/><Relationship Id="rId4" Type="http://schemas.openxmlformats.org/officeDocument/2006/relationships/image" Target="../media/image46.png"/><Relationship Id="rId5" Type="http://schemas.openxmlformats.org/officeDocument/2006/relationships/image" Target="../media/panel47.svg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panel48.svg"/><Relationship Id="rId4" Type="http://schemas.openxmlformats.org/officeDocument/2006/relationships/image" Target="../media/image48.png"/><Relationship Id="rId5" Type="http://schemas.openxmlformats.org/officeDocument/2006/relationships/image" Target="../media/panel49.svg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panel50.svg"/><Relationship Id="rId4" Type="http://schemas.openxmlformats.org/officeDocument/2006/relationships/image" Target="../media/image50.png"/><Relationship Id="rId5" Type="http://schemas.openxmlformats.org/officeDocument/2006/relationships/image" Target="../media/panel51.svg"/><Relationship Id="rId6" Type="http://schemas.openxmlformats.org/officeDocument/2006/relationships/image" Target="../media/image51.png"/><Relationship Id="rId7" Type="http://schemas.openxmlformats.org/officeDocument/2006/relationships/image" Target="../media/panel52.svg"/><Relationship Id="rId8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panel53.svg"/><Relationship Id="rId4" Type="http://schemas.openxmlformats.org/officeDocument/2006/relationships/image" Target="../media/image53.png"/><Relationship Id="rId5" Type="http://schemas.openxmlformats.org/officeDocument/2006/relationships/image" Target="../media/panel54.svg"/><Relationship Id="rId6" Type="http://schemas.openxmlformats.org/officeDocument/2006/relationships/image" Target="../media/image54.png"/><Relationship Id="rId7" Type="http://schemas.openxmlformats.org/officeDocument/2006/relationships/image" Target="../media/panel55.svg"/><Relationship Id="rId8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panel56.svg"/><Relationship Id="rId4" Type="http://schemas.openxmlformats.org/officeDocument/2006/relationships/image" Target="../media/image56.png"/><Relationship Id="rId5" Type="http://schemas.openxmlformats.org/officeDocument/2006/relationships/image" Target="../media/panel57.svg"/><Relationship Id="rId6" Type="http://schemas.openxmlformats.org/officeDocument/2006/relationships/image" Target="../media/image57.png"/><Relationship Id="rId7" Type="http://schemas.openxmlformats.org/officeDocument/2006/relationships/image" Target="../media/panel58.svg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panel59.svg"/><Relationship Id="rId4" Type="http://schemas.openxmlformats.org/officeDocument/2006/relationships/image" Target="../media/image59.png"/><Relationship Id="rId5" Type="http://schemas.openxmlformats.org/officeDocument/2006/relationships/image" Target="../media/panel60.svg"/><Relationship Id="rId6" Type="http://schemas.openxmlformats.org/officeDocument/2006/relationships/image" Target="../media/image60.png"/><Relationship Id="rId7" Type="http://schemas.openxmlformats.org/officeDocument/2006/relationships/image" Target="../media/panel61.svg"/><Relationship Id="rId8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image" Target="../media/panel62.svg"/><Relationship Id="rId4" Type="http://schemas.openxmlformats.org/officeDocument/2006/relationships/image" Target="../media/image62.png"/><Relationship Id="rId5" Type="http://schemas.openxmlformats.org/officeDocument/2006/relationships/image" Target="../media/panel63.svg"/><Relationship Id="rId6" Type="http://schemas.openxmlformats.org/officeDocument/2006/relationships/image" Target="../media/image63.png"/><Relationship Id="rId7" Type="http://schemas.openxmlformats.org/officeDocument/2006/relationships/image" Target="../media/panel64.svg"/><Relationship Id="rId8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panel65.svg"/><Relationship Id="rId4" Type="http://schemas.openxmlformats.org/officeDocument/2006/relationships/image" Target="../media/image65.png"/><Relationship Id="rId5" Type="http://schemas.openxmlformats.org/officeDocument/2006/relationships/image" Target="../media/panel66.svg"/><Relationship Id="rId6" Type="http://schemas.openxmlformats.org/officeDocument/2006/relationships/image" Target="../media/image66.png"/><Relationship Id="rId7" Type="http://schemas.openxmlformats.org/officeDocument/2006/relationships/image" Target="../media/panel67.svg"/><Relationship Id="rId8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panel68.svg"/><Relationship Id="rId4" Type="http://schemas.openxmlformats.org/officeDocument/2006/relationships/image" Target="../media/image68.png"/><Relationship Id="rId5" Type="http://schemas.openxmlformats.org/officeDocument/2006/relationships/image" Target="../media/panel69.svg"/><Relationship Id="rId6" Type="http://schemas.openxmlformats.org/officeDocument/2006/relationships/image" Target="../media/image69.png"/><Relationship Id="rId7" Type="http://schemas.openxmlformats.org/officeDocument/2006/relationships/image" Target="../media/panel70.svg"/><Relationship Id="rId8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panel71.svg"/><Relationship Id="rId4" Type="http://schemas.openxmlformats.org/officeDocument/2006/relationships/image" Target="../media/image71.png"/><Relationship Id="rId5" Type="http://schemas.openxmlformats.org/officeDocument/2006/relationships/image" Target="../media/panel72.svg"/><Relationship Id="rId6" Type="http://schemas.openxmlformats.org/officeDocument/2006/relationships/image" Target="../media/image72.png"/><Relationship Id="rId7" Type="http://schemas.openxmlformats.org/officeDocument/2006/relationships/image" Target="../media/panel73.svg"/><Relationship Id="rId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panel74.svg"/><Relationship Id="rId4" Type="http://schemas.openxmlformats.org/officeDocument/2006/relationships/image" Target="../media/image74.png"/><Relationship Id="rId5" Type="http://schemas.openxmlformats.org/officeDocument/2006/relationships/image" Target="../media/panel75.svg"/><Relationship Id="rId6" Type="http://schemas.openxmlformats.org/officeDocument/2006/relationships/image" Target="../media/image75.png"/><Relationship Id="rId7" Type="http://schemas.openxmlformats.org/officeDocument/2006/relationships/image" Target="../media/panel76.svg"/><Relationship Id="rId8" Type="http://schemas.openxmlformats.org/officeDocument/2006/relationships/image" Target="../media/image76.png"/><Relationship Id="rId9" Type="http://schemas.openxmlformats.org/officeDocument/2006/relationships/image" Target="../media/panel77.svg"/><Relationship Id="rId10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panel78.svg"/><Relationship Id="rId4" Type="http://schemas.openxmlformats.org/officeDocument/2006/relationships/image" Target="../media/image78.png"/><Relationship Id="rId5" Type="http://schemas.openxmlformats.org/officeDocument/2006/relationships/image" Target="../media/panel79.svg"/><Relationship Id="rId6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image" Target="../media/panel80.svg"/><Relationship Id="rId4" Type="http://schemas.openxmlformats.org/officeDocument/2006/relationships/image" Target="../media/image78.png"/><Relationship Id="rId5" Type="http://schemas.openxmlformats.org/officeDocument/2006/relationships/image" Target="../media/panel81.svg"/><Relationship Id="rId6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image" Target="../media/panel82.svg"/><Relationship Id="rId4" Type="http://schemas.openxmlformats.org/officeDocument/2006/relationships/image" Target="../media/image78.png"/><Relationship Id="rId5" Type="http://schemas.openxmlformats.org/officeDocument/2006/relationships/image" Target="../media/panel83.svg"/><Relationship Id="rId6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Relationship Id="rId3" Type="http://schemas.openxmlformats.org/officeDocument/2006/relationships/image" Target="../media/panel84.svg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panel85.sv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panel86.svg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Relationship Id="rId3" Type="http://schemas.openxmlformats.org/officeDocument/2006/relationships/image" Target="../media/panel87.svg"/><Relationship Id="rId4" Type="http://schemas.openxmlformats.org/officeDocument/2006/relationships/image" Target="../media/image85.png"/><Relationship Id="rId5" Type="http://schemas.openxmlformats.org/officeDocument/2006/relationships/image" Target="../media/panel88.svg"/><Relationship Id="rId6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Relationship Id="rId3" Type="http://schemas.openxmlformats.org/officeDocument/2006/relationships/image" Target="../media/panel89.svg"/><Relationship Id="rId4" Type="http://schemas.openxmlformats.org/officeDocument/2006/relationships/image" Target="../media/image87.png"/><Relationship Id="rId5" Type="http://schemas.openxmlformats.org/officeDocument/2006/relationships/image" Target="../media/panel90.svg"/><Relationship Id="rId6" Type="http://schemas.openxmlformats.org/officeDocument/2006/relationships/image" Target="../media/image88.png"/><Relationship Id="rId7" Type="http://schemas.openxmlformats.org/officeDocument/2006/relationships/image" Target="../media/panel91.svg"/><Relationship Id="rId8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Editable numerical / explanatory table"/>
          <p:cNvGraphicFramePr>
            <a:graphicFrameLocks noGrp="1"/>
          </p:cNvGraphicFramePr>
          <p:nvPr/>
        </p:nvGraphicFramePr>
        <p:xfrm>
          <a:off x="585216" y="1645919"/>
          <a:ext cx="13459966" cy="42793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3390"/>
                <a:gridCol w="2691993"/>
                <a:gridCol w="6864583"/>
              </a:tblGrid>
              <a:tr h="611341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</a:rPr>
                        <a:t>Analysis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</a:rPr>
                        <a:t>Reference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</a:rPr>
                        <a:t>Presentation used here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611341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Sample/QC, markers, DEG and pathway pages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Original iNKT deck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Counts + plots; gene dotplots + numerical tables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611341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Cluster composition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Blood Fig. 3C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Two 100% stacked-bar plots, each with its own denominator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611341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Differential expression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Blood Fig. 3D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Volcano: log2FC vs −log10 nominal P; blue/red direction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611341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Up-DEG pathway enrichment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Blood Fig. 3E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Single score column, −ln(P), with driver-gene callouts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611341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Shared upregulated genes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Blood Fig. 3F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Four-set Venn; identical saved membership and exact counts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611341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Signed GSEA; batch/state sensitivity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Additional analyses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Separate figures; NES is not the paper enrichment score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title | iNKT: results in the reference presentation formats"/>
          <p:cNvSpPr txBox="1"/>
          <p:nvPr/>
        </p:nvSpPr>
        <p:spPr>
          <a:xfrm>
            <a:off x="512064" y="402335"/>
            <a:ext cx="8929116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iNKT: results in the reference presentation formats</a:t>
            </a:r>
          </a:p>
        </p:txBody>
      </p:sp>
      <p:sp>
        <p:nvSpPr>
          <p:cNvPr id="4" name="figure_text | Existing analyses from July–September 2026 • presentation revisio"/>
          <p:cNvSpPr txBox="1"/>
          <p:nvPr/>
        </p:nvSpPr>
        <p:spPr>
          <a:xfrm>
            <a:off x="512064" y="838504"/>
            <a:ext cx="7309336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Existing analyses from July–September 2026 • presentation revision: 15 September 2026</a:t>
            </a:r>
          </a:p>
        </p:txBody>
      </p:sp>
      <p:sp>
        <p:nvSpPr>
          <p:cNvPr id="5" name="figure_text | Same analytical question → same figure grammar. Different algorit"/>
          <p:cNvSpPr txBox="1"/>
          <p:nvPr/>
        </p:nvSpPr>
        <p:spPr>
          <a:xfrm>
            <a:off x="512064" y="7578547"/>
            <a:ext cx="8139657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Same analytical question → same figure grammar. Different algorithms, populations and thresholds are stated explicitly.</a:t>
            </a:r>
          </a:p>
        </p:txBody>
      </p:sp>
      <p:sp>
        <p:nvSpPr>
          <p:cNvPr id="6" name="figure_text | References: original iNKT.pptx (33 slides); Kuznetsova et al., Bl"/>
          <p:cNvSpPr txBox="1"/>
          <p:nvPr/>
        </p:nvSpPr>
        <p:spPr>
          <a:xfrm>
            <a:off x="512064" y="7939735"/>
            <a:ext cx="6368613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References: original iNKT.pptx (33 slides); Kuznetsova et al., Blood Advances 2025, Figure 3 and Tables S3/S5.</a:t>
            </a:r>
          </a:p>
        </p:txBody>
      </p:sp>
      <p:sp>
        <p:nvSpPr>
          <p:cNvPr id="7" name="page_number | 1"/>
          <p:cNvSpPr txBox="1"/>
          <p:nvPr/>
        </p:nvSpPr>
        <p:spPr>
          <a:xfrm>
            <a:off x="14045184" y="7944333"/>
            <a:ext cx="149230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8" name="figure_text | Our cells are iNKT; the Blood paper studies NK cells. Current C# "/>
          <p:cNvSpPr txBox="1"/>
          <p:nvPr/>
        </p:nvSpPr>
        <p:spPr>
          <a:xfrm>
            <a:off x="731520" y="6519672"/>
            <a:ext cx="10180838" cy="253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Our cells are iNKT; the Blood paper studies NK cells. Current C# labels are not paper K# or legacy c# identities.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old_02_panel_02" descr="old_02_panel_02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6723380" y="2112263"/>
            <a:ext cx="2448051" cy="3346704"/>
          </a:xfrm>
          <a:prstGeom prst="rect">
            <a:avLst/>
          </a:prstGeom>
        </p:spPr>
      </p:pic>
      <p:pic>
        <p:nvPicPr>
          <p:cNvPr id="3" name="plot_panel | old_02_panel_03" descr="old_02_panel_03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9055100" y="2109443"/>
            <a:ext cx="2530347" cy="3413012"/>
          </a:xfrm>
          <a:prstGeom prst="rect">
            <a:avLst/>
          </a:prstGeom>
        </p:spPr>
      </p:pic>
      <p:pic>
        <p:nvPicPr>
          <p:cNvPr id="4" name="plot_panel | old_02_panel_04" descr="old_02_panel_04.png"/>
          <p:cNvPicPr>
            <a:picLocks noChangeAspect="1"/>
          </p:cNvPicPr>
          <p:nvPr/>
        </p:nvPicPr>
        <p:blipFill>
          <a:blip r:embed="rId6">
            <a:extLst xmlns:asvg="http://schemas.microsoft.com/office/drawing/2016/SVG/main"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11798300" y="2112263"/>
            <a:ext cx="2201163" cy="3346704"/>
          </a:xfrm>
          <a:prstGeom prst="rect">
            <a:avLst/>
          </a:prstGeom>
        </p:spPr>
      </p:pic>
      <p:graphicFrame>
        <p:nvGraphicFramePr>
          <p:cNvPr id="5" name="Editable numerical / explanatory table"/>
          <p:cNvGraphicFramePr>
            <a:graphicFrameLocks noGrp="1"/>
          </p:cNvGraphicFramePr>
          <p:nvPr/>
        </p:nvGraphicFramePr>
        <p:xfrm>
          <a:off x="585216" y="1645919"/>
          <a:ext cx="5559552" cy="41147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9776"/>
                <a:gridCol w="1389888"/>
                <a:gridCol w="1389888"/>
              </a:tblGrid>
              <a:tr h="5878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</a:rPr>
                        <a:t>Input cells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</a:rPr>
                        <a:t>Retained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Ctrl_Thymus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2101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1372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Ctrl_BM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3998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3379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Ctrl_Spleen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3829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3422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T2_Thymus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1639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1257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T2_BM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3131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2731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T2_Spleen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3760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3371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title | Material, dataset and QC"/>
          <p:cNvSpPr txBox="1"/>
          <p:nvPr/>
        </p:nvSpPr>
        <p:spPr>
          <a:xfrm>
            <a:off x="512064" y="402335"/>
            <a:ext cx="4371563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Material, dataset and QC</a:t>
            </a:r>
          </a:p>
        </p:txBody>
      </p:sp>
      <p:sp>
        <p:nvSpPr>
          <p:cNvPr id="7" name="figure_text | Six samples • 15,532 retained cells • 10,670 measured genes"/>
          <p:cNvSpPr txBox="1"/>
          <p:nvPr/>
        </p:nvSpPr>
        <p:spPr>
          <a:xfrm>
            <a:off x="512064" y="838504"/>
            <a:ext cx="5077960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Six samples • 15,532 retained cells • 10,670 measured genes</a:t>
            </a:r>
          </a:p>
        </p:txBody>
      </p:sp>
      <p:sp>
        <p:nvSpPr>
          <p:cNvPr id="8" name="figure_text | QC counts match the legacy deck; downstream UMAP, Leiden and gene"/>
          <p:cNvSpPr txBox="1"/>
          <p:nvPr/>
        </p:nvSpPr>
        <p:spPr>
          <a:xfrm>
            <a:off x="512064" y="7578547"/>
            <a:ext cx="6889866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QC counts match the legacy deck; downstream UMAP, Leiden and gene statistics remain a reanalysis.</a:t>
            </a:r>
          </a:p>
        </p:txBody>
      </p:sp>
      <p:sp>
        <p:nvSpPr>
          <p:cNvPr id="9" name="figure_text | Original iNKT deck, slide 2; current object: 20260905 scored_base"/>
          <p:cNvSpPr txBox="1"/>
          <p:nvPr/>
        </p:nvSpPr>
        <p:spPr>
          <a:xfrm>
            <a:off x="512064" y="7939735"/>
            <a:ext cx="4241695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Original iNKT deck, slide 2; current object: 20260905 scored_base.h5ad.</a:t>
            </a:r>
          </a:p>
        </p:txBody>
      </p:sp>
      <p:sp>
        <p:nvSpPr>
          <p:cNvPr id="10" name="page_number | 2"/>
          <p:cNvSpPr txBox="1"/>
          <p:nvPr/>
        </p:nvSpPr>
        <p:spPr>
          <a:xfrm>
            <a:off x="14045184" y="7944333"/>
            <a:ext cx="149230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1" name="figure_text | Gene min_cells = 100, then 200 ≤ detected genes &lt; 2,500; mitochon"/>
          <p:cNvSpPr txBox="1"/>
          <p:nvPr/>
        </p:nvSpPr>
        <p:spPr>
          <a:xfrm>
            <a:off x="7168896" y="5900078"/>
            <a:ext cx="5255971" cy="4746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Gene min_cells = 100, then</a:t>
            </a:r>
          </a:p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200 ≤ detected genes &lt; 2,500; mitochondrial fraction &lt; 5%.</a:t>
            </a:r>
          </a:p>
        </p:txBody>
      </p:sp>
      <p:sp>
        <p:nvSpPr>
          <p:cNvPr id="12" name="plot_title | Detected genes"/>
          <p:cNvSpPr txBox="1"/>
          <p:nvPr/>
        </p:nvSpPr>
        <p:spPr>
          <a:xfrm>
            <a:off x="7511796" y="1926336"/>
            <a:ext cx="1414028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Detected genes</a:t>
            </a:r>
          </a:p>
        </p:txBody>
      </p:sp>
      <p:sp>
        <p:nvSpPr>
          <p:cNvPr id="13" name="plot_title | UMI counts"/>
          <p:cNvSpPr txBox="1"/>
          <p:nvPr/>
        </p:nvSpPr>
        <p:spPr>
          <a:xfrm>
            <a:off x="10117836" y="1928914"/>
            <a:ext cx="1014618" cy="238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UMI counts</a:t>
            </a:r>
          </a:p>
        </p:txBody>
      </p:sp>
      <p:sp>
        <p:nvSpPr>
          <p:cNvPr id="14" name="plot_title | Mitochondrial %"/>
          <p:cNvSpPr txBox="1"/>
          <p:nvPr/>
        </p:nvSpPr>
        <p:spPr>
          <a:xfrm>
            <a:off x="12326112" y="1926336"/>
            <a:ext cx="1442557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Mitochondrial 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old_03_panel_01" descr="old_03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628823" y="1700784"/>
            <a:ext cx="4136805" cy="5255056"/>
          </a:xfrm>
          <a:prstGeom prst="rect">
            <a:avLst/>
          </a:prstGeom>
        </p:spPr>
      </p:pic>
      <p:pic>
        <p:nvPicPr>
          <p:cNvPr id="3" name="plot_panel | old_03_panel_02" descr="old_03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5383703" y="1700784"/>
            <a:ext cx="4136805" cy="5406512"/>
          </a:xfrm>
          <a:prstGeom prst="rect">
            <a:avLst/>
          </a:prstGeom>
        </p:spPr>
      </p:pic>
      <p:pic>
        <p:nvPicPr>
          <p:cNvPr id="4" name="plot_panel | old_03_panel_03" descr="old_03_panel_03.png"/>
          <p:cNvPicPr>
            <a:picLocks noChangeAspect="1"/>
          </p:cNvPicPr>
          <p:nvPr/>
        </p:nvPicPr>
        <p:blipFill>
          <a:blip r:embed="rId6">
            <a:extLst xmlns:asvg="http://schemas.microsoft.com/office/drawing/2016/SVG/main"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10138583" y="1700784"/>
            <a:ext cx="4136805" cy="5091504"/>
          </a:xfrm>
          <a:prstGeom prst="rect">
            <a:avLst/>
          </a:prstGeom>
        </p:spPr>
      </p:pic>
      <p:sp>
        <p:nvSpPr>
          <p:cNvPr id="5" name="title | Clusters and tissue composition"/>
          <p:cNvSpPr txBox="1"/>
          <p:nvPr/>
        </p:nvSpPr>
        <p:spPr>
          <a:xfrm>
            <a:off x="512064" y="402335"/>
            <a:ext cx="5569793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Clusters and tissue composition</a:t>
            </a:r>
          </a:p>
        </p:txBody>
      </p:sp>
      <p:sp>
        <p:nvSpPr>
          <p:cNvPr id="6" name="figure_text | Fixed 50-PC UMAP; C5 refined to C5-1 and C5-2"/>
          <p:cNvSpPr txBox="1"/>
          <p:nvPr/>
        </p:nvSpPr>
        <p:spPr>
          <a:xfrm>
            <a:off x="512064" y="838504"/>
            <a:ext cx="3885674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Fixed 50-PC UMAP; C5 refined to C5-1 and C5-2</a:t>
            </a:r>
          </a:p>
        </p:txBody>
      </p:sp>
      <p:sp>
        <p:nvSpPr>
          <p:cNvPr id="7" name="figure_text | Original sample hues retained on the left; Blood-style blue/red e"/>
          <p:cNvSpPr txBox="1"/>
          <p:nvPr/>
        </p:nvSpPr>
        <p:spPr>
          <a:xfrm>
            <a:off x="512064" y="7578547"/>
            <a:ext cx="8351992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Original sample hues retained on the left; Blood-style blue/red encodes condition on the right. Coordinates are unchanged.</a:t>
            </a:r>
          </a:p>
        </p:txBody>
      </p:sp>
      <p:sp>
        <p:nvSpPr>
          <p:cNvPr id="8" name="figure_text | Original iNKT slides 4–5/12; Blood Fig. 3B is t-SNE/K-means, so a"/>
          <p:cNvSpPr txBox="1"/>
          <p:nvPr/>
        </p:nvSpPr>
        <p:spPr>
          <a:xfrm>
            <a:off x="512064" y="7939735"/>
            <a:ext cx="5421054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Original iNKT slides 4–5/12; Blood Fig. 3B is t-SNE/K-means, so axes and labels are not copied.</a:t>
            </a:r>
          </a:p>
        </p:txBody>
      </p:sp>
      <p:sp>
        <p:nvSpPr>
          <p:cNvPr id="9" name="page_number | 3"/>
          <p:cNvSpPr txBox="1"/>
          <p:nvPr/>
        </p:nvSpPr>
        <p:spPr>
          <a:xfrm>
            <a:off x="14045184" y="7944333"/>
            <a:ext cx="149230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10" name="plot_title | Sample"/>
          <p:cNvSpPr txBox="1"/>
          <p:nvPr/>
        </p:nvSpPr>
        <p:spPr>
          <a:xfrm>
            <a:off x="2423160" y="1496567"/>
            <a:ext cx="814913" cy="2652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84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Sample</a:t>
            </a:r>
          </a:p>
        </p:txBody>
      </p:sp>
      <p:sp>
        <p:nvSpPr>
          <p:cNvPr id="11" name="plot_title | Current clusters"/>
          <p:cNvSpPr txBox="1"/>
          <p:nvPr/>
        </p:nvSpPr>
        <p:spPr>
          <a:xfrm>
            <a:off x="6761130" y="1496567"/>
            <a:ext cx="1682084" cy="2652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84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Current clusters</a:t>
            </a:r>
          </a:p>
        </p:txBody>
      </p:sp>
      <p:sp>
        <p:nvSpPr>
          <p:cNvPr id="12" name="plot_title | Condition"/>
          <p:cNvSpPr txBox="1"/>
          <p:nvPr/>
        </p:nvSpPr>
        <p:spPr>
          <a:xfrm>
            <a:off x="11832336" y="1496567"/>
            <a:ext cx="1024128" cy="2652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84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Condition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ource_figure | old_04_panel_01" descr="old_04_panel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954122"/>
            <a:ext cx="13606272" cy="4485946"/>
          </a:xfrm>
          <a:prstGeom prst="rect">
            <a:avLst/>
          </a:prstGeom>
        </p:spPr>
      </p:pic>
      <p:sp>
        <p:nvSpPr>
          <p:cNvPr id="3" name="title | UMAP: 50, 100 and 200 principal components"/>
          <p:cNvSpPr txBox="1"/>
          <p:nvPr/>
        </p:nvSpPr>
        <p:spPr>
          <a:xfrm>
            <a:off x="512064" y="402335"/>
            <a:ext cx="7880664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UMAP: 50, 100 and 200 principal components</a:t>
            </a:r>
          </a:p>
        </p:txBody>
      </p:sp>
      <p:sp>
        <p:nvSpPr>
          <p:cNvPr id="4" name="figure_text | Controlled sensitivity comparison; selected 50 PCs"/>
          <p:cNvSpPr txBox="1"/>
          <p:nvPr/>
        </p:nvSpPr>
        <p:spPr>
          <a:xfrm>
            <a:off x="512064" y="838504"/>
            <a:ext cx="4158931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Controlled sensitivity comparison; selected 50 PCs</a:t>
            </a:r>
          </a:p>
        </p:txBody>
      </p:sp>
      <p:sp>
        <p:nvSpPr>
          <p:cNvPr id="5" name="figure_text | PC number varies; all other settings are fixed. Labels are fixed "/>
          <p:cNvSpPr txBox="1"/>
          <p:nvPr/>
        </p:nvSpPr>
        <p:spPr>
          <a:xfrm>
            <a:off x="512064" y="7578547"/>
            <a:ext cx="8019448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PC number varies; all other settings are fixed. Labels are fixed reference clusters, not separate reclustering outcomes.</a:t>
            </a:r>
          </a:p>
        </p:txBody>
      </p:sp>
      <p:sp>
        <p:nvSpPr>
          <p:cNvPr id="6" name="figure_text | Original iNKT slide 4; frozen 20260825 PC-sweep result."/>
          <p:cNvSpPr txBox="1"/>
          <p:nvPr/>
        </p:nvSpPr>
        <p:spPr>
          <a:xfrm>
            <a:off x="512064" y="7939735"/>
            <a:ext cx="3254612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Original iNKT slide 4; frozen 20260825 PC-sweep result.</a:t>
            </a:r>
          </a:p>
        </p:txBody>
      </p:sp>
      <p:sp>
        <p:nvSpPr>
          <p:cNvPr id="7" name="page_number | 4"/>
          <p:cNvSpPr txBox="1"/>
          <p:nvPr/>
        </p:nvSpPr>
        <p:spPr>
          <a:xfrm>
            <a:off x="14045184" y="7944333"/>
            <a:ext cx="149230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old_05_panel_01" descr="old_05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1100913" y="1536191"/>
            <a:ext cx="2584849" cy="2853436"/>
          </a:xfrm>
          <a:prstGeom prst="rect">
            <a:avLst/>
          </a:prstGeom>
        </p:spPr>
      </p:pic>
      <p:pic>
        <p:nvPicPr>
          <p:cNvPr id="3" name="plot_panel | old_05_panel_02" descr="old_05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3715024" y="1536191"/>
            <a:ext cx="586333" cy="2688336"/>
          </a:xfrm>
          <a:prstGeom prst="rect">
            <a:avLst/>
          </a:prstGeom>
        </p:spPr>
      </p:pic>
      <p:pic>
        <p:nvPicPr>
          <p:cNvPr id="4" name="plot_panel | old_05_panel_03" descr="old_05_panel_03.png"/>
          <p:cNvPicPr>
            <a:picLocks noChangeAspect="1"/>
          </p:cNvPicPr>
          <p:nvPr/>
        </p:nvPicPr>
        <p:blipFill>
          <a:blip r:embed="rId6">
            <a:extLst xmlns:asvg="http://schemas.microsoft.com/office/drawing/2016/SVG/main"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168118" y="4910328"/>
            <a:ext cx="3882673" cy="1945116"/>
          </a:xfrm>
          <a:prstGeom prst="rect">
            <a:avLst/>
          </a:prstGeom>
        </p:spPr>
      </p:pic>
      <p:pic>
        <p:nvPicPr>
          <p:cNvPr id="5" name="plot_panel | old_05_panel_04" descr="old_05_panel_04.png"/>
          <p:cNvPicPr>
            <a:picLocks noChangeAspect="1"/>
          </p:cNvPicPr>
          <p:nvPr/>
        </p:nvPicPr>
        <p:blipFill>
          <a:blip r:embed="rId8">
            <a:extLst xmlns:asvg="http://schemas.microsoft.com/office/drawing/2016/SVG/main">
              <a:ext uri="{96DAC541-7B7A-43D3-8B79-37D633B846F1}">
                <asvg:svgBlip r:embed="rId9"/>
              </a:ext>
            </a:extLst>
          </a:blip>
          <a:stretch>
            <a:fillRect/>
          </a:stretch>
        </p:blipFill>
        <p:spPr>
          <a:xfrm>
            <a:off x="4507992" y="1817120"/>
            <a:ext cx="1619585" cy="1797294"/>
          </a:xfrm>
          <a:prstGeom prst="rect">
            <a:avLst/>
          </a:prstGeom>
        </p:spPr>
      </p:pic>
      <p:pic>
        <p:nvPicPr>
          <p:cNvPr id="6" name="plot_panel | old_05_panel_05" descr="old_05_panel_05.png"/>
          <p:cNvPicPr>
            <a:picLocks noChangeAspect="1"/>
          </p:cNvPicPr>
          <p:nvPr/>
        </p:nvPicPr>
        <p:blipFill>
          <a:blip r:embed="rId10">
            <a:extLst xmlns:asvg="http://schemas.microsoft.com/office/drawing/2016/SVG/main">
              <a:ext uri="{96DAC541-7B7A-43D3-8B79-37D633B846F1}">
                <asvg:svgBlip r:embed="rId11"/>
              </a:ext>
            </a:extLst>
          </a:blip>
          <a:stretch>
            <a:fillRect/>
          </a:stretch>
        </p:blipFill>
        <p:spPr>
          <a:xfrm>
            <a:off x="6106363" y="1827874"/>
            <a:ext cx="282752" cy="1811702"/>
          </a:xfrm>
          <a:prstGeom prst="rect">
            <a:avLst/>
          </a:prstGeom>
        </p:spPr>
      </p:pic>
      <p:pic>
        <p:nvPicPr>
          <p:cNvPr id="7" name="plot_panel | old_05_panel_06" descr="old_05_panel_06.png"/>
          <p:cNvPicPr>
            <a:picLocks noChangeAspect="1"/>
          </p:cNvPicPr>
          <p:nvPr/>
        </p:nvPicPr>
        <p:blipFill>
          <a:blip r:embed="rId12">
            <a:extLst xmlns:asvg="http://schemas.microsoft.com/office/drawing/2016/SVG/main">
              <a:ext uri="{96DAC541-7B7A-43D3-8B79-37D633B846F1}">
                <asvg:svgBlip r:embed="rId13"/>
              </a:ext>
            </a:extLst>
          </a:blip>
          <a:stretch>
            <a:fillRect/>
          </a:stretch>
        </p:blipFill>
        <p:spPr>
          <a:xfrm>
            <a:off x="6336792" y="1817120"/>
            <a:ext cx="1619585" cy="1797294"/>
          </a:xfrm>
          <a:prstGeom prst="rect">
            <a:avLst/>
          </a:prstGeom>
        </p:spPr>
      </p:pic>
      <p:pic>
        <p:nvPicPr>
          <p:cNvPr id="8" name="plot_panel | old_05_panel_07" descr="old_05_panel_07.png"/>
          <p:cNvPicPr>
            <a:picLocks noChangeAspect="1"/>
          </p:cNvPicPr>
          <p:nvPr/>
        </p:nvPicPr>
        <p:blipFill>
          <a:blip r:embed="rId14">
            <a:extLst xmlns:asvg="http://schemas.microsoft.com/office/drawing/2016/SVG/main">
              <a:ext uri="{96DAC541-7B7A-43D3-8B79-37D633B846F1}">
                <asvg:svgBlip r:embed="rId15"/>
              </a:ext>
            </a:extLst>
          </a:blip>
          <a:stretch>
            <a:fillRect/>
          </a:stretch>
        </p:blipFill>
        <p:spPr>
          <a:xfrm>
            <a:off x="7935163" y="1847087"/>
            <a:ext cx="365048" cy="1792488"/>
          </a:xfrm>
          <a:prstGeom prst="rect">
            <a:avLst/>
          </a:prstGeom>
        </p:spPr>
      </p:pic>
      <p:pic>
        <p:nvPicPr>
          <p:cNvPr id="9" name="plot_panel | old_05_panel_08" descr="old_05_panel_08.png"/>
          <p:cNvPicPr>
            <a:picLocks noChangeAspect="1"/>
          </p:cNvPicPr>
          <p:nvPr/>
        </p:nvPicPr>
        <p:blipFill>
          <a:blip r:embed="rId16">
            <a:extLst xmlns:asvg="http://schemas.microsoft.com/office/drawing/2016/SVG/main">
              <a:ext uri="{96DAC541-7B7A-43D3-8B79-37D633B846F1}">
                <asvg:svgBlip r:embed="rId17"/>
              </a:ext>
            </a:extLst>
          </a:blip>
          <a:stretch>
            <a:fillRect/>
          </a:stretch>
        </p:blipFill>
        <p:spPr>
          <a:xfrm>
            <a:off x="8165592" y="1817120"/>
            <a:ext cx="1619585" cy="1797294"/>
          </a:xfrm>
          <a:prstGeom prst="rect">
            <a:avLst/>
          </a:prstGeom>
        </p:spPr>
      </p:pic>
      <p:pic>
        <p:nvPicPr>
          <p:cNvPr id="10" name="plot_panel | old_05_panel_09" descr="old_05_panel_09.png"/>
          <p:cNvPicPr>
            <a:picLocks noChangeAspect="1"/>
          </p:cNvPicPr>
          <p:nvPr/>
        </p:nvPicPr>
        <p:blipFill>
          <a:blip r:embed="rId18">
            <a:extLst xmlns:asvg="http://schemas.microsoft.com/office/drawing/2016/SVG/main">
              <a:ext uri="{96DAC541-7B7A-43D3-8B79-37D633B846F1}">
                <asvg:svgBlip r:embed="rId19"/>
              </a:ext>
            </a:extLst>
          </a:blip>
          <a:stretch>
            <a:fillRect/>
          </a:stretch>
        </p:blipFill>
        <p:spPr>
          <a:xfrm>
            <a:off x="9763963" y="1847087"/>
            <a:ext cx="365048" cy="1792488"/>
          </a:xfrm>
          <a:prstGeom prst="rect">
            <a:avLst/>
          </a:prstGeom>
        </p:spPr>
      </p:pic>
      <p:pic>
        <p:nvPicPr>
          <p:cNvPr id="11" name="plot_panel | old_05_panel_10" descr="old_05_panel_10.png"/>
          <p:cNvPicPr>
            <a:picLocks noChangeAspect="1"/>
          </p:cNvPicPr>
          <p:nvPr/>
        </p:nvPicPr>
        <p:blipFill>
          <a:blip r:embed="rId20">
            <a:extLst xmlns:asvg="http://schemas.microsoft.com/office/drawing/2016/SVG/main">
              <a:ext uri="{96DAC541-7B7A-43D3-8B79-37D633B846F1}">
                <asvg:svgBlip r:embed="rId21"/>
              </a:ext>
            </a:extLst>
          </a:blip>
          <a:stretch>
            <a:fillRect/>
          </a:stretch>
        </p:blipFill>
        <p:spPr>
          <a:xfrm>
            <a:off x="10600436" y="2194560"/>
            <a:ext cx="3545331" cy="4795782"/>
          </a:xfrm>
          <a:prstGeom prst="rect">
            <a:avLst/>
          </a:prstGeom>
        </p:spPr>
      </p:pic>
      <p:pic>
        <p:nvPicPr>
          <p:cNvPr id="12" name="plot_panel | old_05_panel_11" descr="old_05_panel_11.png"/>
          <p:cNvPicPr>
            <a:picLocks noChangeAspect="1"/>
          </p:cNvPicPr>
          <p:nvPr/>
        </p:nvPicPr>
        <p:blipFill>
          <a:blip r:embed="rId22">
            <a:extLst xmlns:asvg="http://schemas.microsoft.com/office/drawing/2016/SVG/main">
              <a:ext uri="{96DAC541-7B7A-43D3-8B79-37D633B846F1}">
                <asvg:svgBlip r:embed="rId23"/>
              </a:ext>
            </a:extLst>
          </a:blip>
          <a:stretch>
            <a:fillRect/>
          </a:stretch>
        </p:blipFill>
        <p:spPr>
          <a:xfrm>
            <a:off x="11301984" y="5840272"/>
            <a:ext cx="2551176" cy="550402"/>
          </a:xfrm>
          <a:prstGeom prst="rect">
            <a:avLst/>
          </a:prstGeom>
        </p:spPr>
      </p:pic>
      <p:sp>
        <p:nvSpPr>
          <p:cNvPr id="13" name="title | iNKT1 marker program"/>
          <p:cNvSpPr txBox="1"/>
          <p:nvPr/>
        </p:nvSpPr>
        <p:spPr>
          <a:xfrm>
            <a:off x="512064" y="402335"/>
            <a:ext cx="4002020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iNKT1 marker program</a:t>
            </a:r>
          </a:p>
        </p:txBody>
      </p:sp>
      <p:sp>
        <p:nvSpPr>
          <p:cNvPr id="14" name="figure_text | Score map, cluster distributions, individual markers and expressi"/>
          <p:cNvSpPr txBox="1"/>
          <p:nvPr/>
        </p:nvSpPr>
        <p:spPr>
          <a:xfrm>
            <a:off x="512064" y="838504"/>
            <a:ext cx="6144093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Score map, cluster distributions, individual markers and expression dotplot</a:t>
            </a:r>
          </a:p>
        </p:txBody>
      </p:sp>
      <p:sp>
        <p:nvSpPr>
          <p:cNvPr id="15" name="figure_text | Current score_genes units differ from legacy summed-marker scores"/>
          <p:cNvSpPr txBox="1"/>
          <p:nvPr/>
        </p:nvSpPr>
        <p:spPr>
          <a:xfrm>
            <a:off x="512064" y="7578547"/>
            <a:ext cx="8590925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Current score_genes units differ from legacy summed-marker scores; these panels do not establish discrete subtype identities.</a:t>
            </a:r>
          </a:p>
        </p:txBody>
      </p:sp>
      <p:sp>
        <p:nvSpPr>
          <p:cNvPr id="16" name="figure_text | Original iNKT slides 6–8; marker panel and saved continuous score"/>
          <p:cNvSpPr txBox="1"/>
          <p:nvPr/>
        </p:nvSpPr>
        <p:spPr>
          <a:xfrm>
            <a:off x="512064" y="7939735"/>
            <a:ext cx="5951372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Original iNKT slides 6–8; marker panel and saved continuous scores from the 20260905 state analysis.</a:t>
            </a:r>
          </a:p>
        </p:txBody>
      </p:sp>
      <p:sp>
        <p:nvSpPr>
          <p:cNvPr id="17" name="page_number | 5"/>
          <p:cNvSpPr txBox="1"/>
          <p:nvPr/>
        </p:nvSpPr>
        <p:spPr>
          <a:xfrm>
            <a:off x="14045184" y="7944333"/>
            <a:ext cx="149230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18" name="plot_title | iNKT1 score"/>
          <p:cNvSpPr txBox="1"/>
          <p:nvPr/>
        </p:nvSpPr>
        <p:spPr>
          <a:xfrm>
            <a:off x="1968110" y="1343193"/>
            <a:ext cx="1129329" cy="250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iNKT1 score</a:t>
            </a:r>
          </a:p>
        </p:txBody>
      </p:sp>
      <p:sp>
        <p:nvSpPr>
          <p:cNvPr id="19" name="plot_title | Ifng"/>
          <p:cNvSpPr txBox="1"/>
          <p:nvPr/>
        </p:nvSpPr>
        <p:spPr>
          <a:xfrm>
            <a:off x="5166908" y="1640336"/>
            <a:ext cx="386974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Ifng</a:t>
            </a:r>
          </a:p>
        </p:txBody>
      </p:sp>
      <p:sp>
        <p:nvSpPr>
          <p:cNvPr id="20" name="plot_title | Il2rb"/>
          <p:cNvSpPr txBox="1"/>
          <p:nvPr/>
        </p:nvSpPr>
        <p:spPr>
          <a:xfrm>
            <a:off x="6968276" y="1640336"/>
            <a:ext cx="444032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Il2rb</a:t>
            </a:r>
          </a:p>
        </p:txBody>
      </p:sp>
      <p:sp>
        <p:nvSpPr>
          <p:cNvPr id="21" name="plot_title | Tbx21"/>
          <p:cNvSpPr txBox="1"/>
          <p:nvPr/>
        </p:nvSpPr>
        <p:spPr>
          <a:xfrm>
            <a:off x="8733068" y="1640336"/>
            <a:ext cx="577169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Tbx21</a:t>
            </a:r>
          </a:p>
        </p:txBody>
      </p:sp>
      <p:sp>
        <p:nvSpPr>
          <p:cNvPr id="22" name="plot_title | Marker expression"/>
          <p:cNvSpPr txBox="1"/>
          <p:nvPr/>
        </p:nvSpPr>
        <p:spPr>
          <a:xfrm>
            <a:off x="11816119" y="2001561"/>
            <a:ext cx="1742560" cy="250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Marker expression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old_06_panel_01" descr="old_06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1100913" y="1536191"/>
            <a:ext cx="2584849" cy="2853436"/>
          </a:xfrm>
          <a:prstGeom prst="rect">
            <a:avLst/>
          </a:prstGeom>
        </p:spPr>
      </p:pic>
      <p:pic>
        <p:nvPicPr>
          <p:cNvPr id="3" name="plot_panel | old_06_panel_02" descr="old_06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3715024" y="1536191"/>
            <a:ext cx="586333" cy="2747184"/>
          </a:xfrm>
          <a:prstGeom prst="rect">
            <a:avLst/>
          </a:prstGeom>
        </p:spPr>
      </p:pic>
      <p:pic>
        <p:nvPicPr>
          <p:cNvPr id="4" name="plot_panel | old_06_panel_03" descr="old_06_panel_03.png"/>
          <p:cNvPicPr>
            <a:picLocks noChangeAspect="1"/>
          </p:cNvPicPr>
          <p:nvPr/>
        </p:nvPicPr>
        <p:blipFill>
          <a:blip r:embed="rId6">
            <a:extLst xmlns:asvg="http://schemas.microsoft.com/office/drawing/2016/SVG/main"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158974" y="4910328"/>
            <a:ext cx="3891817" cy="1945116"/>
          </a:xfrm>
          <a:prstGeom prst="rect">
            <a:avLst/>
          </a:prstGeom>
        </p:spPr>
      </p:pic>
      <p:pic>
        <p:nvPicPr>
          <p:cNvPr id="5" name="plot_panel | old_06_panel_04" descr="old_06_panel_04.png"/>
          <p:cNvPicPr>
            <a:picLocks noChangeAspect="1"/>
          </p:cNvPicPr>
          <p:nvPr/>
        </p:nvPicPr>
        <p:blipFill>
          <a:blip r:embed="rId8">
            <a:extLst xmlns:asvg="http://schemas.microsoft.com/office/drawing/2016/SVG/main">
              <a:ext uri="{96DAC541-7B7A-43D3-8B79-37D633B846F1}">
                <asvg:svgBlip r:embed="rId9"/>
              </a:ext>
            </a:extLst>
          </a:blip>
          <a:stretch>
            <a:fillRect/>
          </a:stretch>
        </p:blipFill>
        <p:spPr>
          <a:xfrm>
            <a:off x="4507992" y="1817120"/>
            <a:ext cx="1619585" cy="1797294"/>
          </a:xfrm>
          <a:prstGeom prst="rect">
            <a:avLst/>
          </a:prstGeom>
        </p:spPr>
      </p:pic>
      <p:pic>
        <p:nvPicPr>
          <p:cNvPr id="6" name="plot_panel | old_06_panel_05" descr="old_06_panel_05.png"/>
          <p:cNvPicPr>
            <a:picLocks noChangeAspect="1"/>
          </p:cNvPicPr>
          <p:nvPr/>
        </p:nvPicPr>
        <p:blipFill>
          <a:blip r:embed="rId10">
            <a:extLst xmlns:asvg="http://schemas.microsoft.com/office/drawing/2016/SVG/main">
              <a:ext uri="{96DAC541-7B7A-43D3-8B79-37D633B846F1}">
                <asvg:svgBlip r:embed="rId11"/>
              </a:ext>
            </a:extLst>
          </a:blip>
          <a:stretch>
            <a:fillRect/>
          </a:stretch>
        </p:blipFill>
        <p:spPr>
          <a:xfrm>
            <a:off x="6106363" y="1847088"/>
            <a:ext cx="365048" cy="1792488"/>
          </a:xfrm>
          <a:prstGeom prst="rect">
            <a:avLst/>
          </a:prstGeom>
        </p:spPr>
      </p:pic>
      <p:pic>
        <p:nvPicPr>
          <p:cNvPr id="7" name="plot_panel | old_06_panel_06" descr="old_06_panel_06.png"/>
          <p:cNvPicPr>
            <a:picLocks noChangeAspect="1"/>
          </p:cNvPicPr>
          <p:nvPr/>
        </p:nvPicPr>
        <p:blipFill>
          <a:blip r:embed="rId12">
            <a:extLst xmlns:asvg="http://schemas.microsoft.com/office/drawing/2016/SVG/main">
              <a:ext uri="{96DAC541-7B7A-43D3-8B79-37D633B846F1}">
                <asvg:svgBlip r:embed="rId13"/>
              </a:ext>
            </a:extLst>
          </a:blip>
          <a:stretch>
            <a:fillRect/>
          </a:stretch>
        </p:blipFill>
        <p:spPr>
          <a:xfrm>
            <a:off x="6336792" y="1817120"/>
            <a:ext cx="1619585" cy="1797294"/>
          </a:xfrm>
          <a:prstGeom prst="rect">
            <a:avLst/>
          </a:prstGeom>
        </p:spPr>
      </p:pic>
      <p:pic>
        <p:nvPicPr>
          <p:cNvPr id="8" name="plot_panel | old_06_panel_07" descr="old_06_panel_07.png"/>
          <p:cNvPicPr>
            <a:picLocks noChangeAspect="1"/>
          </p:cNvPicPr>
          <p:nvPr/>
        </p:nvPicPr>
        <p:blipFill>
          <a:blip r:embed="rId14">
            <a:extLst xmlns:asvg="http://schemas.microsoft.com/office/drawing/2016/SVG/main">
              <a:ext uri="{96DAC541-7B7A-43D3-8B79-37D633B846F1}">
                <asvg:svgBlip r:embed="rId15"/>
              </a:ext>
            </a:extLst>
          </a:blip>
          <a:stretch>
            <a:fillRect/>
          </a:stretch>
        </p:blipFill>
        <p:spPr>
          <a:xfrm>
            <a:off x="7935163" y="1826563"/>
            <a:ext cx="365048" cy="1813012"/>
          </a:xfrm>
          <a:prstGeom prst="rect">
            <a:avLst/>
          </a:prstGeom>
        </p:spPr>
      </p:pic>
      <p:pic>
        <p:nvPicPr>
          <p:cNvPr id="9" name="plot_panel | old_06_panel_08" descr="old_06_panel_08.png"/>
          <p:cNvPicPr>
            <a:picLocks noChangeAspect="1"/>
          </p:cNvPicPr>
          <p:nvPr/>
        </p:nvPicPr>
        <p:blipFill>
          <a:blip r:embed="rId16">
            <a:extLst xmlns:asvg="http://schemas.microsoft.com/office/drawing/2016/SVG/main">
              <a:ext uri="{96DAC541-7B7A-43D3-8B79-37D633B846F1}">
                <asvg:svgBlip r:embed="rId17"/>
              </a:ext>
            </a:extLst>
          </a:blip>
          <a:stretch>
            <a:fillRect/>
          </a:stretch>
        </p:blipFill>
        <p:spPr>
          <a:xfrm>
            <a:off x="8165592" y="1817120"/>
            <a:ext cx="1619585" cy="1797294"/>
          </a:xfrm>
          <a:prstGeom prst="rect">
            <a:avLst/>
          </a:prstGeom>
        </p:spPr>
      </p:pic>
      <p:pic>
        <p:nvPicPr>
          <p:cNvPr id="10" name="plot_panel | old_06_panel_09" descr="old_06_panel_09.png"/>
          <p:cNvPicPr>
            <a:picLocks noChangeAspect="1"/>
          </p:cNvPicPr>
          <p:nvPr/>
        </p:nvPicPr>
        <p:blipFill>
          <a:blip r:embed="rId18">
            <a:extLst xmlns:asvg="http://schemas.microsoft.com/office/drawing/2016/SVG/main">
              <a:ext uri="{96DAC541-7B7A-43D3-8B79-37D633B846F1}">
                <asvg:svgBlip r:embed="rId19"/>
              </a:ext>
            </a:extLst>
          </a:blip>
          <a:stretch>
            <a:fillRect/>
          </a:stretch>
        </p:blipFill>
        <p:spPr>
          <a:xfrm>
            <a:off x="9763963" y="1847087"/>
            <a:ext cx="365048" cy="1792488"/>
          </a:xfrm>
          <a:prstGeom prst="rect">
            <a:avLst/>
          </a:prstGeom>
        </p:spPr>
      </p:pic>
      <p:pic>
        <p:nvPicPr>
          <p:cNvPr id="11" name="plot_panel | old_06_panel_10" descr="old_06_panel_10.png"/>
          <p:cNvPicPr>
            <a:picLocks noChangeAspect="1"/>
          </p:cNvPicPr>
          <p:nvPr/>
        </p:nvPicPr>
        <p:blipFill>
          <a:blip r:embed="rId20">
            <a:extLst xmlns:asvg="http://schemas.microsoft.com/office/drawing/2016/SVG/main">
              <a:ext uri="{96DAC541-7B7A-43D3-8B79-37D633B846F1}">
                <asvg:svgBlip r:embed="rId21"/>
              </a:ext>
            </a:extLst>
          </a:blip>
          <a:stretch>
            <a:fillRect/>
          </a:stretch>
        </p:blipFill>
        <p:spPr>
          <a:xfrm>
            <a:off x="4507992" y="4203704"/>
            <a:ext cx="1619585" cy="1797294"/>
          </a:xfrm>
          <a:prstGeom prst="rect">
            <a:avLst/>
          </a:prstGeom>
        </p:spPr>
      </p:pic>
      <p:pic>
        <p:nvPicPr>
          <p:cNvPr id="12" name="plot_panel | old_06_panel_11" descr="old_06_panel_11.png"/>
          <p:cNvPicPr>
            <a:picLocks noChangeAspect="1"/>
          </p:cNvPicPr>
          <p:nvPr/>
        </p:nvPicPr>
        <p:blipFill>
          <a:blip r:embed="rId22">
            <a:extLst xmlns:asvg="http://schemas.microsoft.com/office/drawing/2016/SVG/main">
              <a:ext uri="{96DAC541-7B7A-43D3-8B79-37D633B846F1}">
                <asvg:svgBlip r:embed="rId23"/>
              </a:ext>
            </a:extLst>
          </a:blip>
          <a:stretch>
            <a:fillRect/>
          </a:stretch>
        </p:blipFill>
        <p:spPr>
          <a:xfrm>
            <a:off x="6106363" y="4233672"/>
            <a:ext cx="365048" cy="1792488"/>
          </a:xfrm>
          <a:prstGeom prst="rect">
            <a:avLst/>
          </a:prstGeom>
        </p:spPr>
      </p:pic>
      <p:pic>
        <p:nvPicPr>
          <p:cNvPr id="13" name="plot_panel | old_06_panel_12" descr="old_06_panel_12.png"/>
          <p:cNvPicPr>
            <a:picLocks noChangeAspect="1"/>
          </p:cNvPicPr>
          <p:nvPr/>
        </p:nvPicPr>
        <p:blipFill>
          <a:blip r:embed="rId24">
            <a:extLst xmlns:asvg="http://schemas.microsoft.com/office/drawing/2016/SVG/main">
              <a:ext uri="{96DAC541-7B7A-43D3-8B79-37D633B846F1}">
                <asvg:svgBlip r:embed="rId25"/>
              </a:ext>
            </a:extLst>
          </a:blip>
          <a:stretch>
            <a:fillRect/>
          </a:stretch>
        </p:blipFill>
        <p:spPr>
          <a:xfrm>
            <a:off x="6336792" y="4203704"/>
            <a:ext cx="1619585" cy="1797294"/>
          </a:xfrm>
          <a:prstGeom prst="rect">
            <a:avLst/>
          </a:prstGeom>
        </p:spPr>
      </p:pic>
      <p:pic>
        <p:nvPicPr>
          <p:cNvPr id="14" name="plot_panel | old_06_panel_13" descr="old_06_panel_13.png"/>
          <p:cNvPicPr>
            <a:picLocks noChangeAspect="1"/>
          </p:cNvPicPr>
          <p:nvPr/>
        </p:nvPicPr>
        <p:blipFill>
          <a:blip r:embed="rId26">
            <a:extLst xmlns:asvg="http://schemas.microsoft.com/office/drawing/2016/SVG/main">
              <a:ext uri="{96DAC541-7B7A-43D3-8B79-37D633B846F1}">
                <asvg:svgBlip r:embed="rId27"/>
              </a:ext>
            </a:extLst>
          </a:blip>
          <a:stretch>
            <a:fillRect/>
          </a:stretch>
        </p:blipFill>
        <p:spPr>
          <a:xfrm>
            <a:off x="7935163" y="4233671"/>
            <a:ext cx="365048" cy="1792488"/>
          </a:xfrm>
          <a:prstGeom prst="rect">
            <a:avLst/>
          </a:prstGeom>
        </p:spPr>
      </p:pic>
      <p:pic>
        <p:nvPicPr>
          <p:cNvPr id="15" name="plot_panel | old_06_panel_14" descr="old_06_panel_14.png"/>
          <p:cNvPicPr>
            <a:picLocks noChangeAspect="1"/>
          </p:cNvPicPr>
          <p:nvPr/>
        </p:nvPicPr>
        <p:blipFill>
          <a:blip r:embed="rId28">
            <a:extLst xmlns:asvg="http://schemas.microsoft.com/office/drawing/2016/SVG/main">
              <a:ext uri="{96DAC541-7B7A-43D3-8B79-37D633B846F1}">
                <asvg:svgBlip r:embed="rId29"/>
              </a:ext>
            </a:extLst>
          </a:blip>
          <a:stretch>
            <a:fillRect/>
          </a:stretch>
        </p:blipFill>
        <p:spPr>
          <a:xfrm>
            <a:off x="10536428" y="2194560"/>
            <a:ext cx="3609339" cy="4795782"/>
          </a:xfrm>
          <a:prstGeom prst="rect">
            <a:avLst/>
          </a:prstGeom>
        </p:spPr>
      </p:pic>
      <p:pic>
        <p:nvPicPr>
          <p:cNvPr id="16" name="plot_panel | old_06_panel_15" descr="old_06_panel_15.png"/>
          <p:cNvPicPr>
            <a:picLocks noChangeAspect="1"/>
          </p:cNvPicPr>
          <p:nvPr/>
        </p:nvPicPr>
        <p:blipFill>
          <a:blip r:embed="rId30">
            <a:extLst xmlns:asvg="http://schemas.microsoft.com/office/drawing/2016/SVG/main">
              <a:ext uri="{96DAC541-7B7A-43D3-8B79-37D633B846F1}">
                <asvg:svgBlip r:embed="rId31"/>
              </a:ext>
            </a:extLst>
          </a:blip>
          <a:stretch>
            <a:fillRect/>
          </a:stretch>
        </p:blipFill>
        <p:spPr>
          <a:xfrm>
            <a:off x="11301984" y="5840272"/>
            <a:ext cx="2551176" cy="550402"/>
          </a:xfrm>
          <a:prstGeom prst="rect">
            <a:avLst/>
          </a:prstGeom>
        </p:spPr>
      </p:pic>
      <p:sp>
        <p:nvSpPr>
          <p:cNvPr id="17" name="title | iNKT2 marker program"/>
          <p:cNvSpPr txBox="1"/>
          <p:nvPr/>
        </p:nvSpPr>
        <p:spPr>
          <a:xfrm>
            <a:off x="512064" y="402335"/>
            <a:ext cx="4002020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iNKT2 marker program</a:t>
            </a:r>
          </a:p>
        </p:txBody>
      </p:sp>
      <p:sp>
        <p:nvSpPr>
          <p:cNvPr id="18" name="figure_text | Score map, cluster distributions, individual markers and expressi"/>
          <p:cNvSpPr txBox="1"/>
          <p:nvPr/>
        </p:nvSpPr>
        <p:spPr>
          <a:xfrm>
            <a:off x="512064" y="838504"/>
            <a:ext cx="6144093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Score map, cluster distributions, individual markers and expression dotplot</a:t>
            </a:r>
          </a:p>
        </p:txBody>
      </p:sp>
      <p:sp>
        <p:nvSpPr>
          <p:cNvPr id="19" name="figure_text | Current score_genes units differ from legacy summed-marker scores"/>
          <p:cNvSpPr txBox="1"/>
          <p:nvPr/>
        </p:nvSpPr>
        <p:spPr>
          <a:xfrm>
            <a:off x="512064" y="7578547"/>
            <a:ext cx="8590925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Current score_genes units differ from legacy summed-marker scores; these panels do not establish discrete subtype identities.</a:t>
            </a:r>
          </a:p>
        </p:txBody>
      </p:sp>
      <p:sp>
        <p:nvSpPr>
          <p:cNvPr id="20" name="figure_text | Original iNKT slides 6–8; marker panel and saved continuous score"/>
          <p:cNvSpPr txBox="1"/>
          <p:nvPr/>
        </p:nvSpPr>
        <p:spPr>
          <a:xfrm>
            <a:off x="512064" y="7939735"/>
            <a:ext cx="5951372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Original iNKT slides 6–8; marker panel and saved continuous scores from the 20260905 state analysis.</a:t>
            </a:r>
          </a:p>
        </p:txBody>
      </p:sp>
      <p:sp>
        <p:nvSpPr>
          <p:cNvPr id="21" name="page_number | 6"/>
          <p:cNvSpPr txBox="1"/>
          <p:nvPr/>
        </p:nvSpPr>
        <p:spPr>
          <a:xfrm>
            <a:off x="14045184" y="7944333"/>
            <a:ext cx="149230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22" name="plot_title | iNKT2 score"/>
          <p:cNvSpPr txBox="1"/>
          <p:nvPr/>
        </p:nvSpPr>
        <p:spPr>
          <a:xfrm>
            <a:off x="1968110" y="1343193"/>
            <a:ext cx="1129329" cy="250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iNKT2 score</a:t>
            </a:r>
          </a:p>
        </p:txBody>
      </p:sp>
      <p:sp>
        <p:nvSpPr>
          <p:cNvPr id="23" name="plot_title | Cd4"/>
          <p:cNvSpPr txBox="1"/>
          <p:nvPr/>
        </p:nvSpPr>
        <p:spPr>
          <a:xfrm>
            <a:off x="5162336" y="1640336"/>
            <a:ext cx="396483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Cd4</a:t>
            </a:r>
          </a:p>
        </p:txBody>
      </p:sp>
      <p:sp>
        <p:nvSpPr>
          <p:cNvPr id="24" name="plot_title | Gata3"/>
          <p:cNvSpPr txBox="1"/>
          <p:nvPr/>
        </p:nvSpPr>
        <p:spPr>
          <a:xfrm>
            <a:off x="6913412" y="1643420"/>
            <a:ext cx="558149" cy="225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Gata3</a:t>
            </a:r>
          </a:p>
        </p:txBody>
      </p:sp>
      <p:sp>
        <p:nvSpPr>
          <p:cNvPr id="25" name="plot_title | Il17rb"/>
          <p:cNvSpPr txBox="1"/>
          <p:nvPr/>
        </p:nvSpPr>
        <p:spPr>
          <a:xfrm>
            <a:off x="8746784" y="1640336"/>
            <a:ext cx="548640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Il17rb</a:t>
            </a:r>
          </a:p>
        </p:txBody>
      </p:sp>
      <p:sp>
        <p:nvSpPr>
          <p:cNvPr id="26" name="plot_title | Il4"/>
          <p:cNvSpPr txBox="1"/>
          <p:nvPr/>
        </p:nvSpPr>
        <p:spPr>
          <a:xfrm>
            <a:off x="5221772" y="4026920"/>
            <a:ext cx="272856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Il4</a:t>
            </a:r>
          </a:p>
        </p:txBody>
      </p:sp>
      <p:sp>
        <p:nvSpPr>
          <p:cNvPr id="27" name="plot_title | Zbtb16"/>
          <p:cNvSpPr txBox="1"/>
          <p:nvPr/>
        </p:nvSpPr>
        <p:spPr>
          <a:xfrm>
            <a:off x="6858548" y="4026920"/>
            <a:ext cx="672266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Zbtb16</a:t>
            </a:r>
          </a:p>
        </p:txBody>
      </p:sp>
      <p:sp>
        <p:nvSpPr>
          <p:cNvPr id="28" name="plot_title | Marker expression"/>
          <p:cNvSpPr txBox="1"/>
          <p:nvPr/>
        </p:nvSpPr>
        <p:spPr>
          <a:xfrm>
            <a:off x="11816119" y="2001561"/>
            <a:ext cx="1742560" cy="250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Marker expression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old_07_panel_01" descr="old_07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1100913" y="1536191"/>
            <a:ext cx="2584849" cy="2853436"/>
          </a:xfrm>
          <a:prstGeom prst="rect">
            <a:avLst/>
          </a:prstGeom>
        </p:spPr>
      </p:pic>
      <p:pic>
        <p:nvPicPr>
          <p:cNvPr id="3" name="plot_panel | old_07_panel_02" descr="old_07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3715024" y="1536191"/>
            <a:ext cx="558901" cy="2688336"/>
          </a:xfrm>
          <a:prstGeom prst="rect">
            <a:avLst/>
          </a:prstGeom>
        </p:spPr>
      </p:pic>
      <p:pic>
        <p:nvPicPr>
          <p:cNvPr id="4" name="plot_panel | old_07_panel_03" descr="old_07_panel_03.png"/>
          <p:cNvPicPr>
            <a:picLocks noChangeAspect="1"/>
          </p:cNvPicPr>
          <p:nvPr/>
        </p:nvPicPr>
        <p:blipFill>
          <a:blip r:embed="rId6">
            <a:extLst xmlns:asvg="http://schemas.microsoft.com/office/drawing/2016/SVG/main"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158974" y="4865016"/>
            <a:ext cx="3891817" cy="1990428"/>
          </a:xfrm>
          <a:prstGeom prst="rect">
            <a:avLst/>
          </a:prstGeom>
        </p:spPr>
      </p:pic>
      <p:pic>
        <p:nvPicPr>
          <p:cNvPr id="5" name="plot_panel | old_07_panel_04" descr="old_07_panel_04.png"/>
          <p:cNvPicPr>
            <a:picLocks noChangeAspect="1"/>
          </p:cNvPicPr>
          <p:nvPr/>
        </p:nvPicPr>
        <p:blipFill>
          <a:blip r:embed="rId8">
            <a:extLst xmlns:asvg="http://schemas.microsoft.com/office/drawing/2016/SVG/main">
              <a:ext uri="{96DAC541-7B7A-43D3-8B79-37D633B846F1}">
                <asvg:svgBlip r:embed="rId9"/>
              </a:ext>
            </a:extLst>
          </a:blip>
          <a:stretch>
            <a:fillRect/>
          </a:stretch>
        </p:blipFill>
        <p:spPr>
          <a:xfrm>
            <a:off x="4507992" y="1817120"/>
            <a:ext cx="1619585" cy="1797294"/>
          </a:xfrm>
          <a:prstGeom prst="rect">
            <a:avLst/>
          </a:prstGeom>
        </p:spPr>
      </p:pic>
      <p:pic>
        <p:nvPicPr>
          <p:cNvPr id="6" name="plot_panel | old_07_panel_05" descr="old_07_panel_05.png"/>
          <p:cNvPicPr>
            <a:picLocks noChangeAspect="1"/>
          </p:cNvPicPr>
          <p:nvPr/>
        </p:nvPicPr>
        <p:blipFill>
          <a:blip r:embed="rId10">
            <a:extLst xmlns:asvg="http://schemas.microsoft.com/office/drawing/2016/SVG/main">
              <a:ext uri="{96DAC541-7B7A-43D3-8B79-37D633B846F1}">
                <asvg:svgBlip r:embed="rId11"/>
              </a:ext>
            </a:extLst>
          </a:blip>
          <a:stretch>
            <a:fillRect/>
          </a:stretch>
        </p:blipFill>
        <p:spPr>
          <a:xfrm>
            <a:off x="6106363" y="1847088"/>
            <a:ext cx="365048" cy="1792488"/>
          </a:xfrm>
          <a:prstGeom prst="rect">
            <a:avLst/>
          </a:prstGeom>
        </p:spPr>
      </p:pic>
      <p:pic>
        <p:nvPicPr>
          <p:cNvPr id="7" name="plot_panel | old_07_panel_06" descr="old_07_panel_06.png"/>
          <p:cNvPicPr>
            <a:picLocks noChangeAspect="1"/>
          </p:cNvPicPr>
          <p:nvPr/>
        </p:nvPicPr>
        <p:blipFill>
          <a:blip r:embed="rId12">
            <a:extLst xmlns:asvg="http://schemas.microsoft.com/office/drawing/2016/SVG/main">
              <a:ext uri="{96DAC541-7B7A-43D3-8B79-37D633B846F1}">
                <asvg:svgBlip r:embed="rId13"/>
              </a:ext>
            </a:extLst>
          </a:blip>
          <a:stretch>
            <a:fillRect/>
          </a:stretch>
        </p:blipFill>
        <p:spPr>
          <a:xfrm>
            <a:off x="6336792" y="1817120"/>
            <a:ext cx="1619585" cy="1797294"/>
          </a:xfrm>
          <a:prstGeom prst="rect">
            <a:avLst/>
          </a:prstGeom>
        </p:spPr>
      </p:pic>
      <p:pic>
        <p:nvPicPr>
          <p:cNvPr id="8" name="plot_panel | old_07_panel_07" descr="old_07_panel_07.png"/>
          <p:cNvPicPr>
            <a:picLocks noChangeAspect="1"/>
          </p:cNvPicPr>
          <p:nvPr/>
        </p:nvPicPr>
        <p:blipFill>
          <a:blip r:embed="rId14">
            <a:extLst xmlns:asvg="http://schemas.microsoft.com/office/drawing/2016/SVG/main">
              <a:ext uri="{96DAC541-7B7A-43D3-8B79-37D633B846F1}">
                <asvg:svgBlip r:embed="rId15"/>
              </a:ext>
            </a:extLst>
          </a:blip>
          <a:stretch>
            <a:fillRect/>
          </a:stretch>
        </p:blipFill>
        <p:spPr>
          <a:xfrm>
            <a:off x="7935163" y="1833643"/>
            <a:ext cx="365048" cy="1805933"/>
          </a:xfrm>
          <a:prstGeom prst="rect">
            <a:avLst/>
          </a:prstGeom>
        </p:spPr>
      </p:pic>
      <p:pic>
        <p:nvPicPr>
          <p:cNvPr id="9" name="plot_panel | old_07_panel_08" descr="old_06_panel_12.png"/>
          <p:cNvPicPr>
            <a:picLocks noChangeAspect="1"/>
          </p:cNvPicPr>
          <p:nvPr/>
        </p:nvPicPr>
        <p:blipFill>
          <a:blip r:embed="rId16">
            <a:extLst xmlns:asvg="http://schemas.microsoft.com/office/drawing/2016/SVG/main">
              <a:ext uri="{96DAC541-7B7A-43D3-8B79-37D633B846F1}">
                <asvg:svgBlip r:embed="rId17"/>
              </a:ext>
            </a:extLst>
          </a:blip>
          <a:stretch>
            <a:fillRect/>
          </a:stretch>
        </p:blipFill>
        <p:spPr>
          <a:xfrm>
            <a:off x="8165592" y="1817120"/>
            <a:ext cx="1619585" cy="1797294"/>
          </a:xfrm>
          <a:prstGeom prst="rect">
            <a:avLst/>
          </a:prstGeom>
        </p:spPr>
      </p:pic>
      <p:pic>
        <p:nvPicPr>
          <p:cNvPr id="10" name="plot_panel | old_07_panel_09" descr="old_06_panel_13.png"/>
          <p:cNvPicPr>
            <a:picLocks noChangeAspect="1"/>
          </p:cNvPicPr>
          <p:nvPr/>
        </p:nvPicPr>
        <p:blipFill>
          <a:blip r:embed="rId18">
            <a:extLst xmlns:asvg="http://schemas.microsoft.com/office/drawing/2016/SVG/main">
              <a:ext uri="{96DAC541-7B7A-43D3-8B79-37D633B846F1}">
                <asvg:svgBlip r:embed="rId19"/>
              </a:ext>
            </a:extLst>
          </a:blip>
          <a:stretch>
            <a:fillRect/>
          </a:stretch>
        </p:blipFill>
        <p:spPr>
          <a:xfrm>
            <a:off x="9763963" y="1847087"/>
            <a:ext cx="365048" cy="1792488"/>
          </a:xfrm>
          <a:prstGeom prst="rect">
            <a:avLst/>
          </a:prstGeom>
        </p:spPr>
      </p:pic>
      <p:pic>
        <p:nvPicPr>
          <p:cNvPr id="11" name="plot_panel | old_07_panel_10" descr="old_07_panel_10.png"/>
          <p:cNvPicPr>
            <a:picLocks noChangeAspect="1"/>
          </p:cNvPicPr>
          <p:nvPr/>
        </p:nvPicPr>
        <p:blipFill>
          <a:blip r:embed="rId20">
            <a:extLst xmlns:asvg="http://schemas.microsoft.com/office/drawing/2016/SVG/main">
              <a:ext uri="{96DAC541-7B7A-43D3-8B79-37D633B846F1}">
                <asvg:svgBlip r:embed="rId21"/>
              </a:ext>
            </a:extLst>
          </a:blip>
          <a:stretch>
            <a:fillRect/>
          </a:stretch>
        </p:blipFill>
        <p:spPr>
          <a:xfrm>
            <a:off x="10536428" y="2194560"/>
            <a:ext cx="3609339" cy="4795782"/>
          </a:xfrm>
          <a:prstGeom prst="rect">
            <a:avLst/>
          </a:prstGeom>
        </p:spPr>
      </p:pic>
      <p:pic>
        <p:nvPicPr>
          <p:cNvPr id="12" name="plot_panel | old_07_panel_11" descr="old_07_panel_11.png"/>
          <p:cNvPicPr>
            <a:picLocks noChangeAspect="1"/>
          </p:cNvPicPr>
          <p:nvPr/>
        </p:nvPicPr>
        <p:blipFill>
          <a:blip r:embed="rId22">
            <a:extLst xmlns:asvg="http://schemas.microsoft.com/office/drawing/2016/SVG/main">
              <a:ext uri="{96DAC541-7B7A-43D3-8B79-37D633B846F1}">
                <asvg:svgBlip r:embed="rId23"/>
              </a:ext>
            </a:extLst>
          </a:blip>
          <a:stretch>
            <a:fillRect/>
          </a:stretch>
        </p:blipFill>
        <p:spPr>
          <a:xfrm>
            <a:off x="11301984" y="5840272"/>
            <a:ext cx="2551176" cy="550402"/>
          </a:xfrm>
          <a:prstGeom prst="rect">
            <a:avLst/>
          </a:prstGeom>
        </p:spPr>
      </p:pic>
      <p:sp>
        <p:nvSpPr>
          <p:cNvPr id="13" name="title | iNKT17 marker program"/>
          <p:cNvSpPr txBox="1"/>
          <p:nvPr/>
        </p:nvSpPr>
        <p:spPr>
          <a:xfrm>
            <a:off x="512064" y="402335"/>
            <a:ext cx="4211234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iNKT17 marker program</a:t>
            </a:r>
          </a:p>
        </p:txBody>
      </p:sp>
      <p:sp>
        <p:nvSpPr>
          <p:cNvPr id="14" name="figure_text | Score map, cluster distributions, individual markers and expressi"/>
          <p:cNvSpPr txBox="1"/>
          <p:nvPr/>
        </p:nvSpPr>
        <p:spPr>
          <a:xfrm>
            <a:off x="512064" y="838504"/>
            <a:ext cx="6144093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Score map, cluster distributions, individual markers and expression dotplot</a:t>
            </a:r>
          </a:p>
        </p:txBody>
      </p:sp>
      <p:sp>
        <p:nvSpPr>
          <p:cNvPr id="15" name="figure_text | Current score_genes units differ from legacy summed-marker scores"/>
          <p:cNvSpPr txBox="1"/>
          <p:nvPr/>
        </p:nvSpPr>
        <p:spPr>
          <a:xfrm>
            <a:off x="512064" y="7578547"/>
            <a:ext cx="8590925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Current score_genes units differ from legacy summed-marker scores; these panels do not establish discrete subtype identities.</a:t>
            </a:r>
          </a:p>
        </p:txBody>
      </p:sp>
      <p:sp>
        <p:nvSpPr>
          <p:cNvPr id="16" name="figure_text | Original iNKT slides 6–8; marker panel and saved continuous score"/>
          <p:cNvSpPr txBox="1"/>
          <p:nvPr/>
        </p:nvSpPr>
        <p:spPr>
          <a:xfrm>
            <a:off x="512064" y="7939735"/>
            <a:ext cx="5951372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Original iNKT slides 6–8; marker panel and saved continuous scores from the 20260905 state analysis.</a:t>
            </a:r>
          </a:p>
        </p:txBody>
      </p:sp>
      <p:sp>
        <p:nvSpPr>
          <p:cNvPr id="17" name="page_number | 7"/>
          <p:cNvSpPr txBox="1"/>
          <p:nvPr/>
        </p:nvSpPr>
        <p:spPr>
          <a:xfrm>
            <a:off x="14045184" y="7944333"/>
            <a:ext cx="149230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7</a:t>
            </a:r>
          </a:p>
        </p:txBody>
      </p:sp>
      <p:sp>
        <p:nvSpPr>
          <p:cNvPr id="18" name="figure_text | Ccr6 is absent from the filtered feature set. Missing markers are"/>
          <p:cNvSpPr txBox="1"/>
          <p:nvPr/>
        </p:nvSpPr>
        <p:spPr>
          <a:xfrm>
            <a:off x="4681728" y="6369041"/>
            <a:ext cx="3745851" cy="4084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Arial"/>
              </a:rPr>
              <a:t>Ccr6 is absent from the filtered feature set.</a:t>
            </a:r>
          </a:p>
          <a:p>
            <a:pPr algn="l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Arial"/>
              </a:rPr>
              <a:t>Missing markers are not shown as zero expression.</a:t>
            </a:r>
          </a:p>
        </p:txBody>
      </p:sp>
      <p:sp>
        <p:nvSpPr>
          <p:cNvPr id="19" name="plot_title | iNKT17 score"/>
          <p:cNvSpPr txBox="1"/>
          <p:nvPr/>
        </p:nvSpPr>
        <p:spPr>
          <a:xfrm>
            <a:off x="1913246" y="1343193"/>
            <a:ext cx="1243446" cy="250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iNKT17 score</a:t>
            </a:r>
          </a:p>
        </p:txBody>
      </p:sp>
      <p:sp>
        <p:nvSpPr>
          <p:cNvPr id="20" name="plot_title | Il23r"/>
          <p:cNvSpPr txBox="1"/>
          <p:nvPr/>
        </p:nvSpPr>
        <p:spPr>
          <a:xfrm>
            <a:off x="5139476" y="1640336"/>
            <a:ext cx="444032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Il23r</a:t>
            </a:r>
          </a:p>
        </p:txBody>
      </p:sp>
      <p:sp>
        <p:nvSpPr>
          <p:cNvPr id="21" name="plot_title | Rorc"/>
          <p:cNvSpPr txBox="1"/>
          <p:nvPr/>
        </p:nvSpPr>
        <p:spPr>
          <a:xfrm>
            <a:off x="6977920" y="1643420"/>
            <a:ext cx="423972" cy="225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Rorc</a:t>
            </a:r>
          </a:p>
        </p:txBody>
      </p:sp>
      <p:sp>
        <p:nvSpPr>
          <p:cNvPr id="22" name="plot_title | Zbtb16"/>
          <p:cNvSpPr txBox="1"/>
          <p:nvPr/>
        </p:nvSpPr>
        <p:spPr>
          <a:xfrm>
            <a:off x="8687348" y="1640336"/>
            <a:ext cx="672266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Zbtb16</a:t>
            </a:r>
          </a:p>
        </p:txBody>
      </p:sp>
      <p:sp>
        <p:nvSpPr>
          <p:cNvPr id="23" name="plot_title | Marker expression"/>
          <p:cNvSpPr txBox="1"/>
          <p:nvPr/>
        </p:nvSpPr>
        <p:spPr>
          <a:xfrm>
            <a:off x="11816119" y="2001561"/>
            <a:ext cx="1742560" cy="250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Marker expression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old_08_panel_01" descr="old_08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600928" y="1783080"/>
            <a:ext cx="4986055" cy="5309907"/>
          </a:xfrm>
          <a:prstGeom prst="rect">
            <a:avLst/>
          </a:prstGeom>
        </p:spPr>
      </p:pic>
      <p:pic>
        <p:nvPicPr>
          <p:cNvPr id="3" name="plot_panel | old_08_panel_02" descr="old_08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6599392" y="1783080"/>
            <a:ext cx="7288195" cy="5091307"/>
          </a:xfrm>
          <a:prstGeom prst="rect">
            <a:avLst/>
          </a:prstGeom>
        </p:spPr>
      </p:pic>
      <p:sp>
        <p:nvSpPr>
          <p:cNvPr id="4" name="title | Bone marrow: cluster and condition frequencies"/>
          <p:cNvSpPr txBox="1"/>
          <p:nvPr/>
        </p:nvSpPr>
        <p:spPr>
          <a:xfrm>
            <a:off x="512064" y="402335"/>
            <a:ext cx="8384682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Bone marrow: cluster and condition frequencies</a:t>
            </a:r>
          </a:p>
        </p:txBody>
      </p:sp>
      <p:sp>
        <p:nvSpPr>
          <p:cNvPr id="5" name="figure_text | C  •  The two denominators from Blood Figure 3C, presented side b"/>
          <p:cNvSpPr txBox="1"/>
          <p:nvPr/>
        </p:nvSpPr>
        <p:spPr>
          <a:xfrm>
            <a:off x="512064" y="838504"/>
            <a:ext cx="5937850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C  •  The two denominators from Blood Figure 3C, presented side by side</a:t>
            </a:r>
          </a:p>
        </p:txBody>
      </p:sp>
      <p:sp>
        <p:nvSpPr>
          <p:cNvPr id="6" name="figure_text | Captured-cell proportions only. No mouse-level error bars or sign"/>
          <p:cNvSpPr txBox="1"/>
          <p:nvPr/>
        </p:nvSpPr>
        <p:spPr>
          <a:xfrm>
            <a:off x="512064" y="7578547"/>
            <a:ext cx="7230583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Captured-cell proportions only. No mouse-level error bars or significance are inferred from individual cells.</a:t>
            </a:r>
          </a:p>
        </p:txBody>
      </p:sp>
      <p:sp>
        <p:nvSpPr>
          <p:cNvPr id="7" name="figure_text | Blood Fig. 3C; saved 20260905 frequency_reconciliation_1.csv."/>
          <p:cNvSpPr txBox="1"/>
          <p:nvPr/>
        </p:nvSpPr>
        <p:spPr>
          <a:xfrm>
            <a:off x="512064" y="7939735"/>
            <a:ext cx="3693398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Blood Fig. 3C; saved 20260905 frequency_reconciliation_1.csv.</a:t>
            </a:r>
          </a:p>
        </p:txBody>
      </p:sp>
      <p:sp>
        <p:nvSpPr>
          <p:cNvPr id="8" name="page_number | 8"/>
          <p:cNvSpPr txBox="1"/>
          <p:nvPr/>
        </p:nvSpPr>
        <p:spPr>
          <a:xfrm>
            <a:off x="14045184" y="7944333"/>
            <a:ext cx="149230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9" name="figure_text | Left: n(cluster, condition) / N(condition)     |     Right: n(con"/>
          <p:cNvSpPr txBox="1"/>
          <p:nvPr/>
        </p:nvSpPr>
        <p:spPr>
          <a:xfrm>
            <a:off x="1024128" y="7146036"/>
            <a:ext cx="7304135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Left: n(cluster, condition) / N(condition)     |     Right: n(condition, cluster) / N(cluster)</a:t>
            </a:r>
          </a:p>
        </p:txBody>
      </p:sp>
      <p:sp>
        <p:nvSpPr>
          <p:cNvPr id="10" name="plot_title | Cluster frequency within condition"/>
          <p:cNvSpPr txBox="1"/>
          <p:nvPr/>
        </p:nvSpPr>
        <p:spPr>
          <a:xfrm>
            <a:off x="1716571" y="1578864"/>
            <a:ext cx="3501866" cy="2652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84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Cluster frequency within condition</a:t>
            </a:r>
          </a:p>
        </p:txBody>
      </p:sp>
      <p:sp>
        <p:nvSpPr>
          <p:cNvPr id="11" name="plot_title | Condition share within cluster"/>
          <p:cNvSpPr txBox="1"/>
          <p:nvPr/>
        </p:nvSpPr>
        <p:spPr>
          <a:xfrm>
            <a:off x="9022627" y="1578864"/>
            <a:ext cx="3064417" cy="2652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84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Condition share within cluster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old_09_panel_01" descr="old_09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600928" y="1783080"/>
            <a:ext cx="4986055" cy="5309907"/>
          </a:xfrm>
          <a:prstGeom prst="rect">
            <a:avLst/>
          </a:prstGeom>
        </p:spPr>
      </p:pic>
      <p:pic>
        <p:nvPicPr>
          <p:cNvPr id="3" name="plot_panel | old_09_panel_02" descr="old_09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6599392" y="1783080"/>
            <a:ext cx="7180615" cy="5091307"/>
          </a:xfrm>
          <a:prstGeom prst="rect">
            <a:avLst/>
          </a:prstGeom>
        </p:spPr>
      </p:pic>
      <p:sp>
        <p:nvSpPr>
          <p:cNvPr id="4" name="title | Spleen: cluster and condition frequencies"/>
          <p:cNvSpPr txBox="1"/>
          <p:nvPr/>
        </p:nvSpPr>
        <p:spPr>
          <a:xfrm>
            <a:off x="512064" y="402335"/>
            <a:ext cx="7272040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Spleen: cluster and condition frequencies</a:t>
            </a:r>
          </a:p>
        </p:txBody>
      </p:sp>
      <p:sp>
        <p:nvSpPr>
          <p:cNvPr id="5" name="figure_text | C  •  The two denominators from Blood Figure 3C, presented side b"/>
          <p:cNvSpPr txBox="1"/>
          <p:nvPr/>
        </p:nvSpPr>
        <p:spPr>
          <a:xfrm>
            <a:off x="512064" y="838504"/>
            <a:ext cx="5937850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C  •  The two denominators from Blood Figure 3C, presented side by side</a:t>
            </a:r>
          </a:p>
        </p:txBody>
      </p:sp>
      <p:sp>
        <p:nvSpPr>
          <p:cNvPr id="6" name="figure_text | Captured-cell proportions only. No mouse-level error bars or sign"/>
          <p:cNvSpPr txBox="1"/>
          <p:nvPr/>
        </p:nvSpPr>
        <p:spPr>
          <a:xfrm>
            <a:off x="512064" y="7578547"/>
            <a:ext cx="7230583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Captured-cell proportions only. No mouse-level error bars or significance are inferred from individual cells.</a:t>
            </a:r>
          </a:p>
        </p:txBody>
      </p:sp>
      <p:sp>
        <p:nvSpPr>
          <p:cNvPr id="7" name="figure_text | Blood Fig. 3C; saved 20260905 frequency_reconciliation_1.csv."/>
          <p:cNvSpPr txBox="1"/>
          <p:nvPr/>
        </p:nvSpPr>
        <p:spPr>
          <a:xfrm>
            <a:off x="512064" y="7939735"/>
            <a:ext cx="3693398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Blood Fig. 3C; saved 20260905 frequency_reconciliation_1.csv.</a:t>
            </a:r>
          </a:p>
        </p:txBody>
      </p:sp>
      <p:sp>
        <p:nvSpPr>
          <p:cNvPr id="8" name="page_number | 9"/>
          <p:cNvSpPr txBox="1"/>
          <p:nvPr/>
        </p:nvSpPr>
        <p:spPr>
          <a:xfrm>
            <a:off x="14045184" y="7944333"/>
            <a:ext cx="149230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9</a:t>
            </a:r>
          </a:p>
        </p:txBody>
      </p:sp>
      <p:sp>
        <p:nvSpPr>
          <p:cNvPr id="9" name="figure_text | Left: n(cluster, condition) / N(condition)     |     Right: n(con"/>
          <p:cNvSpPr txBox="1"/>
          <p:nvPr/>
        </p:nvSpPr>
        <p:spPr>
          <a:xfrm>
            <a:off x="1024128" y="7146036"/>
            <a:ext cx="7304135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Left: n(cluster, condition) / N(condition)     |     Right: n(condition, cluster) / N(cluster)</a:t>
            </a:r>
          </a:p>
        </p:txBody>
      </p:sp>
      <p:sp>
        <p:nvSpPr>
          <p:cNvPr id="10" name="plot_title | Cluster frequency within condition"/>
          <p:cNvSpPr txBox="1"/>
          <p:nvPr/>
        </p:nvSpPr>
        <p:spPr>
          <a:xfrm>
            <a:off x="1716571" y="1578864"/>
            <a:ext cx="3501866" cy="2652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84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Cluster frequency within condition</a:t>
            </a:r>
          </a:p>
        </p:txBody>
      </p:sp>
      <p:sp>
        <p:nvSpPr>
          <p:cNvPr id="11" name="plot_title | Condition share within cluster"/>
          <p:cNvSpPr txBox="1"/>
          <p:nvPr/>
        </p:nvSpPr>
        <p:spPr>
          <a:xfrm>
            <a:off x="9022627" y="1578864"/>
            <a:ext cx="3064417" cy="2652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84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Condition share within cluster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old_10_panel_01" descr="old_10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600928" y="1783080"/>
            <a:ext cx="4986055" cy="5309907"/>
          </a:xfrm>
          <a:prstGeom prst="rect">
            <a:avLst/>
          </a:prstGeom>
        </p:spPr>
      </p:pic>
      <p:pic>
        <p:nvPicPr>
          <p:cNvPr id="3" name="plot_panel | old_10_panel_02" descr="old_10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6599392" y="1783080"/>
            <a:ext cx="7180615" cy="5091307"/>
          </a:xfrm>
          <a:prstGeom prst="rect">
            <a:avLst/>
          </a:prstGeom>
        </p:spPr>
      </p:pic>
      <p:sp>
        <p:nvSpPr>
          <p:cNvPr id="4" name="title | Thymus: cluster and condition frequencies"/>
          <p:cNvSpPr txBox="1"/>
          <p:nvPr/>
        </p:nvSpPr>
        <p:spPr>
          <a:xfrm>
            <a:off x="512064" y="402335"/>
            <a:ext cx="7433706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Thymus: cluster and condition frequencies</a:t>
            </a:r>
          </a:p>
        </p:txBody>
      </p:sp>
      <p:sp>
        <p:nvSpPr>
          <p:cNvPr id="5" name="figure_text | C  •  The two denominators from Blood Figure 3C, presented side b"/>
          <p:cNvSpPr txBox="1"/>
          <p:nvPr/>
        </p:nvSpPr>
        <p:spPr>
          <a:xfrm>
            <a:off x="512064" y="838504"/>
            <a:ext cx="5937850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C  •  The two denominators from Blood Figure 3C, presented side by side</a:t>
            </a:r>
          </a:p>
        </p:txBody>
      </p:sp>
      <p:sp>
        <p:nvSpPr>
          <p:cNvPr id="6" name="figure_text | Captured-cell proportions only. No mouse-level error bars or sign"/>
          <p:cNvSpPr txBox="1"/>
          <p:nvPr/>
        </p:nvSpPr>
        <p:spPr>
          <a:xfrm>
            <a:off x="512064" y="7578547"/>
            <a:ext cx="7230583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Captured-cell proportions only. No mouse-level error bars or significance are inferred from individual cells.</a:t>
            </a:r>
          </a:p>
        </p:txBody>
      </p:sp>
      <p:sp>
        <p:nvSpPr>
          <p:cNvPr id="7" name="figure_text | Blood Fig. 3C; saved 20260905 frequency_reconciliation_1.csv."/>
          <p:cNvSpPr txBox="1"/>
          <p:nvPr/>
        </p:nvSpPr>
        <p:spPr>
          <a:xfrm>
            <a:off x="512064" y="7939735"/>
            <a:ext cx="3693398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Blood Fig. 3C; saved 20260905 frequency_reconciliation_1.csv.</a:t>
            </a:r>
          </a:p>
        </p:txBody>
      </p:sp>
      <p:sp>
        <p:nvSpPr>
          <p:cNvPr id="8" name="page_number | 10"/>
          <p:cNvSpPr txBox="1"/>
          <p:nvPr/>
        </p:nvSpPr>
        <p:spPr>
          <a:xfrm>
            <a:off x="13972032" y="7944333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9" name="figure_text | Left: n(cluster, condition) / N(condition)     |     Right: n(con"/>
          <p:cNvSpPr txBox="1"/>
          <p:nvPr/>
        </p:nvSpPr>
        <p:spPr>
          <a:xfrm>
            <a:off x="1024128" y="7146036"/>
            <a:ext cx="7304135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Left: n(cluster, condition) / N(condition)     |     Right: n(condition, cluster) / N(cluster)</a:t>
            </a:r>
          </a:p>
        </p:txBody>
      </p:sp>
      <p:sp>
        <p:nvSpPr>
          <p:cNvPr id="10" name="plot_title | Cluster frequency within condition"/>
          <p:cNvSpPr txBox="1"/>
          <p:nvPr/>
        </p:nvSpPr>
        <p:spPr>
          <a:xfrm>
            <a:off x="1716571" y="1578864"/>
            <a:ext cx="3501866" cy="2652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84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Cluster frequency within condition</a:t>
            </a:r>
          </a:p>
        </p:txBody>
      </p:sp>
      <p:sp>
        <p:nvSpPr>
          <p:cNvPr id="11" name="plot_title | Condition share within cluster"/>
          <p:cNvSpPr txBox="1"/>
          <p:nvPr/>
        </p:nvSpPr>
        <p:spPr>
          <a:xfrm>
            <a:off x="9022627" y="1578864"/>
            <a:ext cx="3064417" cy="2652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84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Condition share within cluster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old_11_panel_01" descr="old_11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612140" y="1843454"/>
            <a:ext cx="3584956" cy="4825927"/>
          </a:xfrm>
          <a:prstGeom prst="rect">
            <a:avLst/>
          </a:prstGeom>
        </p:spPr>
      </p:pic>
      <p:pic>
        <p:nvPicPr>
          <p:cNvPr id="3" name="plot_panel | old_11_panel_02" descr="old_11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4702556" y="1248166"/>
            <a:ext cx="4384700" cy="5253755"/>
          </a:xfrm>
          <a:prstGeom prst="rect">
            <a:avLst/>
          </a:prstGeom>
        </p:spPr>
      </p:pic>
      <p:pic>
        <p:nvPicPr>
          <p:cNvPr id="4" name="plot_panel | old_11_panel_03" descr="old_11_panel_03.png"/>
          <p:cNvPicPr>
            <a:picLocks noChangeAspect="1"/>
          </p:cNvPicPr>
          <p:nvPr/>
        </p:nvPicPr>
        <p:blipFill>
          <a:blip r:embed="rId6">
            <a:extLst xmlns:asvg="http://schemas.microsoft.com/office/drawing/2016/SVG/main"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5280660" y="6646773"/>
            <a:ext cx="1842516" cy="566862"/>
          </a:xfrm>
          <a:prstGeom prst="rect">
            <a:avLst/>
          </a:prstGeom>
        </p:spPr>
      </p:pic>
      <p:graphicFrame>
        <p:nvGraphicFramePr>
          <p:cNvPr id="5" name="Editable numerical / explanatory table"/>
          <p:cNvGraphicFramePr>
            <a:graphicFrameLocks noGrp="1"/>
          </p:cNvGraphicFramePr>
          <p:nvPr/>
        </p:nvGraphicFramePr>
        <p:xfrm>
          <a:off x="8046720" y="1645919"/>
          <a:ext cx="5998462" cy="4608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9631"/>
                <a:gridCol w="959754"/>
                <a:gridCol w="1079723"/>
                <a:gridCol w="1259677"/>
                <a:gridCol w="1259677"/>
              </a:tblGrid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Gene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Score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log2FC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P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BH FDR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Rpl37a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+43.15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+0.358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&lt;machine limit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&lt;machine limit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Rps21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+42.82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+0.369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&lt;machine limit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&lt;machine limit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Tmsb10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+53.10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+0.481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&lt;machine limit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&lt;machine limit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Rpl41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+37.36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+0.398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1.8e-305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4.9e-302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Rps27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+35.32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+0.310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3.2e-273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6.8e-270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Rpl39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+34.73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+0.328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3.3e-264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5e-261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Rpl36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+34.03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+0.339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9e-254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1.2e-250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Hspa8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-35.08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-0.536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1.3e-269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2.3e-266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Dnaja1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-28.29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-0.660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4.3e-176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2.8e-173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Sfpq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-22.25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-0.697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1e-109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3.7e-107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Dynll1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-21.29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-0.621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1.5e-100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4.6e-98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Mxd4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-19.73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-0.630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1.3e-86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3.3e-84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Ccnd2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-14.57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-0.319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4.2e-48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5.9e-46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Hsph1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-14.37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-0.840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7.9e-47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1.1e-44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title | T2 vs. Control DEGs: global"/>
          <p:cNvSpPr txBox="1"/>
          <p:nvPr/>
        </p:nvSpPr>
        <p:spPr>
          <a:xfrm>
            <a:off x="512064" y="402335"/>
            <a:ext cx="4742444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T2 vs. Control DEGs: global</a:t>
            </a:r>
          </a:p>
        </p:txBody>
      </p:sp>
      <p:sp>
        <p:nvSpPr>
          <p:cNvPr id="7" name="figure_text | Expression/detection dotplot alongside the exact same genes in a "/>
          <p:cNvSpPr txBox="1"/>
          <p:nvPr/>
        </p:nvSpPr>
        <p:spPr>
          <a:xfrm>
            <a:off x="512064" y="838504"/>
            <a:ext cx="6828350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Expression/detection dotplot alongside the exact same genes in a signed DEG table</a:t>
            </a:r>
          </a:p>
        </p:txBody>
      </p:sp>
      <p:sp>
        <p:nvSpPr>
          <p:cNvPr id="8" name="figure_text | Displayed: 7 strongest FDR-ranked genes per direction, when avail"/>
          <p:cNvSpPr txBox="1"/>
          <p:nvPr/>
        </p:nvSpPr>
        <p:spPr>
          <a:xfrm>
            <a:off x="512064" y="7578547"/>
            <a:ext cx="7692847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Displayed: 7 strongest FDR-ranked genes per direction, when available; full gene table linked in the source index.</a:t>
            </a:r>
          </a:p>
        </p:txBody>
      </p:sp>
      <p:sp>
        <p:nvSpPr>
          <p:cNvPr id="9" name="figure_text | Original iNKT slide 10; current 20260905 DE."/>
          <p:cNvSpPr txBox="1"/>
          <p:nvPr/>
        </p:nvSpPr>
        <p:spPr>
          <a:xfrm>
            <a:off x="512064" y="7939735"/>
            <a:ext cx="2665601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Original iNKT slide 10; current 20260905 DE.</a:t>
            </a:r>
          </a:p>
        </p:txBody>
      </p:sp>
      <p:sp>
        <p:nvSpPr>
          <p:cNvPr id="10" name="page_number | 11"/>
          <p:cNvSpPr txBox="1"/>
          <p:nvPr/>
        </p:nvSpPr>
        <p:spPr>
          <a:xfrm>
            <a:off x="13972032" y="7944333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11</a:t>
            </a:r>
          </a:p>
        </p:txBody>
      </p:sp>
      <p:sp>
        <p:nvSpPr>
          <p:cNvPr id="11" name="figure_text | Selection: BH FDR ≤ 0.05, |log2FC| ≥ 0.25.  * Not passing the sam"/>
          <p:cNvSpPr txBox="1"/>
          <p:nvPr/>
        </p:nvSpPr>
        <p:spPr>
          <a:xfrm>
            <a:off x="804672" y="7172737"/>
            <a:ext cx="8907719" cy="21104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49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0000"/>
                </a:solidFill>
                <a:latin typeface="Arial"/>
              </a:rPr>
              <a:t>Selection: BH FDR ≤ 0.05, |log2FC| ≥ 0.25.  * Not passing the same rule in the global comparison; not an interaction test.</a:t>
            </a:r>
          </a:p>
        </p:txBody>
      </p:sp>
      <p:sp>
        <p:nvSpPr>
          <p:cNvPr id="12" name="plot_title | Compared cells"/>
          <p:cNvSpPr txBox="1"/>
          <p:nvPr/>
        </p:nvSpPr>
        <p:spPr>
          <a:xfrm>
            <a:off x="1812440" y="1650456"/>
            <a:ext cx="1476584" cy="250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Compared cells</a:t>
            </a:r>
          </a:p>
        </p:txBody>
      </p:sp>
      <p:sp>
        <p:nvSpPr>
          <p:cNvPr id="13" name="plot_title | Expression"/>
          <p:cNvSpPr txBox="1"/>
          <p:nvPr/>
        </p:nvSpPr>
        <p:spPr>
          <a:xfrm>
            <a:off x="5780793" y="1432559"/>
            <a:ext cx="982374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Expression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old_12_panel_01" descr="old_12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612140" y="1843454"/>
            <a:ext cx="3584956" cy="4825927"/>
          </a:xfrm>
          <a:prstGeom prst="rect">
            <a:avLst/>
          </a:prstGeom>
        </p:spPr>
      </p:pic>
      <p:pic>
        <p:nvPicPr>
          <p:cNvPr id="3" name="plot_panel | old_12_panel_02" descr="old_12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4702556" y="1248166"/>
            <a:ext cx="4384700" cy="5253755"/>
          </a:xfrm>
          <a:prstGeom prst="rect">
            <a:avLst/>
          </a:prstGeom>
        </p:spPr>
      </p:pic>
      <p:pic>
        <p:nvPicPr>
          <p:cNvPr id="4" name="plot_panel | old_12_panel_03" descr="old_12_panel_03.png"/>
          <p:cNvPicPr>
            <a:picLocks noChangeAspect="1"/>
          </p:cNvPicPr>
          <p:nvPr/>
        </p:nvPicPr>
        <p:blipFill>
          <a:blip r:embed="rId6">
            <a:extLst xmlns:asvg="http://schemas.microsoft.com/office/drawing/2016/SVG/main"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5280660" y="6646773"/>
            <a:ext cx="1842516" cy="566862"/>
          </a:xfrm>
          <a:prstGeom prst="rect">
            <a:avLst/>
          </a:prstGeom>
        </p:spPr>
      </p:pic>
      <p:graphicFrame>
        <p:nvGraphicFramePr>
          <p:cNvPr id="5" name="Editable numerical / explanatory table"/>
          <p:cNvGraphicFramePr>
            <a:graphicFrameLocks noGrp="1"/>
          </p:cNvGraphicFramePr>
          <p:nvPr/>
        </p:nvGraphicFramePr>
        <p:xfrm>
          <a:off x="8046720" y="1645919"/>
          <a:ext cx="5998462" cy="4608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9631"/>
                <a:gridCol w="959754"/>
                <a:gridCol w="1079723"/>
                <a:gridCol w="1259677"/>
                <a:gridCol w="1259677"/>
              </a:tblGrid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Gene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Score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log2FC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P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BH FDR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Tmsb10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+33.63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+0.483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6.9e-248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7.3e-244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Rpl37a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+24.56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+0.331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3.3e-133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1.7e-129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Rps21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+24.12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+0.331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1.6e-128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5.8e-125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Cd52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+22.88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+0.402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7.1e-116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1.9e-112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Rps27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+21.61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+0.316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1.6e-103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3.4e-100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Rpl41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+21.47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+0.362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2.7e-102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4.8e-99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Rpl36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+20.69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+0.323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4.3e-95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6.5e-92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Hspa8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-19.84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-0.470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1.5e-87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1.7e-84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Rpl5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-16.84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-0.254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1.3e-63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8.8e-61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Dnaja1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-15.27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-0.566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1.2e-52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6e-50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Dynll1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-12.36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-0.573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4.1e-35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1e-32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Sfpq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-12.31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-0.619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8e-35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1.9e-32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Mxd4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-12.19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-0.612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3.5e-34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7.9e-32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Gimap7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-9.71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-0.453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2.9e-22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4e-20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title | T2 vs. Control DEGs: BM"/>
          <p:cNvSpPr txBox="1"/>
          <p:nvPr/>
        </p:nvSpPr>
        <p:spPr>
          <a:xfrm>
            <a:off x="512064" y="402335"/>
            <a:ext cx="4209897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T2 vs. Control DEGs: BM</a:t>
            </a:r>
          </a:p>
        </p:txBody>
      </p:sp>
      <p:sp>
        <p:nvSpPr>
          <p:cNvPr id="7" name="figure_text | Expression/detection dotplot alongside the exact same genes in a "/>
          <p:cNvSpPr txBox="1"/>
          <p:nvPr/>
        </p:nvSpPr>
        <p:spPr>
          <a:xfrm>
            <a:off x="512064" y="838504"/>
            <a:ext cx="6828350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Expression/detection dotplot alongside the exact same genes in a signed DEG table</a:t>
            </a:r>
          </a:p>
        </p:txBody>
      </p:sp>
      <p:sp>
        <p:nvSpPr>
          <p:cNvPr id="8" name="figure_text | Displayed: 7 strongest FDR-ranked genes per direction, when avail"/>
          <p:cNvSpPr txBox="1"/>
          <p:nvPr/>
        </p:nvSpPr>
        <p:spPr>
          <a:xfrm>
            <a:off x="512064" y="7578547"/>
            <a:ext cx="7692847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Displayed: 7 strongest FDR-ranked genes per direction, when available; full gene table linked in the source index.</a:t>
            </a:r>
          </a:p>
        </p:txBody>
      </p:sp>
      <p:sp>
        <p:nvSpPr>
          <p:cNvPr id="9" name="figure_text | Original iNKT slide 11; current 20260905 DE."/>
          <p:cNvSpPr txBox="1"/>
          <p:nvPr/>
        </p:nvSpPr>
        <p:spPr>
          <a:xfrm>
            <a:off x="512064" y="7939735"/>
            <a:ext cx="2665601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Original iNKT slide 11; current 20260905 DE.</a:t>
            </a:r>
          </a:p>
        </p:txBody>
      </p:sp>
      <p:sp>
        <p:nvSpPr>
          <p:cNvPr id="10" name="page_number | 12"/>
          <p:cNvSpPr txBox="1"/>
          <p:nvPr/>
        </p:nvSpPr>
        <p:spPr>
          <a:xfrm>
            <a:off x="13972032" y="7944333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sp>
        <p:nvSpPr>
          <p:cNvPr id="11" name="figure_text | Selection: BH FDR ≤ 0.05, |log2FC| ≥ 0.25.  * Not passing the sam"/>
          <p:cNvSpPr txBox="1"/>
          <p:nvPr/>
        </p:nvSpPr>
        <p:spPr>
          <a:xfrm>
            <a:off x="804672" y="7172737"/>
            <a:ext cx="8907719" cy="21104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49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0000"/>
                </a:solidFill>
                <a:latin typeface="Arial"/>
              </a:rPr>
              <a:t>Selection: BH FDR ≤ 0.05, |log2FC| ≥ 0.25.  * Not passing the same rule in the global comparison; not an interaction test.</a:t>
            </a:r>
          </a:p>
        </p:txBody>
      </p:sp>
      <p:sp>
        <p:nvSpPr>
          <p:cNvPr id="12" name="plot_title | Compared cells"/>
          <p:cNvSpPr txBox="1"/>
          <p:nvPr/>
        </p:nvSpPr>
        <p:spPr>
          <a:xfrm>
            <a:off x="1812440" y="1650456"/>
            <a:ext cx="1476584" cy="250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Compared cells</a:t>
            </a:r>
          </a:p>
        </p:txBody>
      </p:sp>
      <p:sp>
        <p:nvSpPr>
          <p:cNvPr id="13" name="plot_title | Expression"/>
          <p:cNvSpPr txBox="1"/>
          <p:nvPr/>
        </p:nvSpPr>
        <p:spPr>
          <a:xfrm>
            <a:off x="5780793" y="1432559"/>
            <a:ext cx="982374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Expression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old_13_panel_01" descr="old_13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612140" y="1843454"/>
            <a:ext cx="3584956" cy="4825927"/>
          </a:xfrm>
          <a:prstGeom prst="rect">
            <a:avLst/>
          </a:prstGeom>
        </p:spPr>
      </p:pic>
      <p:pic>
        <p:nvPicPr>
          <p:cNvPr id="3" name="plot_panel | old_13_panel_02" descr="old_13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4464812" y="1248166"/>
            <a:ext cx="4622444" cy="5253755"/>
          </a:xfrm>
          <a:prstGeom prst="rect">
            <a:avLst/>
          </a:prstGeom>
        </p:spPr>
      </p:pic>
      <p:pic>
        <p:nvPicPr>
          <p:cNvPr id="4" name="plot_panel | old_13_panel_03" descr="old_13_panel_03.png"/>
          <p:cNvPicPr>
            <a:picLocks noChangeAspect="1"/>
          </p:cNvPicPr>
          <p:nvPr/>
        </p:nvPicPr>
        <p:blipFill>
          <a:blip r:embed="rId6">
            <a:extLst xmlns:asvg="http://schemas.microsoft.com/office/drawing/2016/SVG/main"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5280660" y="6646773"/>
            <a:ext cx="1842516" cy="566862"/>
          </a:xfrm>
          <a:prstGeom prst="rect">
            <a:avLst/>
          </a:prstGeom>
        </p:spPr>
      </p:pic>
      <p:graphicFrame>
        <p:nvGraphicFramePr>
          <p:cNvPr id="5" name="Editable numerical / explanatory table"/>
          <p:cNvGraphicFramePr>
            <a:graphicFrameLocks noGrp="1"/>
          </p:cNvGraphicFramePr>
          <p:nvPr/>
        </p:nvGraphicFramePr>
        <p:xfrm>
          <a:off x="8046720" y="1645919"/>
          <a:ext cx="5998462" cy="4608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9631"/>
                <a:gridCol w="959754"/>
                <a:gridCol w="1079723"/>
                <a:gridCol w="1259677"/>
                <a:gridCol w="1259677"/>
              </a:tblGrid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Gene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Score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log2FC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P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BH FDR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Tmsb10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+38.05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+0.515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&lt;machine limit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&lt;machine limit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Rps21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+29.88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+0.371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3.6e-196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1.9e-192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Rpl37a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+29.69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+0.358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1.1e-193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4e-190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Rpl41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+27.05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+0.433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3.8e-161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8.2e-158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Rpl39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+23.65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+0.335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1.1e-123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1.7e-120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Rps15a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+23.65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+0.280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1.1e-123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1.7e-120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Rps27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+23.18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+0.286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7.9e-119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9.4e-116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Hspa8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-27.53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-0.655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8.6e-167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2.3e-163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Dnaja1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-23.43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-0.844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2.1e-121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2.8e-118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Sfpq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-16.73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-0.802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7.7e-63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3.4e-60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Dynll1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-15.97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-0.695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2.1e-57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7.2e-55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Hsph1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-14.78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-1.669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2.1e-49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5.7e-47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Mxd4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-13.38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-0.668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8e-41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1.7e-38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Hsp90ab1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-13.20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-0.317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8.3e-40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1.6e-37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title | T2 vs. Control DEGs: Spl"/>
          <p:cNvSpPr txBox="1"/>
          <p:nvPr/>
        </p:nvSpPr>
        <p:spPr>
          <a:xfrm>
            <a:off x="512064" y="402335"/>
            <a:ext cx="4219407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T2 vs. Control DEGs: Spl</a:t>
            </a:r>
          </a:p>
        </p:txBody>
      </p:sp>
      <p:sp>
        <p:nvSpPr>
          <p:cNvPr id="7" name="figure_text | Expression/detection dotplot alongside the exact same genes in a "/>
          <p:cNvSpPr txBox="1"/>
          <p:nvPr/>
        </p:nvSpPr>
        <p:spPr>
          <a:xfrm>
            <a:off x="512064" y="838504"/>
            <a:ext cx="6828350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Expression/detection dotplot alongside the exact same genes in a signed DEG table</a:t>
            </a:r>
          </a:p>
        </p:txBody>
      </p:sp>
      <p:sp>
        <p:nvSpPr>
          <p:cNvPr id="8" name="figure_text | Displayed: 7 strongest FDR-ranked genes per direction, when avail"/>
          <p:cNvSpPr txBox="1"/>
          <p:nvPr/>
        </p:nvSpPr>
        <p:spPr>
          <a:xfrm>
            <a:off x="512064" y="7578547"/>
            <a:ext cx="7692847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Displayed: 7 strongest FDR-ranked genes per direction, when available; full gene table linked in the source index.</a:t>
            </a:r>
          </a:p>
        </p:txBody>
      </p:sp>
      <p:sp>
        <p:nvSpPr>
          <p:cNvPr id="9" name="figure_text | Original iNKT slide 11; current 20260905 DE."/>
          <p:cNvSpPr txBox="1"/>
          <p:nvPr/>
        </p:nvSpPr>
        <p:spPr>
          <a:xfrm>
            <a:off x="512064" y="7939735"/>
            <a:ext cx="2665601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Original iNKT slide 11; current 20260905 DE.</a:t>
            </a:r>
          </a:p>
        </p:txBody>
      </p:sp>
      <p:sp>
        <p:nvSpPr>
          <p:cNvPr id="10" name="page_number | 13"/>
          <p:cNvSpPr txBox="1"/>
          <p:nvPr/>
        </p:nvSpPr>
        <p:spPr>
          <a:xfrm>
            <a:off x="13972032" y="7944333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13</a:t>
            </a:r>
          </a:p>
        </p:txBody>
      </p:sp>
      <p:sp>
        <p:nvSpPr>
          <p:cNvPr id="11" name="figure_text | Selection: BH FDR ≤ 0.05, |log2FC| ≥ 0.25.  * Not passing the sam"/>
          <p:cNvSpPr txBox="1"/>
          <p:nvPr/>
        </p:nvSpPr>
        <p:spPr>
          <a:xfrm>
            <a:off x="804672" y="7172737"/>
            <a:ext cx="8907719" cy="21104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49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0000"/>
                </a:solidFill>
                <a:latin typeface="Arial"/>
              </a:rPr>
              <a:t>Selection: BH FDR ≤ 0.05, |log2FC| ≥ 0.25.  * Not passing the same rule in the global comparison; not an interaction test.</a:t>
            </a:r>
          </a:p>
        </p:txBody>
      </p:sp>
      <p:sp>
        <p:nvSpPr>
          <p:cNvPr id="12" name="plot_title | Compared cells"/>
          <p:cNvSpPr txBox="1"/>
          <p:nvPr/>
        </p:nvSpPr>
        <p:spPr>
          <a:xfrm>
            <a:off x="1812440" y="1650456"/>
            <a:ext cx="1476584" cy="250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Compared cells</a:t>
            </a:r>
          </a:p>
        </p:txBody>
      </p:sp>
      <p:sp>
        <p:nvSpPr>
          <p:cNvPr id="13" name="plot_title | Expression"/>
          <p:cNvSpPr txBox="1"/>
          <p:nvPr/>
        </p:nvSpPr>
        <p:spPr>
          <a:xfrm>
            <a:off x="5780793" y="1432559"/>
            <a:ext cx="982374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Expression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old_14_panel_01" descr="old_14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612140" y="1843454"/>
            <a:ext cx="3584956" cy="4825927"/>
          </a:xfrm>
          <a:prstGeom prst="rect">
            <a:avLst/>
          </a:prstGeom>
        </p:spPr>
      </p:pic>
      <p:pic>
        <p:nvPicPr>
          <p:cNvPr id="3" name="plot_panel | old_14_panel_02" descr="old_14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4702556" y="1248166"/>
            <a:ext cx="4384700" cy="5253755"/>
          </a:xfrm>
          <a:prstGeom prst="rect">
            <a:avLst/>
          </a:prstGeom>
        </p:spPr>
      </p:pic>
      <p:pic>
        <p:nvPicPr>
          <p:cNvPr id="4" name="plot_panel | old_14_panel_03" descr="old_14_panel_03.png"/>
          <p:cNvPicPr>
            <a:picLocks noChangeAspect="1"/>
          </p:cNvPicPr>
          <p:nvPr/>
        </p:nvPicPr>
        <p:blipFill>
          <a:blip r:embed="rId6">
            <a:extLst xmlns:asvg="http://schemas.microsoft.com/office/drawing/2016/SVG/main"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5280660" y="6646773"/>
            <a:ext cx="1842516" cy="566862"/>
          </a:xfrm>
          <a:prstGeom prst="rect">
            <a:avLst/>
          </a:prstGeom>
        </p:spPr>
      </p:pic>
      <p:graphicFrame>
        <p:nvGraphicFramePr>
          <p:cNvPr id="5" name="Editable numerical / explanatory table"/>
          <p:cNvGraphicFramePr>
            <a:graphicFrameLocks noGrp="1"/>
          </p:cNvGraphicFramePr>
          <p:nvPr/>
        </p:nvGraphicFramePr>
        <p:xfrm>
          <a:off x="8046720" y="1645919"/>
          <a:ext cx="5998462" cy="4608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9631"/>
                <a:gridCol w="959754"/>
                <a:gridCol w="1079723"/>
                <a:gridCol w="1259677"/>
                <a:gridCol w="1259677"/>
              </a:tblGrid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Gene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Score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log2FC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P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BH FDR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Rps21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+19.26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+0.416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1.1e-82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1.1e-78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Tmsb10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+19.06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+0.399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5.6e-81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3e-77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Rpl37a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+18.78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+0.381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1.1e-78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3.8e-75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Rpl41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+15.97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+0.392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2e-57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5.2e-54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Rpl39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+15.89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+0.373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7.7e-57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1.6e-53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Rpl36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+15.83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+0.418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2e-56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3.6e-53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Rpl37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+15.76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+0.383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6.1e-56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9.2e-53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Hspa8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-11.48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-0.359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1.7e-30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9.1e-28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Sfpq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-8.50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-0.614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1.9e-17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5.7e-15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Dnaja1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-8.08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-0.416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6.3e-16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1.7e-13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Dynll1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-7.42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-0.554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1.1e-13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2.4e-11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Mxd4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-7.19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-0.530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6.6e-13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1.3e-10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Arl4c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-7.19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-0.498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6.7e-13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1.3e-10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Stip1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-6.26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-0.799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3.8e-10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6.3e-08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title | T2 vs. Control DEGs: Thy"/>
          <p:cNvSpPr txBox="1"/>
          <p:nvPr/>
        </p:nvSpPr>
        <p:spPr>
          <a:xfrm>
            <a:off x="512064" y="402335"/>
            <a:ext cx="4304995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T2 vs. Control DEGs: Thy</a:t>
            </a:r>
          </a:p>
        </p:txBody>
      </p:sp>
      <p:sp>
        <p:nvSpPr>
          <p:cNvPr id="7" name="figure_text | Expression/detection dotplot alongside the exact same genes in a "/>
          <p:cNvSpPr txBox="1"/>
          <p:nvPr/>
        </p:nvSpPr>
        <p:spPr>
          <a:xfrm>
            <a:off x="512064" y="838504"/>
            <a:ext cx="6828350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Expression/detection dotplot alongside the exact same genes in a signed DEG table</a:t>
            </a:r>
          </a:p>
        </p:txBody>
      </p:sp>
      <p:sp>
        <p:nvSpPr>
          <p:cNvPr id="8" name="figure_text | Displayed: 7 strongest FDR-ranked genes per direction, when avail"/>
          <p:cNvSpPr txBox="1"/>
          <p:nvPr/>
        </p:nvSpPr>
        <p:spPr>
          <a:xfrm>
            <a:off x="512064" y="7578547"/>
            <a:ext cx="7692847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Displayed: 7 strongest FDR-ranked genes per direction, when available; full gene table linked in the source index.</a:t>
            </a:r>
          </a:p>
        </p:txBody>
      </p:sp>
      <p:sp>
        <p:nvSpPr>
          <p:cNvPr id="9" name="figure_text | Original iNKT slide 11; current 20260905 DE."/>
          <p:cNvSpPr txBox="1"/>
          <p:nvPr/>
        </p:nvSpPr>
        <p:spPr>
          <a:xfrm>
            <a:off x="512064" y="7939735"/>
            <a:ext cx="2665601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Original iNKT slide 11; current 20260905 DE.</a:t>
            </a:r>
          </a:p>
        </p:txBody>
      </p:sp>
      <p:sp>
        <p:nvSpPr>
          <p:cNvPr id="10" name="page_number | 14"/>
          <p:cNvSpPr txBox="1"/>
          <p:nvPr/>
        </p:nvSpPr>
        <p:spPr>
          <a:xfrm>
            <a:off x="13972032" y="7944333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14</a:t>
            </a:r>
          </a:p>
        </p:txBody>
      </p:sp>
      <p:sp>
        <p:nvSpPr>
          <p:cNvPr id="11" name="figure_text | Selection: BH FDR ≤ 0.05, |log2FC| ≥ 0.25.  * Not passing the sam"/>
          <p:cNvSpPr txBox="1"/>
          <p:nvPr/>
        </p:nvSpPr>
        <p:spPr>
          <a:xfrm>
            <a:off x="804672" y="7172737"/>
            <a:ext cx="8907719" cy="21104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49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0000"/>
                </a:solidFill>
                <a:latin typeface="Arial"/>
              </a:rPr>
              <a:t>Selection: BH FDR ≤ 0.05, |log2FC| ≥ 0.25.  * Not passing the same rule in the global comparison; not an interaction test.</a:t>
            </a:r>
          </a:p>
        </p:txBody>
      </p:sp>
      <p:sp>
        <p:nvSpPr>
          <p:cNvPr id="12" name="plot_title | Compared cells"/>
          <p:cNvSpPr txBox="1"/>
          <p:nvPr/>
        </p:nvSpPr>
        <p:spPr>
          <a:xfrm>
            <a:off x="1812440" y="1650456"/>
            <a:ext cx="1476584" cy="250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Compared cells</a:t>
            </a:r>
          </a:p>
        </p:txBody>
      </p:sp>
      <p:sp>
        <p:nvSpPr>
          <p:cNvPr id="13" name="plot_title | Expression"/>
          <p:cNvSpPr txBox="1"/>
          <p:nvPr/>
        </p:nvSpPr>
        <p:spPr>
          <a:xfrm>
            <a:off x="5780793" y="1432559"/>
            <a:ext cx="982374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Expression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old_15_panel_01" descr="old_15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612140" y="1843454"/>
            <a:ext cx="3584956" cy="4825927"/>
          </a:xfrm>
          <a:prstGeom prst="rect">
            <a:avLst/>
          </a:prstGeom>
        </p:spPr>
      </p:pic>
      <p:pic>
        <p:nvPicPr>
          <p:cNvPr id="3" name="plot_panel | old_15_panel_02" descr="old_15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4702556" y="1248166"/>
            <a:ext cx="4384700" cy="5253755"/>
          </a:xfrm>
          <a:prstGeom prst="rect">
            <a:avLst/>
          </a:prstGeom>
        </p:spPr>
      </p:pic>
      <p:pic>
        <p:nvPicPr>
          <p:cNvPr id="4" name="plot_panel | old_15_panel_03" descr="old_15_panel_03.png"/>
          <p:cNvPicPr>
            <a:picLocks noChangeAspect="1"/>
          </p:cNvPicPr>
          <p:nvPr/>
        </p:nvPicPr>
        <p:blipFill>
          <a:blip r:embed="rId6">
            <a:extLst xmlns:asvg="http://schemas.microsoft.com/office/drawing/2016/SVG/main"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5280660" y="6646773"/>
            <a:ext cx="1842516" cy="566862"/>
          </a:xfrm>
          <a:prstGeom prst="rect">
            <a:avLst/>
          </a:prstGeom>
        </p:spPr>
      </p:pic>
      <p:graphicFrame>
        <p:nvGraphicFramePr>
          <p:cNvPr id="5" name="Editable numerical / explanatory table"/>
          <p:cNvGraphicFramePr>
            <a:graphicFrameLocks noGrp="1"/>
          </p:cNvGraphicFramePr>
          <p:nvPr/>
        </p:nvGraphicFramePr>
        <p:xfrm>
          <a:off x="8046720" y="1645919"/>
          <a:ext cx="5998462" cy="4608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9631"/>
                <a:gridCol w="959754"/>
                <a:gridCol w="1079723"/>
                <a:gridCol w="1259677"/>
                <a:gridCol w="1259677"/>
              </a:tblGrid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Gene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Score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log2FC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P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BH FDR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Tmsb10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+30.58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+0.465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2e-205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2.2e-201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Rps21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+22.11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+0.327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2.7e-108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1.5e-104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Rpl37a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+21.81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+0.315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1.9e-105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6.7e-102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Cd52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+19.93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+0.346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2.2e-88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5.8e-85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Rps27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+19.89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+0.307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5.3e-88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1.1e-84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Rpl41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+19.29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+0.365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6e-83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1.1e-79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Rpl37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+18.58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+0.331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4.4e-77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6.7e-74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Hspa8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-18.46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-0.494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4.4e-76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5.9e-73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Rpl5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-15.25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-0.265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1.5e-52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1e-49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Dnaja1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-13.39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-0.552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6.5e-41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3.2e-38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Mxd4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-13.08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-0.705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4.3e-39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2e-36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Sfpq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-10.58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-0.599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3.8e-26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8.2e-24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Dynll1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-9.70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-0.512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2.9e-22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5.3e-20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Gimap7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-8.88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-0.432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6.6e-19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9.5e-17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title | T2 vs. Control DEGs: C0 / BM"/>
          <p:cNvSpPr txBox="1"/>
          <p:nvPr/>
        </p:nvSpPr>
        <p:spPr>
          <a:xfrm>
            <a:off x="512064" y="402335"/>
            <a:ext cx="4961168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T2 vs. Control DEGs: C0 / BM</a:t>
            </a:r>
          </a:p>
        </p:txBody>
      </p:sp>
      <p:sp>
        <p:nvSpPr>
          <p:cNvPr id="7" name="figure_text | Expression/detection dotplot alongside the exact same genes in a "/>
          <p:cNvSpPr txBox="1"/>
          <p:nvPr/>
        </p:nvSpPr>
        <p:spPr>
          <a:xfrm>
            <a:off x="512064" y="838504"/>
            <a:ext cx="6828350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Expression/detection dotplot alongside the exact same genes in a signed DEG table</a:t>
            </a:r>
          </a:p>
        </p:txBody>
      </p:sp>
      <p:sp>
        <p:nvSpPr>
          <p:cNvPr id="8" name="figure_text | Displayed: 7 strongest FDR-ranked genes per direction, when avail"/>
          <p:cNvSpPr txBox="1"/>
          <p:nvPr/>
        </p:nvSpPr>
        <p:spPr>
          <a:xfrm>
            <a:off x="512064" y="7578547"/>
            <a:ext cx="7692847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Displayed: 7 strongest FDR-ranked genes per direction, when available; full gene table linked in the source index.</a:t>
            </a:r>
          </a:p>
        </p:txBody>
      </p:sp>
      <p:sp>
        <p:nvSpPr>
          <p:cNvPr id="9" name="figure_text | Original iNKT slide 17 layout; current BM C0; current 20260905 DE"/>
          <p:cNvSpPr txBox="1"/>
          <p:nvPr/>
        </p:nvSpPr>
        <p:spPr>
          <a:xfrm>
            <a:off x="512064" y="7939735"/>
            <a:ext cx="3954471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Original iNKT slide 17 layout; current BM C0; current 20260905 DE.</a:t>
            </a:r>
          </a:p>
        </p:txBody>
      </p:sp>
      <p:sp>
        <p:nvSpPr>
          <p:cNvPr id="10" name="page_number | 15"/>
          <p:cNvSpPr txBox="1"/>
          <p:nvPr/>
        </p:nvSpPr>
        <p:spPr>
          <a:xfrm>
            <a:off x="13972032" y="7944333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sp>
        <p:nvSpPr>
          <p:cNvPr id="11" name="figure_text | Selection: BH FDR ≤ 0.05, |log2FC| ≥ 0.25.  * Not passing the sam"/>
          <p:cNvSpPr txBox="1"/>
          <p:nvPr/>
        </p:nvSpPr>
        <p:spPr>
          <a:xfrm>
            <a:off x="804672" y="7172737"/>
            <a:ext cx="8907719" cy="21104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49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0000"/>
                </a:solidFill>
                <a:latin typeface="Arial"/>
              </a:rPr>
              <a:t>Selection: BH FDR ≤ 0.05, |log2FC| ≥ 0.25.  * Not passing the same rule in the global comparison; not an interaction test.</a:t>
            </a:r>
          </a:p>
        </p:txBody>
      </p:sp>
      <p:sp>
        <p:nvSpPr>
          <p:cNvPr id="12" name="plot_title | Compared cells"/>
          <p:cNvSpPr txBox="1"/>
          <p:nvPr/>
        </p:nvSpPr>
        <p:spPr>
          <a:xfrm>
            <a:off x="1812440" y="1650456"/>
            <a:ext cx="1476584" cy="250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Compared cells</a:t>
            </a:r>
          </a:p>
        </p:txBody>
      </p:sp>
      <p:sp>
        <p:nvSpPr>
          <p:cNvPr id="13" name="plot_title | Expression"/>
          <p:cNvSpPr txBox="1"/>
          <p:nvPr/>
        </p:nvSpPr>
        <p:spPr>
          <a:xfrm>
            <a:off x="5780793" y="1432559"/>
            <a:ext cx="982374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Expression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old_16_panel_01" descr="old_16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612140" y="1843454"/>
            <a:ext cx="3584956" cy="4825927"/>
          </a:xfrm>
          <a:prstGeom prst="rect">
            <a:avLst/>
          </a:prstGeom>
        </p:spPr>
      </p:pic>
      <p:pic>
        <p:nvPicPr>
          <p:cNvPr id="3" name="plot_panel | old_16_panel_02" descr="old_16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4702556" y="1248166"/>
            <a:ext cx="4384700" cy="5253755"/>
          </a:xfrm>
          <a:prstGeom prst="rect">
            <a:avLst/>
          </a:prstGeom>
        </p:spPr>
      </p:pic>
      <p:pic>
        <p:nvPicPr>
          <p:cNvPr id="4" name="plot_panel | old_16_panel_03" descr="old_16_panel_03.png"/>
          <p:cNvPicPr>
            <a:picLocks noChangeAspect="1"/>
          </p:cNvPicPr>
          <p:nvPr/>
        </p:nvPicPr>
        <p:blipFill>
          <a:blip r:embed="rId6">
            <a:extLst xmlns:asvg="http://schemas.microsoft.com/office/drawing/2016/SVG/main"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5280660" y="6646773"/>
            <a:ext cx="1842516" cy="566862"/>
          </a:xfrm>
          <a:prstGeom prst="rect">
            <a:avLst/>
          </a:prstGeom>
        </p:spPr>
      </p:pic>
      <p:graphicFrame>
        <p:nvGraphicFramePr>
          <p:cNvPr id="5" name="Editable numerical / explanatory table"/>
          <p:cNvGraphicFramePr>
            <a:graphicFrameLocks noGrp="1"/>
          </p:cNvGraphicFramePr>
          <p:nvPr/>
        </p:nvGraphicFramePr>
        <p:xfrm>
          <a:off x="8046720" y="1645919"/>
          <a:ext cx="5998462" cy="4608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9631"/>
                <a:gridCol w="959754"/>
                <a:gridCol w="1079723"/>
                <a:gridCol w="1259677"/>
                <a:gridCol w="1259677"/>
              </a:tblGrid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Gene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Score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log2FC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P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BH FDR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Rps21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+20.82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+0.400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2.8e-96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3e-92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Tmsb10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+20.47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+0.422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4.1e-93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2.2e-89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Rpl37a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+19.51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+0.364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8.8e-85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3.1e-81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Rpl39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+17.18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+0.366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4.1e-66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1.1e-62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Rpl41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+16.82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+0.375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1.8e-63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3.8e-60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Rpl37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+16.33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+0.356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6e-60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1.1e-56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Rpl35a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+16.14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+0.318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1.4e-58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2.1e-55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Hspa8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-11.21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-0.346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3.5e-29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1.7e-26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Dnaja1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-8.79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-0.467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1.5e-18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4.3e-16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Sfpq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-8.50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-0.636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1.9e-17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5.2e-15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Dynll1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-8.32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-0.630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9e-17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2.4e-14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Mxd4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-7.15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-0.531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8.8e-13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1.8e-10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Arl4c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-7.14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-0.499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9.2e-13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1.8e-10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Cxcr6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-6.70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-0.427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2.1e-11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3.8e-09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title | T2 vs. Control DEGs: C6 / Thy"/>
          <p:cNvSpPr txBox="1"/>
          <p:nvPr/>
        </p:nvSpPr>
        <p:spPr>
          <a:xfrm>
            <a:off x="512064" y="402335"/>
            <a:ext cx="5056266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T2 vs. Control DEGs: C6 / Thy</a:t>
            </a:r>
          </a:p>
        </p:txBody>
      </p:sp>
      <p:sp>
        <p:nvSpPr>
          <p:cNvPr id="7" name="figure_text | Expression/detection dotplot alongside the exact same genes in a "/>
          <p:cNvSpPr txBox="1"/>
          <p:nvPr/>
        </p:nvSpPr>
        <p:spPr>
          <a:xfrm>
            <a:off x="512064" y="838504"/>
            <a:ext cx="6828350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Expression/detection dotplot alongside the exact same genes in a signed DEG table</a:t>
            </a:r>
          </a:p>
        </p:txBody>
      </p:sp>
      <p:sp>
        <p:nvSpPr>
          <p:cNvPr id="8" name="figure_text | Displayed: 7 strongest FDR-ranked genes per direction, when avail"/>
          <p:cNvSpPr txBox="1"/>
          <p:nvPr/>
        </p:nvSpPr>
        <p:spPr>
          <a:xfrm>
            <a:off x="512064" y="7578547"/>
            <a:ext cx="7692847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Displayed: 7 strongest FDR-ranked genes per direction, when available; full gene table linked in the source index.</a:t>
            </a:r>
          </a:p>
        </p:txBody>
      </p:sp>
      <p:sp>
        <p:nvSpPr>
          <p:cNvPr id="9" name="figure_text | Original iNKT slide 13 layout; current Thy C6; current 20260905 D"/>
          <p:cNvSpPr txBox="1"/>
          <p:nvPr/>
        </p:nvSpPr>
        <p:spPr>
          <a:xfrm>
            <a:off x="512064" y="7939735"/>
            <a:ext cx="3992510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Original iNKT slide 13 layout; current Thy C6; current 20260905 DE.</a:t>
            </a:r>
          </a:p>
        </p:txBody>
      </p:sp>
      <p:sp>
        <p:nvSpPr>
          <p:cNvPr id="10" name="page_number | 16"/>
          <p:cNvSpPr txBox="1"/>
          <p:nvPr/>
        </p:nvSpPr>
        <p:spPr>
          <a:xfrm>
            <a:off x="13972032" y="7944333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16</a:t>
            </a:r>
          </a:p>
        </p:txBody>
      </p:sp>
      <p:sp>
        <p:nvSpPr>
          <p:cNvPr id="11" name="figure_text | Selection: BH FDR ≤ 0.05, |log2FC| ≥ 0.25.  * Not passing the sam"/>
          <p:cNvSpPr txBox="1"/>
          <p:nvPr/>
        </p:nvSpPr>
        <p:spPr>
          <a:xfrm>
            <a:off x="804672" y="7172737"/>
            <a:ext cx="8907719" cy="21104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49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0000"/>
                </a:solidFill>
                <a:latin typeface="Arial"/>
              </a:rPr>
              <a:t>Selection: BH FDR ≤ 0.05, |log2FC| ≥ 0.25.  * Not passing the same rule in the global comparison; not an interaction test.</a:t>
            </a:r>
          </a:p>
        </p:txBody>
      </p:sp>
      <p:sp>
        <p:nvSpPr>
          <p:cNvPr id="12" name="plot_title | Compared cells"/>
          <p:cNvSpPr txBox="1"/>
          <p:nvPr/>
        </p:nvSpPr>
        <p:spPr>
          <a:xfrm>
            <a:off x="1812440" y="1650456"/>
            <a:ext cx="1476584" cy="250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Compared cells</a:t>
            </a:r>
          </a:p>
        </p:txBody>
      </p:sp>
      <p:sp>
        <p:nvSpPr>
          <p:cNvPr id="13" name="plot_title | Expression"/>
          <p:cNvSpPr txBox="1"/>
          <p:nvPr/>
        </p:nvSpPr>
        <p:spPr>
          <a:xfrm>
            <a:off x="5780793" y="1432559"/>
            <a:ext cx="982374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Expression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old_17_panel_01" descr="old_17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612140" y="1843454"/>
            <a:ext cx="3584956" cy="4825927"/>
          </a:xfrm>
          <a:prstGeom prst="rect">
            <a:avLst/>
          </a:prstGeom>
        </p:spPr>
      </p:pic>
      <p:pic>
        <p:nvPicPr>
          <p:cNvPr id="3" name="plot_panel | old_17_panel_02" descr="old_17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4464812" y="1248166"/>
            <a:ext cx="4622444" cy="5253755"/>
          </a:xfrm>
          <a:prstGeom prst="rect">
            <a:avLst/>
          </a:prstGeom>
        </p:spPr>
      </p:pic>
      <p:pic>
        <p:nvPicPr>
          <p:cNvPr id="4" name="plot_panel | old_17_panel_03" descr="old_17_panel_03.png"/>
          <p:cNvPicPr>
            <a:picLocks noChangeAspect="1"/>
          </p:cNvPicPr>
          <p:nvPr/>
        </p:nvPicPr>
        <p:blipFill>
          <a:blip r:embed="rId6">
            <a:extLst xmlns:asvg="http://schemas.microsoft.com/office/drawing/2016/SVG/main"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5280660" y="6646773"/>
            <a:ext cx="1842516" cy="566862"/>
          </a:xfrm>
          <a:prstGeom prst="rect">
            <a:avLst/>
          </a:prstGeom>
        </p:spPr>
      </p:pic>
      <p:graphicFrame>
        <p:nvGraphicFramePr>
          <p:cNvPr id="5" name="Editable numerical / explanatory table"/>
          <p:cNvGraphicFramePr>
            <a:graphicFrameLocks noGrp="1"/>
          </p:cNvGraphicFramePr>
          <p:nvPr/>
        </p:nvGraphicFramePr>
        <p:xfrm>
          <a:off x="8046720" y="1645919"/>
          <a:ext cx="5998462" cy="4608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9631"/>
                <a:gridCol w="959754"/>
                <a:gridCol w="1079723"/>
                <a:gridCol w="1259677"/>
                <a:gridCol w="1259677"/>
              </a:tblGrid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Gene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Score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log2FC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P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BH FDR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Rpl41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+10.09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+0.417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6e-24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3.2e-20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Rps21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+10.10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+0.376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5.7e-24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3.2e-20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Rpl37a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+9.32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+0.344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1.2e-20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4.1e-17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Rpl39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+9.11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+0.352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8.5e-20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2.3e-16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Tmsb10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+8.99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+0.476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2.4e-19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5.2e-16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Rpl35a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+8.03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+0.309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9.5e-16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1.7e-12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Rps15a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+7.68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+0.281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1.5e-14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2.4e-11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Rpl5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-7.52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-0.286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5.6e-14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7.5e-11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Hspa8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-7.07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-0.510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1.6e-12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1.5e-09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Dnaja1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-6.88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-0.763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6e-12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5.3e-09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Dynll1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-6.37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-0.769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1.9e-10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1.1e-07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Rps6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-6.28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-0.256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3.4e-10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1.8e-07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Hsph1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-5.30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-1.647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1.1e-07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3.8e-05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0723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Hsp90ab1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-4.93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-0.284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8.2e-07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0.00023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title | T2 vs. Control DEGs: C5-1 / Spl"/>
          <p:cNvSpPr txBox="1"/>
          <p:nvPr/>
        </p:nvSpPr>
        <p:spPr>
          <a:xfrm>
            <a:off x="512064" y="402335"/>
            <a:ext cx="5303520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T2 vs. Control DEGs: C5-1 / Spl</a:t>
            </a:r>
          </a:p>
        </p:txBody>
      </p:sp>
      <p:sp>
        <p:nvSpPr>
          <p:cNvPr id="7" name="figure_text | Expression/detection dotplot alongside the exact same genes in a "/>
          <p:cNvSpPr txBox="1"/>
          <p:nvPr/>
        </p:nvSpPr>
        <p:spPr>
          <a:xfrm>
            <a:off x="512064" y="838504"/>
            <a:ext cx="6828350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Expression/detection dotplot alongside the exact same genes in a signed DEG table</a:t>
            </a:r>
          </a:p>
        </p:txBody>
      </p:sp>
      <p:sp>
        <p:nvSpPr>
          <p:cNvPr id="8" name="figure_text | Displayed: 7 strongest FDR-ranked genes per direction, when avail"/>
          <p:cNvSpPr txBox="1"/>
          <p:nvPr/>
        </p:nvSpPr>
        <p:spPr>
          <a:xfrm>
            <a:off x="512064" y="7578547"/>
            <a:ext cx="7692847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Displayed: 7 strongest FDR-ranked genes per direction, when available; full gene table linked in the source index.</a:t>
            </a:r>
          </a:p>
        </p:txBody>
      </p:sp>
      <p:sp>
        <p:nvSpPr>
          <p:cNvPr id="9" name="figure_text | Original iNKT slide 19 layout; current Spl C5-1; current 20260905"/>
          <p:cNvSpPr txBox="1"/>
          <p:nvPr/>
        </p:nvSpPr>
        <p:spPr>
          <a:xfrm>
            <a:off x="512064" y="7939735"/>
            <a:ext cx="4078098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Original iNKT slide 19 layout; current Spl C5-1; current 20260905 DE.</a:t>
            </a:r>
          </a:p>
        </p:txBody>
      </p:sp>
      <p:sp>
        <p:nvSpPr>
          <p:cNvPr id="10" name="page_number | 17"/>
          <p:cNvSpPr txBox="1"/>
          <p:nvPr/>
        </p:nvSpPr>
        <p:spPr>
          <a:xfrm>
            <a:off x="13972032" y="7944333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17</a:t>
            </a:r>
          </a:p>
        </p:txBody>
      </p:sp>
      <p:sp>
        <p:nvSpPr>
          <p:cNvPr id="11" name="figure_text | Selection: BH FDR ≤ 0.05, |log2FC| ≥ 0.25.  * Not passing the sam"/>
          <p:cNvSpPr txBox="1"/>
          <p:nvPr/>
        </p:nvSpPr>
        <p:spPr>
          <a:xfrm>
            <a:off x="804672" y="7172737"/>
            <a:ext cx="8907719" cy="21104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49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0000"/>
                </a:solidFill>
                <a:latin typeface="Arial"/>
              </a:rPr>
              <a:t>Selection: BH FDR ≤ 0.05, |log2FC| ≥ 0.25.  * Not passing the same rule in the global comparison; not an interaction test.</a:t>
            </a:r>
          </a:p>
        </p:txBody>
      </p:sp>
      <p:sp>
        <p:nvSpPr>
          <p:cNvPr id="12" name="plot_title | Compared cells"/>
          <p:cNvSpPr txBox="1"/>
          <p:nvPr/>
        </p:nvSpPr>
        <p:spPr>
          <a:xfrm>
            <a:off x="1812440" y="1650456"/>
            <a:ext cx="1476584" cy="250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Compared cells</a:t>
            </a:r>
          </a:p>
        </p:txBody>
      </p:sp>
      <p:sp>
        <p:nvSpPr>
          <p:cNvPr id="13" name="plot_title | Expression"/>
          <p:cNvSpPr txBox="1"/>
          <p:nvPr/>
        </p:nvSpPr>
        <p:spPr>
          <a:xfrm>
            <a:off x="5780793" y="1432559"/>
            <a:ext cx="982374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Expression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old_18_panel_01" descr="old_18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612140" y="1843454"/>
            <a:ext cx="3584956" cy="4825927"/>
          </a:xfrm>
          <a:prstGeom prst="rect">
            <a:avLst/>
          </a:prstGeom>
        </p:spPr>
      </p:pic>
      <p:pic>
        <p:nvPicPr>
          <p:cNvPr id="3" name="plot_panel | old_18_panel_02" descr="old_18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4702556" y="1248166"/>
            <a:ext cx="4384700" cy="5253755"/>
          </a:xfrm>
          <a:prstGeom prst="rect">
            <a:avLst/>
          </a:prstGeom>
        </p:spPr>
      </p:pic>
      <p:pic>
        <p:nvPicPr>
          <p:cNvPr id="4" name="plot_panel | old_18_panel_03" descr="old_18_panel_03.png"/>
          <p:cNvPicPr>
            <a:picLocks noChangeAspect="1"/>
          </p:cNvPicPr>
          <p:nvPr/>
        </p:nvPicPr>
        <p:blipFill>
          <a:blip r:embed="rId6">
            <a:extLst xmlns:asvg="http://schemas.microsoft.com/office/drawing/2016/SVG/main"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5280660" y="6646773"/>
            <a:ext cx="1842516" cy="566862"/>
          </a:xfrm>
          <a:prstGeom prst="rect">
            <a:avLst/>
          </a:prstGeom>
        </p:spPr>
      </p:pic>
      <p:graphicFrame>
        <p:nvGraphicFramePr>
          <p:cNvPr id="5" name="Editable numerical / explanatory table"/>
          <p:cNvGraphicFramePr>
            <a:graphicFrameLocks noGrp="1"/>
          </p:cNvGraphicFramePr>
          <p:nvPr/>
        </p:nvGraphicFramePr>
        <p:xfrm>
          <a:off x="8046720" y="1645919"/>
          <a:ext cx="5998462" cy="46085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9631"/>
                <a:gridCol w="959754"/>
                <a:gridCol w="1079723"/>
                <a:gridCol w="1259677"/>
                <a:gridCol w="1259677"/>
              </a:tblGrid>
              <a:tr h="418961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Gene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Score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log2FC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P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BH FDR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418961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Rpl39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+5.75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+0.377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8.9e-09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9.5e-05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418961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Rpl34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+5.52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+0.377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3.3e-08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0.00018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418961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Rplp2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+5.36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+0.313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8.3e-08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0.00029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418961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Rpl36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+5.24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+0.389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1.6e-07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0.00033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418961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Rps15a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+5.21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+0.312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1.8e-07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0.00033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418961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Tmsb10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+5.25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+0.347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1.6e-07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0.00033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418961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Rpl37a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+5.01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+0.287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5.5e-07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0.00074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418961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Sfpq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-4.83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-1.237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1.4e-06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0.0014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418961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Dynll1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-4.19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-0.858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2.8e-05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0.018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418961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Shld1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-3.98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-1.911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6.9e-05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0.031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title | T2 vs. Control DEGs: C5-2 / BM"/>
          <p:cNvSpPr txBox="1"/>
          <p:nvPr/>
        </p:nvSpPr>
        <p:spPr>
          <a:xfrm>
            <a:off x="512064" y="402335"/>
            <a:ext cx="5294010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T2 vs. Control DEGs: C5-2 / BM</a:t>
            </a:r>
          </a:p>
        </p:txBody>
      </p:sp>
      <p:sp>
        <p:nvSpPr>
          <p:cNvPr id="7" name="figure_text | Expression/detection dotplot alongside the exact same genes in a "/>
          <p:cNvSpPr txBox="1"/>
          <p:nvPr/>
        </p:nvSpPr>
        <p:spPr>
          <a:xfrm>
            <a:off x="512064" y="838504"/>
            <a:ext cx="6828350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Expression/detection dotplot alongside the exact same genes in a signed DEG table</a:t>
            </a:r>
          </a:p>
        </p:txBody>
      </p:sp>
      <p:sp>
        <p:nvSpPr>
          <p:cNvPr id="8" name="figure_text | Displayed: 7 strongest FDR-ranked genes per direction, when avail"/>
          <p:cNvSpPr txBox="1"/>
          <p:nvPr/>
        </p:nvSpPr>
        <p:spPr>
          <a:xfrm>
            <a:off x="512064" y="7578547"/>
            <a:ext cx="7692847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Displayed: 7 strongest FDR-ranked genes per direction, when available; full gene table linked in the source index.</a:t>
            </a:r>
          </a:p>
        </p:txBody>
      </p:sp>
      <p:sp>
        <p:nvSpPr>
          <p:cNvPr id="9" name="figure_text | Original iNKT cluster-DE layout; current BM C5-2; current 2026090"/>
          <p:cNvSpPr txBox="1"/>
          <p:nvPr/>
        </p:nvSpPr>
        <p:spPr>
          <a:xfrm>
            <a:off x="512064" y="7939735"/>
            <a:ext cx="4204102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Original iNKT cluster-DE layout; current BM C5-2; current 20260905 DE.</a:t>
            </a:r>
          </a:p>
        </p:txBody>
      </p:sp>
      <p:sp>
        <p:nvSpPr>
          <p:cNvPr id="10" name="page_number | 18"/>
          <p:cNvSpPr txBox="1"/>
          <p:nvPr/>
        </p:nvSpPr>
        <p:spPr>
          <a:xfrm>
            <a:off x="13972032" y="7944333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18</a:t>
            </a:r>
          </a:p>
        </p:txBody>
      </p:sp>
      <p:sp>
        <p:nvSpPr>
          <p:cNvPr id="11" name="figure_text | Selection: BH FDR ≤ 0.05, |log2FC| ≥ 0.25.  * Not passing the sam"/>
          <p:cNvSpPr txBox="1"/>
          <p:nvPr/>
        </p:nvSpPr>
        <p:spPr>
          <a:xfrm>
            <a:off x="804672" y="7172737"/>
            <a:ext cx="8907719" cy="21104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49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0000"/>
                </a:solidFill>
                <a:latin typeface="Arial"/>
              </a:rPr>
              <a:t>Selection: BH FDR ≤ 0.05, |log2FC| ≥ 0.25.  * Not passing the same rule in the global comparison; not an interaction test.</a:t>
            </a:r>
          </a:p>
        </p:txBody>
      </p:sp>
      <p:sp>
        <p:nvSpPr>
          <p:cNvPr id="12" name="plot_title | Compared cells"/>
          <p:cNvSpPr txBox="1"/>
          <p:nvPr/>
        </p:nvSpPr>
        <p:spPr>
          <a:xfrm>
            <a:off x="1812440" y="1650456"/>
            <a:ext cx="1476584" cy="250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Compared cells</a:t>
            </a:r>
          </a:p>
        </p:txBody>
      </p:sp>
      <p:sp>
        <p:nvSpPr>
          <p:cNvPr id="13" name="plot_title | Expression"/>
          <p:cNvSpPr txBox="1"/>
          <p:nvPr/>
        </p:nvSpPr>
        <p:spPr>
          <a:xfrm>
            <a:off x="5780793" y="1432559"/>
            <a:ext cx="982374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Expression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Editable numerical / explanatory table"/>
          <p:cNvGraphicFramePr>
            <a:graphicFrameLocks noGrp="1"/>
          </p:cNvGraphicFramePr>
          <p:nvPr/>
        </p:nvGraphicFramePr>
        <p:xfrm>
          <a:off x="512064" y="1563624"/>
          <a:ext cx="13606269" cy="4855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5818"/>
                <a:gridCol w="1768815"/>
                <a:gridCol w="1224564"/>
                <a:gridCol w="1224564"/>
                <a:gridCol w="1224564"/>
                <a:gridCol w="4217944"/>
              </a:tblGrid>
              <a:tr h="5394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Pathway / reaction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Legacy source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Old FDR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T2-up FDR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Ctrl-up FDR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Current overlapping genes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hsa05020 Prion disease - Homo sapiens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(human)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KEGG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2021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HUMAN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5.9e-05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2.6e-10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0.44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T2: Cox5b, Cox6c, Cox8a +16 more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Ctrl: Bax, Ccl5, Csnk2a2 +6 more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p23 (PTGES3) binds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HSP90:ATP:FKBP5:nascent protein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Reactome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4.2e-06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0.0047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0.00066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T2: Hspa1a, Hspa1b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Ctrl: Hspa8, Ptges3, Stip1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39495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p23 (PTGES3) binds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HSP90:ATP:FKBP4:nascent protein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Reactome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4.2e-06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0.0047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0.00066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T2: Hspa1a, Hspa1b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Ctrl: Hspa8, Ptges3, Stip1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HSP40s activate intrinsic ATPase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activity of HSP70s in the cytosol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Reactome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2.8e-05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0.0018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0.00066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T2: Dnajb1, Hspa1a, Hspa1b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Ctrl: Dnajc2, Hspa14, Hspa5 +1 more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HSP40s activate intrinsic ATPase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activity of HSP70s in the nucleoplasm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Reactome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3.3e-05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0.0018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0.00066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T2: Dnajb1, Hspa1a, Hspa1b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Ctrl: Dnajc2, Hspa14, Hspa5 +1 more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STIP1(HOP) binds HSP90 and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HSP70:HSP40:nascent protein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Reactome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7.2e-09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0.0013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0.0012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T2: Dnajb1, Hspa1a, Hspa1b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Ctrl: Dnaja1, Hspa8, Stip1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ATP hydrolysis by HSP70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Reactome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1.9e-09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0.0013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0.011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T2: Dnajb1, Hspa1a, Hspa1b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Ctrl: Dnaja1, Hspa8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HSP70 binds to HSP40:nascent protein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Reactome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1.8e-09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0.0013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0.011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T2: Dnajb1, Hspa1a, Hspa1b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Ctrl: Dnaja1, Hspa8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title | Pathways: C6 / Thy"/>
          <p:cNvSpPr txBox="1"/>
          <p:nvPr/>
        </p:nvSpPr>
        <p:spPr>
          <a:xfrm>
            <a:off x="512064" y="402335"/>
            <a:ext cx="3326975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Pathways: C6 / Thy</a:t>
            </a:r>
          </a:p>
        </p:txBody>
      </p:sp>
      <p:sp>
        <p:nvSpPr>
          <p:cNvPr id="4" name="figure_text | Legacy c1_thymus pathway vocabulary; current full-member ORA with"/>
          <p:cNvSpPr txBox="1"/>
          <p:nvPr/>
        </p:nvSpPr>
        <p:spPr>
          <a:xfrm>
            <a:off x="512064" y="838504"/>
            <a:ext cx="7916029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Legacy c1_thymus pathway vocabulary; current full-member ORA with explicit up/down direction</a:t>
            </a:r>
          </a:p>
        </p:txBody>
      </p:sp>
      <p:sp>
        <p:nvSpPr>
          <p:cNvPr id="5" name="figure_text | Legacy/current cluster correspondence is a response comparison, n"/>
          <p:cNvSpPr txBox="1"/>
          <p:nvPr/>
        </p:nvSpPr>
        <p:spPr>
          <a:xfrm>
            <a:off x="512064" y="7578547"/>
            <a:ext cx="8648280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Legacy/current cluster correspondence is a response comparison, not an identity claim; pathway versions and thresholds differ.</a:t>
            </a:r>
          </a:p>
        </p:txBody>
      </p:sp>
      <p:sp>
        <p:nvSpPr>
          <p:cNvPr id="6" name="figure_text | Original iNKT slide 14; 20260905 PPT_pathway_validation_every_row"/>
          <p:cNvSpPr txBox="1"/>
          <p:nvPr/>
        </p:nvSpPr>
        <p:spPr>
          <a:xfrm>
            <a:off x="512064" y="7939735"/>
            <a:ext cx="4246153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Original iNKT slide 14; 20260905 PPT_pathway_validation_every_row.csv.</a:t>
            </a:r>
          </a:p>
        </p:txBody>
      </p:sp>
      <p:sp>
        <p:nvSpPr>
          <p:cNvPr id="7" name="page_number | 19"/>
          <p:cNvSpPr txBox="1"/>
          <p:nvPr/>
        </p:nvSpPr>
        <p:spPr>
          <a:xfrm>
            <a:off x="13972032" y="7944333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19</a:t>
            </a:r>
          </a:p>
        </p:txBody>
      </p:sp>
      <p:sp>
        <p:nvSpPr>
          <p:cNvPr id="8" name="figure_text | Shown: 8 strongest current min(up-FDR, down-FDR), retaining origi"/>
          <p:cNvSpPr txBox="1"/>
          <p:nvPr/>
        </p:nvSpPr>
        <p:spPr>
          <a:xfrm>
            <a:off x="585216" y="6885432"/>
            <a:ext cx="10083957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Shown: 8 strongest current min(up-FDR, down-FDR), retaining original names; first 3 drivers per direction shown; complete records in exported table.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Editable numerical / explanatory table"/>
          <p:cNvGraphicFramePr>
            <a:graphicFrameLocks noGrp="1"/>
          </p:cNvGraphicFramePr>
          <p:nvPr/>
        </p:nvGraphicFramePr>
        <p:xfrm>
          <a:off x="512064" y="1563624"/>
          <a:ext cx="13606269" cy="4855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5818"/>
                <a:gridCol w="1768815"/>
                <a:gridCol w="1224564"/>
                <a:gridCol w="1224564"/>
                <a:gridCol w="1224564"/>
                <a:gridCol w="4217944"/>
              </a:tblGrid>
              <a:tr h="5394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Pathway / reaction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Legacy source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Old FDR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T2-up FDR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Ctrl-up FDR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Current overlapping genes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hsa05020 Prion disease - Homo sapiens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(human)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KEGG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2021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HUMAN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3.9e-11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5.3e-13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T2: Atp5j, Cox5b, Cox6b1 +26 more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Ctrl: Hspa8, Psmd2, Psmd6 +3 more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FKBP4 binds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HSP90:ATP:STIP1:HSP70:nascent protein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Reactome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3e-05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0.046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0.0062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T2: Hspa1a, Hspa1b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Ctrl: Fkbp4, Hspa8, Stip1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39495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HSF1 acetylation at Lys80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Reactome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3e-05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0.067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0.0062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T2: Hspa1a, Hspa1b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Ctrl: Ep300, Fkbp4, Hspa8 +1 more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p23 (PTGES3) binds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HSP90:ATP:FKBP4:nascent protein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Reactome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4.3e-05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0.046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0.0062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T2: Hspa1a, Hspa1b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Ctrl: Fkbp4, Hspa8, Stip1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STIP1(HOP) binds HSP90 and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HSP70:HSP40:nascent protein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Reactome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1.6e-07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0.051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0.011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T2: Hspa1a, Hspa1b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Ctrl: Dnaja1, Hspa8, Stip1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Acetylated HSF1 dissociates from DNA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Reactome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1.3e-05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0.062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0.015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T2: Hspa1a, Hspa1b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Ctrl: Fkbp4, Hspa8, Hsph1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HSP70:DNAJB1 binds HSF1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Reactome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1.3e-05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0.062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0.015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T2: Hspa1a, Hspa1b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Ctrl: Fkbp4, Hspa8, Hsph1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HSF1-mediated gene expression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Reactome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5.9e-05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0.062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0.015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T2: Hspa1a, Hspa1b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Ctrl: Fkbp4, Hspa8, Hsph1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title | Pathways: C0 / BM"/>
          <p:cNvSpPr txBox="1"/>
          <p:nvPr/>
        </p:nvSpPr>
        <p:spPr>
          <a:xfrm>
            <a:off x="512064" y="402335"/>
            <a:ext cx="3231878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Pathways: C0 / BM</a:t>
            </a:r>
          </a:p>
        </p:txBody>
      </p:sp>
      <p:sp>
        <p:nvSpPr>
          <p:cNvPr id="4" name="figure_text | Legacy c5_bone_marrow pathway vocabulary; current full-member ORA"/>
          <p:cNvSpPr txBox="1"/>
          <p:nvPr/>
        </p:nvSpPr>
        <p:spPr>
          <a:xfrm>
            <a:off x="512064" y="838504"/>
            <a:ext cx="8394786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Legacy c5_bone_marrow pathway vocabulary; current full-member ORA with explicit up/down direction</a:t>
            </a:r>
          </a:p>
        </p:txBody>
      </p:sp>
      <p:sp>
        <p:nvSpPr>
          <p:cNvPr id="5" name="figure_text | Legacy/current cluster correspondence is a response comparison, n"/>
          <p:cNvSpPr txBox="1"/>
          <p:nvPr/>
        </p:nvSpPr>
        <p:spPr>
          <a:xfrm>
            <a:off x="512064" y="7578547"/>
            <a:ext cx="8648280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Legacy/current cluster correspondence is a response comparison, not an identity claim; pathway versions and thresholds differ.</a:t>
            </a:r>
          </a:p>
        </p:txBody>
      </p:sp>
      <p:sp>
        <p:nvSpPr>
          <p:cNvPr id="6" name="figure_text | Original iNKT slide 18; 20260905 PPT_pathway_validation_every_row"/>
          <p:cNvSpPr txBox="1"/>
          <p:nvPr/>
        </p:nvSpPr>
        <p:spPr>
          <a:xfrm>
            <a:off x="512064" y="7939735"/>
            <a:ext cx="4246153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Original iNKT slide 18; 20260905 PPT_pathway_validation_every_row.csv.</a:t>
            </a:r>
          </a:p>
        </p:txBody>
      </p:sp>
      <p:sp>
        <p:nvSpPr>
          <p:cNvPr id="7" name="page_number | 20"/>
          <p:cNvSpPr txBox="1"/>
          <p:nvPr/>
        </p:nvSpPr>
        <p:spPr>
          <a:xfrm>
            <a:off x="13972032" y="7944333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8" name="figure_text | Shown: 8 strongest current min(up-FDR, down-FDR), retaining origi"/>
          <p:cNvSpPr txBox="1"/>
          <p:nvPr/>
        </p:nvSpPr>
        <p:spPr>
          <a:xfrm>
            <a:off x="585216" y="6885432"/>
            <a:ext cx="10083957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Shown: 8 strongest current min(up-FDR, down-FDR), retaining original names; first 3 drivers per direction shown; complete records in exported table.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Editable numerical / explanatory table"/>
          <p:cNvGraphicFramePr>
            <a:graphicFrameLocks noGrp="1"/>
          </p:cNvGraphicFramePr>
          <p:nvPr/>
        </p:nvGraphicFramePr>
        <p:xfrm>
          <a:off x="512064" y="1563624"/>
          <a:ext cx="13606269" cy="4855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5818"/>
                <a:gridCol w="1768815"/>
                <a:gridCol w="1224564"/>
                <a:gridCol w="1224564"/>
                <a:gridCol w="1224564"/>
                <a:gridCol w="4217944"/>
              </a:tblGrid>
              <a:tr h="5394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Pathway / reaction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Legacy source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Old FDR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T2-up FDR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Ctrl-up FDR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Current overlapping genes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hsa05020 Prion disease - Homo sapiens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(human)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KEGG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2021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HUMAN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0.046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2e-07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T2: Cox6c, Hspa1b, Ndufa13 +7 more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Ctrl: Hspa8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STIP1(HOP) binds HSP90 and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HSP70:HSP40:nascent protein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Reactome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4e-06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0.074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0.0015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T2: Hspa1b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Ctrl: Dnaja1, Hspa8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39495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ATP hydrolysis by HSP70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Reactome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0.0018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0.074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0.0015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T2: Hspa1b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Ctrl: Dnaja1, Hspa8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HSP70 binds to HSP40:nascent protein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Reactome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0.0018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0.074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0.0015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T2: Hspa1b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Ctrl: Dnaja1, Hspa8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HSF1-mediated gene expression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Reactome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0.0027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0.074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0.0015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T2: Hspa1b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Ctrl: Hspa8, Hsph1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ATP binding to HSP90 triggers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conformation change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Reactome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0.0014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0.074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0.023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T2: Hspa1b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Ctrl: Hspa8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FKBP4 binds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HSP90:ATP:STIP1:HSP70:nascent protein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Reactome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0.0018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0.074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0.024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T2: Hspa1b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Ctrl: Hspa8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FKBP5 binds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HSP90:ATP:STIP1:HSP70:nascent protein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Reactome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0.0018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0.074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0.024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T2: Hspa1b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Ctrl: Hspa8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title | Pathways: C5-1 / Spl"/>
          <p:cNvSpPr txBox="1"/>
          <p:nvPr/>
        </p:nvSpPr>
        <p:spPr>
          <a:xfrm>
            <a:off x="512064" y="402335"/>
            <a:ext cx="3574229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Pathways: C5-1 / Spl</a:t>
            </a:r>
          </a:p>
        </p:txBody>
      </p:sp>
      <p:sp>
        <p:nvSpPr>
          <p:cNvPr id="4" name="figure_text | Legacy c6_spleen pathway vocabulary; current full-member ORA with"/>
          <p:cNvSpPr txBox="1"/>
          <p:nvPr/>
        </p:nvSpPr>
        <p:spPr>
          <a:xfrm>
            <a:off x="512064" y="838504"/>
            <a:ext cx="7830441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Legacy c6_spleen pathway vocabulary; current full-member ORA with explicit up/down direction</a:t>
            </a:r>
          </a:p>
        </p:txBody>
      </p:sp>
      <p:sp>
        <p:nvSpPr>
          <p:cNvPr id="5" name="figure_text | Legacy/current cluster correspondence is a response comparison, n"/>
          <p:cNvSpPr txBox="1"/>
          <p:nvPr/>
        </p:nvSpPr>
        <p:spPr>
          <a:xfrm>
            <a:off x="512064" y="7578547"/>
            <a:ext cx="8648280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Legacy/current cluster correspondence is a response comparison, not an identity claim; pathway versions and thresholds differ.</a:t>
            </a:r>
          </a:p>
        </p:txBody>
      </p:sp>
      <p:sp>
        <p:nvSpPr>
          <p:cNvPr id="6" name="figure_text | Original iNKT slide 20; 20260905 PPT_pathway_validation_every_row"/>
          <p:cNvSpPr txBox="1"/>
          <p:nvPr/>
        </p:nvSpPr>
        <p:spPr>
          <a:xfrm>
            <a:off x="512064" y="7939735"/>
            <a:ext cx="4246153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Original iNKT slide 20; 20260905 PPT_pathway_validation_every_row.csv.</a:t>
            </a:r>
          </a:p>
        </p:txBody>
      </p:sp>
      <p:sp>
        <p:nvSpPr>
          <p:cNvPr id="7" name="page_number | 21"/>
          <p:cNvSpPr txBox="1"/>
          <p:nvPr/>
        </p:nvSpPr>
        <p:spPr>
          <a:xfrm>
            <a:off x="13972032" y="7944333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21</a:t>
            </a:r>
          </a:p>
        </p:txBody>
      </p:sp>
      <p:sp>
        <p:nvSpPr>
          <p:cNvPr id="8" name="figure_text | Shown: 8 strongest current min(up-FDR, down-FDR), retaining origi"/>
          <p:cNvSpPr txBox="1"/>
          <p:nvPr/>
        </p:nvSpPr>
        <p:spPr>
          <a:xfrm>
            <a:off x="585216" y="6885432"/>
            <a:ext cx="10083957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Shown: 8 strongest current min(up-FDR, down-FDR), retaining original names; first 3 drivers per direction shown; complete records in exported table.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old_22_panel_01" descr="old_22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527776" y="1453895"/>
            <a:ext cx="6449095" cy="2534447"/>
          </a:xfrm>
          <a:prstGeom prst="rect">
            <a:avLst/>
          </a:prstGeom>
        </p:spPr>
      </p:pic>
      <p:pic>
        <p:nvPicPr>
          <p:cNvPr id="3" name="plot_panel | old_22_panel_02" descr="old_22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7550368" y="1453895"/>
            <a:ext cx="6449095" cy="2534447"/>
          </a:xfrm>
          <a:prstGeom prst="rect">
            <a:avLst/>
          </a:prstGeom>
        </p:spPr>
      </p:pic>
      <p:pic>
        <p:nvPicPr>
          <p:cNvPr id="4" name="plot_panel | old_22_panel_03" descr="old_22_panel_03.png"/>
          <p:cNvPicPr>
            <a:picLocks noChangeAspect="1"/>
          </p:cNvPicPr>
          <p:nvPr/>
        </p:nvPicPr>
        <p:blipFill>
          <a:blip r:embed="rId6">
            <a:extLst xmlns:asvg="http://schemas.microsoft.com/office/drawing/2016/SVG/main"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527776" y="4416552"/>
            <a:ext cx="6449095" cy="2534447"/>
          </a:xfrm>
          <a:prstGeom prst="rect">
            <a:avLst/>
          </a:prstGeom>
        </p:spPr>
      </p:pic>
      <p:pic>
        <p:nvPicPr>
          <p:cNvPr id="5" name="plot_panel | old_22_panel_04" descr="old_22_panel_04.png"/>
          <p:cNvPicPr>
            <a:picLocks noChangeAspect="1"/>
          </p:cNvPicPr>
          <p:nvPr/>
        </p:nvPicPr>
        <p:blipFill>
          <a:blip r:embed="rId8">
            <a:extLst xmlns:asvg="http://schemas.microsoft.com/office/drawing/2016/SVG/main">
              <a:ext uri="{96DAC541-7B7A-43D3-8B79-37D633B846F1}">
                <asvg:svgBlip r:embed="rId9"/>
              </a:ext>
            </a:extLst>
          </a:blip>
          <a:stretch>
            <a:fillRect/>
          </a:stretch>
        </p:blipFill>
        <p:spPr>
          <a:xfrm>
            <a:off x="7550368" y="4416552"/>
            <a:ext cx="6449095" cy="2534447"/>
          </a:xfrm>
          <a:prstGeom prst="rect">
            <a:avLst/>
          </a:prstGeom>
        </p:spPr>
      </p:pic>
      <p:sp>
        <p:nvSpPr>
          <p:cNvPr id="6" name="title | D  Differential expression: Control vs. Tumor"/>
          <p:cNvSpPr txBox="1"/>
          <p:nvPr/>
        </p:nvSpPr>
        <p:spPr>
          <a:xfrm>
            <a:off x="512064" y="402335"/>
            <a:ext cx="7742624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D  Differential expression: Control vs. Tumor</a:t>
            </a:r>
          </a:p>
        </p:txBody>
      </p:sp>
      <p:sp>
        <p:nvSpPr>
          <p:cNvPr id="7" name="figure_text | Paper axes and blue/red direction; current tissue × cluster compa"/>
          <p:cNvSpPr txBox="1"/>
          <p:nvPr/>
        </p:nvSpPr>
        <p:spPr>
          <a:xfrm>
            <a:off x="512064" y="838504"/>
            <a:ext cx="5839484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Paper axes and blue/red direction; current tissue × cluster comparisons</a:t>
            </a:r>
          </a:p>
        </p:txBody>
      </p:sp>
      <p:sp>
        <p:nvSpPr>
          <p:cNvPr id="8" name="figure_text | Color rule retained: gene BH FDR ≤ 0.05 and |log2FC| ≥ 0.25. Vert"/>
          <p:cNvSpPr txBox="1"/>
          <p:nvPr/>
        </p:nvSpPr>
        <p:spPr>
          <a:xfrm>
            <a:off x="512064" y="7578547"/>
            <a:ext cx="7446633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Color rule retained: gene BH FDR ≤ 0.05 and |log2FC| ≥ 0.25. Vertical display thresholds are therefore ±0.25.</a:t>
            </a:r>
          </a:p>
        </p:txBody>
      </p:sp>
      <p:sp>
        <p:nvSpPr>
          <p:cNvPr id="9" name="figure_text | Blood Fig. 3D; current DE tables (20260905). Paper combines K1+K2"/>
          <p:cNvSpPr txBox="1"/>
          <p:nvPr/>
        </p:nvSpPr>
        <p:spPr>
          <a:xfrm>
            <a:off x="512064" y="7939735"/>
            <a:ext cx="7301906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Blood Fig. 3D; current DE tables (20260905). Paper combines K1+K2; these panels do not claim that population equivalence.</a:t>
            </a:r>
          </a:p>
        </p:txBody>
      </p:sp>
      <p:sp>
        <p:nvSpPr>
          <p:cNvPr id="10" name="page_number | 22"/>
          <p:cNvSpPr txBox="1"/>
          <p:nvPr/>
        </p:nvSpPr>
        <p:spPr>
          <a:xfrm>
            <a:off x="13972032" y="7944333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22</a:t>
            </a:r>
          </a:p>
        </p:txBody>
      </p:sp>
      <p:sp>
        <p:nvSpPr>
          <p:cNvPr id="11" name="figure_text | Common axes: |log2FC| ≤ 5; −log10(P) capped at 100. All uncapped "/>
          <p:cNvSpPr txBox="1"/>
          <p:nvPr/>
        </p:nvSpPr>
        <p:spPr>
          <a:xfrm>
            <a:off x="1097280" y="7049293"/>
            <a:ext cx="7861348" cy="21104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49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0000"/>
                </a:solidFill>
                <a:latin typeface="Arial"/>
              </a:rPr>
              <a:t>Common axes: |log2FC| ≤ 5; −log10(P) capped at 100. All uncapped values and display flags are exported.</a:t>
            </a:r>
          </a:p>
        </p:txBody>
      </p:sp>
      <p:sp>
        <p:nvSpPr>
          <p:cNvPr id="12" name="plot_title | C0 / BM"/>
          <p:cNvSpPr txBox="1"/>
          <p:nvPr/>
        </p:nvSpPr>
        <p:spPr>
          <a:xfrm>
            <a:off x="3703320" y="1270546"/>
            <a:ext cx="738835" cy="238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C0 / BM</a:t>
            </a:r>
          </a:p>
        </p:txBody>
      </p:sp>
      <p:sp>
        <p:nvSpPr>
          <p:cNvPr id="13" name="plot_title | C6 / Thy"/>
          <p:cNvSpPr txBox="1"/>
          <p:nvPr/>
        </p:nvSpPr>
        <p:spPr>
          <a:xfrm>
            <a:off x="10703052" y="1267967"/>
            <a:ext cx="786384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C6 / Thy</a:t>
            </a:r>
          </a:p>
        </p:txBody>
      </p:sp>
      <p:sp>
        <p:nvSpPr>
          <p:cNvPr id="14" name="plot_title | C5-1 / Spl"/>
          <p:cNvSpPr txBox="1"/>
          <p:nvPr/>
        </p:nvSpPr>
        <p:spPr>
          <a:xfrm>
            <a:off x="3625596" y="4230624"/>
            <a:ext cx="900501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C5-1 / Spl</a:t>
            </a:r>
          </a:p>
        </p:txBody>
      </p:sp>
      <p:sp>
        <p:nvSpPr>
          <p:cNvPr id="15" name="plot_title | C5-2 / BM"/>
          <p:cNvSpPr txBox="1"/>
          <p:nvPr/>
        </p:nvSpPr>
        <p:spPr>
          <a:xfrm>
            <a:off x="10643616" y="4233202"/>
            <a:ext cx="910010" cy="238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C5-2 / BM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old_23_panel_01" descr="old_23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777240" y="1296560"/>
            <a:ext cx="8833104" cy="5396847"/>
          </a:xfrm>
          <a:prstGeom prst="rect">
            <a:avLst/>
          </a:prstGeom>
        </p:spPr>
      </p:pic>
      <p:pic>
        <p:nvPicPr>
          <p:cNvPr id="3" name="plot_panel | old_23_panel_03" descr="old_23_panel_03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8718804" y="7115860"/>
            <a:ext cx="3012948" cy="550402"/>
          </a:xfrm>
          <a:prstGeom prst="rect">
            <a:avLst/>
          </a:prstGeom>
        </p:spPr>
      </p:pic>
      <p:sp>
        <p:nvSpPr>
          <p:cNvPr id="4" name="title | E  Paper pathways: C0 / BM"/>
          <p:cNvSpPr txBox="1"/>
          <p:nvPr/>
        </p:nvSpPr>
        <p:spPr>
          <a:xfrm>
            <a:off x="512064" y="402335"/>
            <a:ext cx="4762949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E  Paper pathways: C0 / BM</a:t>
            </a:r>
          </a:p>
        </p:txBody>
      </p:sp>
      <p:sp>
        <p:nvSpPr>
          <p:cNvPr id="5" name="figure_text | Single enrichment-score columns with actual driver genes; all 17 "/>
          <p:cNvSpPr txBox="1"/>
          <p:nvPr/>
        </p:nvSpPr>
        <p:spPr>
          <a:xfrm>
            <a:off x="512064" y="838504"/>
            <a:ext cx="8133267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Single enrichment-score columns with actual driver genes; all 17 reference pathways remain visible</a:t>
            </a:r>
          </a:p>
        </p:txBody>
      </p:sp>
      <p:sp>
        <p:nvSpPr>
          <p:cNvPr id="6" name="figure_text | Score = −ln(nominal enrichment P), verified against Table S3; * p"/>
          <p:cNvSpPr txBox="1"/>
          <p:nvPr/>
        </p:nvSpPr>
        <p:spPr>
          <a:xfrm>
            <a:off x="512064" y="7578547"/>
            <a:ext cx="9495095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Score = −ln(nominal enrichment P), verified against Table S3; * pathway BH FDR ≤ 0.05. Scale does not remove method/library differences.</a:t>
            </a:r>
          </a:p>
        </p:txBody>
      </p:sp>
      <p:sp>
        <p:nvSpPr>
          <p:cNvPr id="7" name="figure_text | Blood Fig. 3E/Table S3; our ORA: nominal DEG P ≤ 0.05, linear FC "/>
          <p:cNvSpPr txBox="1"/>
          <p:nvPr/>
        </p:nvSpPr>
        <p:spPr>
          <a:xfrm>
            <a:off x="512064" y="7939735"/>
            <a:ext cx="5762217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Blood Fig. 3E/Table S3; our ORA: nominal DEG P ≤ 0.05, linear FC ≥ 1.5; frozen KEGG_2019_Mouse.</a:t>
            </a:r>
          </a:p>
        </p:txBody>
      </p:sp>
      <p:sp>
        <p:nvSpPr>
          <p:cNvPr id="8" name="page_number | 23"/>
          <p:cNvSpPr txBox="1"/>
          <p:nvPr/>
        </p:nvSpPr>
        <p:spPr>
          <a:xfrm>
            <a:off x="13972032" y="7944333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23</a:t>
            </a:r>
          </a:p>
        </p:txBody>
      </p:sp>
      <p:sp>
        <p:nvSpPr>
          <p:cNvPr id="9" name="body_text | Our T2-up overlapping genes"/>
          <p:cNvSpPr txBox="1"/>
          <p:nvPr/>
        </p:nvSpPr>
        <p:spPr>
          <a:xfrm>
            <a:off x="10241280" y="1314848"/>
            <a:ext cx="2193828" cy="2128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Arial"/>
              </a:rPr>
              <a:t>Our T2-up overlapping genes</a:t>
            </a:r>
          </a:p>
        </p:txBody>
      </p:sp>
      <p:sp>
        <p:nvSpPr>
          <p:cNvPr id="10" name="body_text | Cd8a, Il1r1, Il6ra"/>
          <p:cNvSpPr txBox="1"/>
          <p:nvPr/>
        </p:nvSpPr>
        <p:spPr>
          <a:xfrm>
            <a:off x="10241280" y="1673782"/>
            <a:ext cx="1043147" cy="1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70039"/>
                </a:solidFill>
                <a:latin typeface="Arial"/>
              </a:rPr>
              <a:t>Cd8a, Il1r1, Il6ra</a:t>
            </a:r>
          </a:p>
        </p:txBody>
      </p:sp>
      <p:sp>
        <p:nvSpPr>
          <p:cNvPr id="11" name="body_text | Cd8a, Ciita, Hspa1a, Hspa1b, Hspa2"/>
          <p:cNvSpPr txBox="1"/>
          <p:nvPr/>
        </p:nvSpPr>
        <p:spPr>
          <a:xfrm>
            <a:off x="10241280" y="1969681"/>
            <a:ext cx="2146279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70039"/>
                </a:solidFill>
                <a:latin typeface="Arial"/>
              </a:rPr>
              <a:t>Cd8a, Ciita, Hspa1a, Hspa1b, Hspa2</a:t>
            </a:r>
          </a:p>
        </p:txBody>
      </p:sp>
      <p:sp>
        <p:nvSpPr>
          <p:cNvPr id="12" name="body_text | —"/>
          <p:cNvSpPr txBox="1"/>
          <p:nvPr/>
        </p:nvSpPr>
        <p:spPr>
          <a:xfrm>
            <a:off x="10241280" y="2271790"/>
            <a:ext cx="187269" cy="1811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8888"/>
                </a:solidFill>
                <a:latin typeface="Arial"/>
              </a:rPr>
              <a:t>—</a:t>
            </a:r>
          </a:p>
        </p:txBody>
      </p:sp>
      <p:sp>
        <p:nvSpPr>
          <p:cNvPr id="13" name="body_text | Il1r1, Il6ra, Osm"/>
          <p:cNvSpPr txBox="1"/>
          <p:nvPr/>
        </p:nvSpPr>
        <p:spPr>
          <a:xfrm>
            <a:off x="10241280" y="2563727"/>
            <a:ext cx="1005108" cy="1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70039"/>
                </a:solidFill>
                <a:latin typeface="Arial"/>
              </a:rPr>
              <a:t>Il1r1, Il6ra, Osm</a:t>
            </a:r>
          </a:p>
        </p:txBody>
      </p:sp>
      <p:sp>
        <p:nvSpPr>
          <p:cNvPr id="14" name="body_text | Ciita, Hspa1a, Hspa1b, Hspa2, Ldlr"/>
          <p:cNvSpPr txBox="1"/>
          <p:nvPr/>
        </p:nvSpPr>
        <p:spPr>
          <a:xfrm>
            <a:off x="10241280" y="2859626"/>
            <a:ext cx="2070201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70039"/>
                </a:solidFill>
                <a:latin typeface="Arial"/>
              </a:rPr>
              <a:t>Ciita, Hspa1a, Hspa1b, Hspa2, Ldlr</a:t>
            </a:r>
          </a:p>
        </p:txBody>
      </p:sp>
      <p:sp>
        <p:nvSpPr>
          <p:cNvPr id="15" name="body_text | Atp6v0a1, Fos, Jun"/>
          <p:cNvSpPr txBox="1"/>
          <p:nvPr/>
        </p:nvSpPr>
        <p:spPr>
          <a:xfrm>
            <a:off x="10241280" y="3160846"/>
            <a:ext cx="1160830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70039"/>
                </a:solidFill>
                <a:latin typeface="Arial"/>
              </a:rPr>
              <a:t>Atp6v0a1, Fos, Jun</a:t>
            </a:r>
          </a:p>
        </p:txBody>
      </p:sp>
      <p:sp>
        <p:nvSpPr>
          <p:cNvPr id="16" name="body_text | —"/>
          <p:cNvSpPr txBox="1"/>
          <p:nvPr/>
        </p:nvSpPr>
        <p:spPr>
          <a:xfrm>
            <a:off x="10241280" y="3458384"/>
            <a:ext cx="187269" cy="1811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8888"/>
                </a:solidFill>
                <a:latin typeface="Arial"/>
              </a:rPr>
              <a:t>—</a:t>
            </a:r>
          </a:p>
        </p:txBody>
      </p:sp>
      <p:sp>
        <p:nvSpPr>
          <p:cNvPr id="17" name="body_text | —"/>
          <p:cNvSpPr txBox="1"/>
          <p:nvPr/>
        </p:nvSpPr>
        <p:spPr>
          <a:xfrm>
            <a:off x="10241280" y="3755032"/>
            <a:ext cx="187269" cy="18110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8888"/>
                </a:solidFill>
                <a:latin typeface="Arial"/>
              </a:rPr>
              <a:t>—</a:t>
            </a:r>
          </a:p>
        </p:txBody>
      </p:sp>
      <p:sp>
        <p:nvSpPr>
          <p:cNvPr id="18" name="body_text | Ahr, Fos, Il1r1, Il6ra, Jun"/>
          <p:cNvSpPr txBox="1"/>
          <p:nvPr/>
        </p:nvSpPr>
        <p:spPr>
          <a:xfrm>
            <a:off x="10241280" y="4046969"/>
            <a:ext cx="1476584" cy="1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70039"/>
                </a:solidFill>
                <a:latin typeface="Arial"/>
              </a:rPr>
              <a:t>Ahr, Fos, Il1r1, Il6ra, Jun</a:t>
            </a:r>
          </a:p>
        </p:txBody>
      </p:sp>
      <p:sp>
        <p:nvSpPr>
          <p:cNvPr id="19" name="body_text | Fos, Fosb, Jun"/>
          <p:cNvSpPr txBox="1"/>
          <p:nvPr/>
        </p:nvSpPr>
        <p:spPr>
          <a:xfrm>
            <a:off x="10241280" y="4343617"/>
            <a:ext cx="863947" cy="1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70039"/>
                </a:solidFill>
                <a:latin typeface="Arial"/>
              </a:rPr>
              <a:t>Fos, Fosb, Jun</a:t>
            </a:r>
          </a:p>
        </p:txBody>
      </p:sp>
      <p:sp>
        <p:nvSpPr>
          <p:cNvPr id="20" name="body_text | —"/>
          <p:cNvSpPr txBox="1"/>
          <p:nvPr/>
        </p:nvSpPr>
        <p:spPr>
          <a:xfrm>
            <a:off x="10241280" y="4644977"/>
            <a:ext cx="187269" cy="18110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8888"/>
                </a:solidFill>
                <a:latin typeface="Arial"/>
              </a:rPr>
              <a:t>—</a:t>
            </a:r>
          </a:p>
        </p:txBody>
      </p:sp>
      <p:sp>
        <p:nvSpPr>
          <p:cNvPr id="21" name="body_text | Il1r1"/>
          <p:cNvSpPr txBox="1"/>
          <p:nvPr/>
        </p:nvSpPr>
        <p:spPr>
          <a:xfrm>
            <a:off x="10241280" y="4936914"/>
            <a:ext cx="339425" cy="1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70039"/>
                </a:solidFill>
                <a:latin typeface="Arial"/>
              </a:rPr>
              <a:t>Il1r1</a:t>
            </a:r>
          </a:p>
        </p:txBody>
      </p:sp>
      <p:sp>
        <p:nvSpPr>
          <p:cNvPr id="22" name="body_text | Fos, Fosb, Fosl2, Il1r1, Jun, Junb"/>
          <p:cNvSpPr txBox="1"/>
          <p:nvPr/>
        </p:nvSpPr>
        <p:spPr>
          <a:xfrm>
            <a:off x="10241280" y="5233562"/>
            <a:ext cx="1915519" cy="1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70039"/>
                </a:solidFill>
                <a:latin typeface="Arial"/>
              </a:rPr>
              <a:t>Fos, Fosb, Fosl2, Il1r1, Jun, Junb</a:t>
            </a:r>
          </a:p>
        </p:txBody>
      </p:sp>
      <p:sp>
        <p:nvSpPr>
          <p:cNvPr id="23" name="body_text | Cd8a, Sdc4"/>
          <p:cNvSpPr txBox="1"/>
          <p:nvPr/>
        </p:nvSpPr>
        <p:spPr>
          <a:xfrm>
            <a:off x="10241280" y="5530211"/>
            <a:ext cx="738835" cy="1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70039"/>
                </a:solidFill>
                <a:latin typeface="Arial"/>
              </a:rPr>
              <a:t>Cd8a, Sdc4</a:t>
            </a:r>
          </a:p>
        </p:txBody>
      </p:sp>
      <p:sp>
        <p:nvSpPr>
          <p:cNvPr id="24" name="body_text | Fos, Hspa1a, Hspa1b, Hspa2, Jun, Tlr7"/>
          <p:cNvSpPr txBox="1"/>
          <p:nvPr/>
        </p:nvSpPr>
        <p:spPr>
          <a:xfrm>
            <a:off x="10241280" y="5826110"/>
            <a:ext cx="2275404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70039"/>
                </a:solidFill>
                <a:latin typeface="Arial"/>
              </a:rPr>
              <a:t>Fos, Hspa1a, Hspa1b, Hspa2, Jun, Tlr7</a:t>
            </a:r>
          </a:p>
        </p:txBody>
      </p:sp>
      <p:sp>
        <p:nvSpPr>
          <p:cNvPr id="25" name="body_text | Hist1h3f, Hist2h4"/>
          <p:cNvSpPr txBox="1"/>
          <p:nvPr/>
        </p:nvSpPr>
        <p:spPr>
          <a:xfrm>
            <a:off x="10241280" y="6123507"/>
            <a:ext cx="1081186" cy="1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70039"/>
                </a:solidFill>
                <a:latin typeface="Arial"/>
              </a:rPr>
              <a:t>Hist1h3f, Hist2h4</a:t>
            </a:r>
          </a:p>
        </p:txBody>
      </p:sp>
      <p:sp>
        <p:nvSpPr>
          <p:cNvPr id="26" name="body_text | Il6ra, Osm"/>
          <p:cNvSpPr txBox="1"/>
          <p:nvPr/>
        </p:nvSpPr>
        <p:spPr>
          <a:xfrm>
            <a:off x="10241280" y="6420156"/>
            <a:ext cx="662757" cy="1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70039"/>
                </a:solidFill>
                <a:latin typeface="Arial"/>
              </a:rPr>
              <a:t>Il6ra, Osm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old_24_panel_01" descr="old_24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777240" y="1296560"/>
            <a:ext cx="8833104" cy="5396847"/>
          </a:xfrm>
          <a:prstGeom prst="rect">
            <a:avLst/>
          </a:prstGeom>
        </p:spPr>
      </p:pic>
      <p:pic>
        <p:nvPicPr>
          <p:cNvPr id="3" name="plot_panel | old_24_panel_03" descr="old_23_panel_03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8718804" y="7115860"/>
            <a:ext cx="3012948" cy="550402"/>
          </a:xfrm>
          <a:prstGeom prst="rect">
            <a:avLst/>
          </a:prstGeom>
        </p:spPr>
      </p:pic>
      <p:sp>
        <p:nvSpPr>
          <p:cNvPr id="4" name="title | E  Paper pathways: C5-1 / Spl"/>
          <p:cNvSpPr txBox="1"/>
          <p:nvPr/>
        </p:nvSpPr>
        <p:spPr>
          <a:xfrm>
            <a:off x="512064" y="402335"/>
            <a:ext cx="5105300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E  Paper pathways: C5-1 / Spl</a:t>
            </a:r>
          </a:p>
        </p:txBody>
      </p:sp>
      <p:sp>
        <p:nvSpPr>
          <p:cNvPr id="5" name="figure_text | Single enrichment-score columns with actual driver genes; all 17 "/>
          <p:cNvSpPr txBox="1"/>
          <p:nvPr/>
        </p:nvSpPr>
        <p:spPr>
          <a:xfrm>
            <a:off x="512064" y="838504"/>
            <a:ext cx="8133267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Single enrichment-score columns with actual driver genes; all 17 reference pathways remain visible</a:t>
            </a:r>
          </a:p>
        </p:txBody>
      </p:sp>
      <p:sp>
        <p:nvSpPr>
          <p:cNvPr id="6" name="figure_text | Score = −ln(nominal enrichment P), verified against Table S3; * p"/>
          <p:cNvSpPr txBox="1"/>
          <p:nvPr/>
        </p:nvSpPr>
        <p:spPr>
          <a:xfrm>
            <a:off x="512064" y="7578547"/>
            <a:ext cx="9495095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Score = −ln(nominal enrichment P), verified against Table S3; * pathway BH FDR ≤ 0.05. Scale does not remove method/library differences.</a:t>
            </a:r>
          </a:p>
        </p:txBody>
      </p:sp>
      <p:sp>
        <p:nvSpPr>
          <p:cNvPr id="7" name="figure_text | Blood Fig. 3E/Table S3; our ORA: nominal DEG P ≤ 0.05, linear FC "/>
          <p:cNvSpPr txBox="1"/>
          <p:nvPr/>
        </p:nvSpPr>
        <p:spPr>
          <a:xfrm>
            <a:off x="512064" y="7939735"/>
            <a:ext cx="5762217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Blood Fig. 3E/Table S3; our ORA: nominal DEG P ≤ 0.05, linear FC ≥ 1.5; frozen KEGG_2019_Mouse.</a:t>
            </a:r>
          </a:p>
        </p:txBody>
      </p:sp>
      <p:sp>
        <p:nvSpPr>
          <p:cNvPr id="8" name="page_number | 24"/>
          <p:cNvSpPr txBox="1"/>
          <p:nvPr/>
        </p:nvSpPr>
        <p:spPr>
          <a:xfrm>
            <a:off x="13972032" y="7944333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24</a:t>
            </a:r>
          </a:p>
        </p:txBody>
      </p:sp>
      <p:sp>
        <p:nvSpPr>
          <p:cNvPr id="9" name="body_text | Our T2-up overlapping genes"/>
          <p:cNvSpPr txBox="1"/>
          <p:nvPr/>
        </p:nvSpPr>
        <p:spPr>
          <a:xfrm>
            <a:off x="10241280" y="1314848"/>
            <a:ext cx="2193828" cy="2128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Arial"/>
              </a:rPr>
              <a:t>Our T2-up overlapping genes</a:t>
            </a:r>
          </a:p>
        </p:txBody>
      </p:sp>
      <p:sp>
        <p:nvSpPr>
          <p:cNvPr id="10" name="body_text | Itga6"/>
          <p:cNvSpPr txBox="1"/>
          <p:nvPr/>
        </p:nvSpPr>
        <p:spPr>
          <a:xfrm>
            <a:off x="10241280" y="1677605"/>
            <a:ext cx="377464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70039"/>
                </a:solidFill>
                <a:latin typeface="Arial"/>
              </a:rPr>
              <a:t>Itga6</a:t>
            </a:r>
          </a:p>
        </p:txBody>
      </p:sp>
      <p:sp>
        <p:nvSpPr>
          <p:cNvPr id="11" name="body_text | Hspa1a, Hspa1b"/>
          <p:cNvSpPr txBox="1"/>
          <p:nvPr/>
        </p:nvSpPr>
        <p:spPr>
          <a:xfrm>
            <a:off x="10241280" y="1969681"/>
            <a:ext cx="1014618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70039"/>
                </a:solidFill>
                <a:latin typeface="Arial"/>
              </a:rPr>
              <a:t>Hspa1a, Hspa1b</a:t>
            </a:r>
          </a:p>
        </p:txBody>
      </p:sp>
      <p:sp>
        <p:nvSpPr>
          <p:cNvPr id="12" name="body_text | —"/>
          <p:cNvSpPr txBox="1"/>
          <p:nvPr/>
        </p:nvSpPr>
        <p:spPr>
          <a:xfrm>
            <a:off x="10241280" y="2271790"/>
            <a:ext cx="187269" cy="1811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8888"/>
                </a:solidFill>
                <a:latin typeface="Arial"/>
              </a:rPr>
              <a:t>—</a:t>
            </a:r>
          </a:p>
        </p:txBody>
      </p:sp>
      <p:sp>
        <p:nvSpPr>
          <p:cNvPr id="13" name="body_text | Acvr1b, Il17re"/>
          <p:cNvSpPr txBox="1"/>
          <p:nvPr/>
        </p:nvSpPr>
        <p:spPr>
          <a:xfrm>
            <a:off x="10241280" y="2563727"/>
            <a:ext cx="886533" cy="1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70039"/>
                </a:solidFill>
                <a:latin typeface="Arial"/>
              </a:rPr>
              <a:t>Acvr1b, Il17re</a:t>
            </a:r>
          </a:p>
        </p:txBody>
      </p:sp>
      <p:sp>
        <p:nvSpPr>
          <p:cNvPr id="14" name="body_text | Hspa1a, Hspa1b, Itga6"/>
          <p:cNvSpPr txBox="1"/>
          <p:nvPr/>
        </p:nvSpPr>
        <p:spPr>
          <a:xfrm>
            <a:off x="10241280" y="2859626"/>
            <a:ext cx="1395008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70039"/>
                </a:solidFill>
                <a:latin typeface="Arial"/>
              </a:rPr>
              <a:t>Hspa1a, Hspa1b, Itga6</a:t>
            </a:r>
          </a:p>
        </p:txBody>
      </p:sp>
      <p:sp>
        <p:nvSpPr>
          <p:cNvPr id="15" name="body_text | Atp6v0d2, Fos, Jun"/>
          <p:cNvSpPr txBox="1"/>
          <p:nvPr/>
        </p:nvSpPr>
        <p:spPr>
          <a:xfrm>
            <a:off x="10241280" y="3156274"/>
            <a:ext cx="1170340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70039"/>
                </a:solidFill>
                <a:latin typeface="Arial"/>
              </a:rPr>
              <a:t>Atp6v0d2, Fos, Jun</a:t>
            </a:r>
          </a:p>
        </p:txBody>
      </p:sp>
      <p:sp>
        <p:nvSpPr>
          <p:cNvPr id="16" name="body_text | Klra1"/>
          <p:cNvSpPr txBox="1"/>
          <p:nvPr/>
        </p:nvSpPr>
        <p:spPr>
          <a:xfrm>
            <a:off x="10241280" y="3453672"/>
            <a:ext cx="367954" cy="1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70039"/>
                </a:solidFill>
                <a:latin typeface="Arial"/>
              </a:rPr>
              <a:t>Klra1</a:t>
            </a:r>
          </a:p>
        </p:txBody>
      </p:sp>
      <p:sp>
        <p:nvSpPr>
          <p:cNvPr id="17" name="body_text | —"/>
          <p:cNvSpPr txBox="1"/>
          <p:nvPr/>
        </p:nvSpPr>
        <p:spPr>
          <a:xfrm>
            <a:off x="10241280" y="3755032"/>
            <a:ext cx="187269" cy="18110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8888"/>
                </a:solidFill>
                <a:latin typeface="Arial"/>
              </a:rPr>
              <a:t>—</a:t>
            </a:r>
          </a:p>
        </p:txBody>
      </p:sp>
      <p:sp>
        <p:nvSpPr>
          <p:cNvPr id="18" name="body_text | Fos, Jun"/>
          <p:cNvSpPr txBox="1"/>
          <p:nvPr/>
        </p:nvSpPr>
        <p:spPr>
          <a:xfrm>
            <a:off x="10241280" y="4051541"/>
            <a:ext cx="525608" cy="1813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70039"/>
                </a:solidFill>
                <a:latin typeface="Arial"/>
              </a:rPr>
              <a:t>Fos, Jun</a:t>
            </a:r>
          </a:p>
        </p:txBody>
      </p:sp>
      <p:sp>
        <p:nvSpPr>
          <p:cNvPr id="19" name="body_text | Fos, Fosb, Il17re, Jun"/>
          <p:cNvSpPr txBox="1"/>
          <p:nvPr/>
        </p:nvSpPr>
        <p:spPr>
          <a:xfrm>
            <a:off x="10241280" y="4343617"/>
            <a:ext cx="1270341" cy="1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70039"/>
                </a:solidFill>
                <a:latin typeface="Arial"/>
              </a:rPr>
              <a:t>Fos, Fosb, Il17re, Jun</a:t>
            </a:r>
          </a:p>
        </p:txBody>
      </p:sp>
      <p:sp>
        <p:nvSpPr>
          <p:cNvPr id="20" name="body_text | —"/>
          <p:cNvSpPr txBox="1"/>
          <p:nvPr/>
        </p:nvSpPr>
        <p:spPr>
          <a:xfrm>
            <a:off x="10241280" y="4644977"/>
            <a:ext cx="187269" cy="18110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8888"/>
                </a:solidFill>
                <a:latin typeface="Arial"/>
              </a:rPr>
              <a:t>—</a:t>
            </a:r>
          </a:p>
        </p:txBody>
      </p:sp>
      <p:sp>
        <p:nvSpPr>
          <p:cNvPr id="21" name="body_text | —"/>
          <p:cNvSpPr txBox="1"/>
          <p:nvPr/>
        </p:nvSpPr>
        <p:spPr>
          <a:xfrm>
            <a:off x="10241280" y="4941626"/>
            <a:ext cx="187269" cy="18110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8888"/>
                </a:solidFill>
                <a:latin typeface="Arial"/>
              </a:rPr>
              <a:t>—</a:t>
            </a:r>
          </a:p>
        </p:txBody>
      </p:sp>
      <p:sp>
        <p:nvSpPr>
          <p:cNvPr id="22" name="body_text | Fos, Fosb, Jun, Junb, Map2k7"/>
          <p:cNvSpPr txBox="1"/>
          <p:nvPr/>
        </p:nvSpPr>
        <p:spPr>
          <a:xfrm>
            <a:off x="10241280" y="5232813"/>
            <a:ext cx="1738845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70039"/>
                </a:solidFill>
                <a:latin typeface="Arial"/>
              </a:rPr>
              <a:t>Fos, Fosb, Jun, Junb, Map2k7</a:t>
            </a:r>
          </a:p>
        </p:txBody>
      </p:sp>
      <p:sp>
        <p:nvSpPr>
          <p:cNvPr id="23" name="body_text | Itga6"/>
          <p:cNvSpPr txBox="1"/>
          <p:nvPr/>
        </p:nvSpPr>
        <p:spPr>
          <a:xfrm>
            <a:off x="10241280" y="5534033"/>
            <a:ext cx="377464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70039"/>
                </a:solidFill>
                <a:latin typeface="Arial"/>
              </a:rPr>
              <a:t>Itga6</a:t>
            </a:r>
          </a:p>
        </p:txBody>
      </p:sp>
      <p:sp>
        <p:nvSpPr>
          <p:cNvPr id="24" name="body_text | Fos, Hspa1a, Hspa1b, Jun"/>
          <p:cNvSpPr txBox="1"/>
          <p:nvPr/>
        </p:nvSpPr>
        <p:spPr>
          <a:xfrm>
            <a:off x="10241280" y="5826110"/>
            <a:ext cx="1543152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70039"/>
                </a:solidFill>
                <a:latin typeface="Arial"/>
              </a:rPr>
              <a:t>Fos, Hspa1a, Hspa1b, Jun</a:t>
            </a:r>
          </a:p>
        </p:txBody>
      </p:sp>
      <p:sp>
        <p:nvSpPr>
          <p:cNvPr id="25" name="body_text | Hist1h4d, Hist3h2ba"/>
          <p:cNvSpPr txBox="1"/>
          <p:nvPr/>
        </p:nvSpPr>
        <p:spPr>
          <a:xfrm>
            <a:off x="10241280" y="6123507"/>
            <a:ext cx="1261872" cy="1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70039"/>
                </a:solidFill>
                <a:latin typeface="Arial"/>
              </a:rPr>
              <a:t>Hist1h4d, Hist3h2ba</a:t>
            </a:r>
          </a:p>
        </p:txBody>
      </p:sp>
      <p:sp>
        <p:nvSpPr>
          <p:cNvPr id="26" name="body_text | —"/>
          <p:cNvSpPr txBox="1"/>
          <p:nvPr/>
        </p:nvSpPr>
        <p:spPr>
          <a:xfrm>
            <a:off x="10241280" y="6424867"/>
            <a:ext cx="187269" cy="18110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8888"/>
                </a:solidFill>
                <a:latin typeface="Arial"/>
              </a:rPr>
              <a:t>—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old_25_panel_01" descr="old_25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777240" y="1296560"/>
            <a:ext cx="8833104" cy="5396847"/>
          </a:xfrm>
          <a:prstGeom prst="rect">
            <a:avLst/>
          </a:prstGeom>
        </p:spPr>
      </p:pic>
      <p:pic>
        <p:nvPicPr>
          <p:cNvPr id="3" name="plot_panel | old_25_panel_03" descr="old_23_panel_03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8718804" y="7115860"/>
            <a:ext cx="3012948" cy="550402"/>
          </a:xfrm>
          <a:prstGeom prst="rect">
            <a:avLst/>
          </a:prstGeom>
        </p:spPr>
      </p:pic>
      <p:sp>
        <p:nvSpPr>
          <p:cNvPr id="4" name="title | E  Paper pathways: C6 / Thy"/>
          <p:cNvSpPr txBox="1"/>
          <p:nvPr/>
        </p:nvSpPr>
        <p:spPr>
          <a:xfrm>
            <a:off x="512064" y="402335"/>
            <a:ext cx="4858047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E  Paper pathways: C6 / Thy</a:t>
            </a:r>
          </a:p>
        </p:txBody>
      </p:sp>
      <p:sp>
        <p:nvSpPr>
          <p:cNvPr id="5" name="figure_text | Single enrichment-score columns with actual driver genes; all 17 "/>
          <p:cNvSpPr txBox="1"/>
          <p:nvPr/>
        </p:nvSpPr>
        <p:spPr>
          <a:xfrm>
            <a:off x="512064" y="838504"/>
            <a:ext cx="8133267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Single enrichment-score columns with actual driver genes; all 17 reference pathways remain visible</a:t>
            </a:r>
          </a:p>
        </p:txBody>
      </p:sp>
      <p:sp>
        <p:nvSpPr>
          <p:cNvPr id="6" name="figure_text | Score = −ln(nominal enrichment P), verified against Table S3; * p"/>
          <p:cNvSpPr txBox="1"/>
          <p:nvPr/>
        </p:nvSpPr>
        <p:spPr>
          <a:xfrm>
            <a:off x="512064" y="7578547"/>
            <a:ext cx="9495095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Score = −ln(nominal enrichment P), verified against Table S3; * pathway BH FDR ≤ 0.05. Scale does not remove method/library differences.</a:t>
            </a:r>
          </a:p>
        </p:txBody>
      </p:sp>
      <p:sp>
        <p:nvSpPr>
          <p:cNvPr id="7" name="figure_text | Blood Fig. 3E/Table S3; our ORA: nominal DEG P ≤ 0.05, linear FC "/>
          <p:cNvSpPr txBox="1"/>
          <p:nvPr/>
        </p:nvSpPr>
        <p:spPr>
          <a:xfrm>
            <a:off x="512064" y="7939735"/>
            <a:ext cx="5762217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Blood Fig. 3E/Table S3; our ORA: nominal DEG P ≤ 0.05, linear FC ≥ 1.5; frozen KEGG_2019_Mouse.</a:t>
            </a:r>
          </a:p>
        </p:txBody>
      </p:sp>
      <p:sp>
        <p:nvSpPr>
          <p:cNvPr id="8" name="page_number | 25"/>
          <p:cNvSpPr txBox="1"/>
          <p:nvPr/>
        </p:nvSpPr>
        <p:spPr>
          <a:xfrm>
            <a:off x="13972032" y="7944333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  <p:sp>
        <p:nvSpPr>
          <p:cNvPr id="9" name="body_text | Our T2-up overlapping genes"/>
          <p:cNvSpPr txBox="1"/>
          <p:nvPr/>
        </p:nvSpPr>
        <p:spPr>
          <a:xfrm>
            <a:off x="10241280" y="1314848"/>
            <a:ext cx="2193828" cy="2128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Arial"/>
              </a:rPr>
              <a:t>Our T2-up overlapping genes</a:t>
            </a:r>
          </a:p>
        </p:txBody>
      </p:sp>
      <p:sp>
        <p:nvSpPr>
          <p:cNvPr id="10" name="body_text | —"/>
          <p:cNvSpPr txBox="1"/>
          <p:nvPr/>
        </p:nvSpPr>
        <p:spPr>
          <a:xfrm>
            <a:off x="10241280" y="1678494"/>
            <a:ext cx="187269" cy="1811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8888"/>
                </a:solidFill>
                <a:latin typeface="Arial"/>
              </a:rPr>
              <a:t>—</a:t>
            </a:r>
          </a:p>
        </p:txBody>
      </p:sp>
      <p:sp>
        <p:nvSpPr>
          <p:cNvPr id="11" name="body_text | Hspa1a, Hspa1b"/>
          <p:cNvSpPr txBox="1"/>
          <p:nvPr/>
        </p:nvSpPr>
        <p:spPr>
          <a:xfrm>
            <a:off x="10241280" y="1969681"/>
            <a:ext cx="1014618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70039"/>
                </a:solidFill>
                <a:latin typeface="Arial"/>
              </a:rPr>
              <a:t>Hspa1a, Hspa1b</a:t>
            </a:r>
          </a:p>
        </p:txBody>
      </p:sp>
      <p:sp>
        <p:nvSpPr>
          <p:cNvPr id="12" name="body_text | —"/>
          <p:cNvSpPr txBox="1"/>
          <p:nvPr/>
        </p:nvSpPr>
        <p:spPr>
          <a:xfrm>
            <a:off x="10241280" y="2271790"/>
            <a:ext cx="187269" cy="1811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8888"/>
                </a:solidFill>
                <a:latin typeface="Arial"/>
              </a:rPr>
              <a:t>—</a:t>
            </a:r>
          </a:p>
        </p:txBody>
      </p:sp>
      <p:sp>
        <p:nvSpPr>
          <p:cNvPr id="13" name="body_text | Ccr4"/>
          <p:cNvSpPr txBox="1"/>
          <p:nvPr/>
        </p:nvSpPr>
        <p:spPr>
          <a:xfrm>
            <a:off x="10241280" y="2568299"/>
            <a:ext cx="339425" cy="1813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70039"/>
                </a:solidFill>
                <a:latin typeface="Arial"/>
              </a:rPr>
              <a:t>Ccr4</a:t>
            </a:r>
          </a:p>
        </p:txBody>
      </p:sp>
      <p:sp>
        <p:nvSpPr>
          <p:cNvPr id="14" name="body_text | Hspa1a, Hspa1b"/>
          <p:cNvSpPr txBox="1"/>
          <p:nvPr/>
        </p:nvSpPr>
        <p:spPr>
          <a:xfrm>
            <a:off x="10241280" y="2859626"/>
            <a:ext cx="1014618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70039"/>
                </a:solidFill>
                <a:latin typeface="Arial"/>
              </a:rPr>
              <a:t>Hspa1a, Hspa1b</a:t>
            </a:r>
          </a:p>
        </p:txBody>
      </p:sp>
      <p:sp>
        <p:nvSpPr>
          <p:cNvPr id="15" name="body_text | —"/>
          <p:cNvSpPr txBox="1"/>
          <p:nvPr/>
        </p:nvSpPr>
        <p:spPr>
          <a:xfrm>
            <a:off x="10241280" y="3161735"/>
            <a:ext cx="187269" cy="1811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8888"/>
                </a:solidFill>
                <a:latin typeface="Arial"/>
              </a:rPr>
              <a:t>—</a:t>
            </a:r>
          </a:p>
        </p:txBody>
      </p:sp>
      <p:sp>
        <p:nvSpPr>
          <p:cNvPr id="16" name="body_text | —"/>
          <p:cNvSpPr txBox="1"/>
          <p:nvPr/>
        </p:nvSpPr>
        <p:spPr>
          <a:xfrm>
            <a:off x="10241280" y="3458384"/>
            <a:ext cx="187269" cy="1811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8888"/>
                </a:solidFill>
                <a:latin typeface="Arial"/>
              </a:rPr>
              <a:t>—</a:t>
            </a:r>
          </a:p>
        </p:txBody>
      </p:sp>
      <p:sp>
        <p:nvSpPr>
          <p:cNvPr id="17" name="body_text | —"/>
          <p:cNvSpPr txBox="1"/>
          <p:nvPr/>
        </p:nvSpPr>
        <p:spPr>
          <a:xfrm>
            <a:off x="10241280" y="3755032"/>
            <a:ext cx="187269" cy="18110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8888"/>
                </a:solidFill>
                <a:latin typeface="Arial"/>
              </a:rPr>
              <a:t>—</a:t>
            </a:r>
          </a:p>
        </p:txBody>
      </p:sp>
      <p:sp>
        <p:nvSpPr>
          <p:cNvPr id="18" name="body_text | —"/>
          <p:cNvSpPr txBox="1"/>
          <p:nvPr/>
        </p:nvSpPr>
        <p:spPr>
          <a:xfrm>
            <a:off x="10241280" y="4051681"/>
            <a:ext cx="187269" cy="18110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8888"/>
                </a:solidFill>
                <a:latin typeface="Arial"/>
              </a:rPr>
              <a:t>—</a:t>
            </a:r>
          </a:p>
        </p:txBody>
      </p:sp>
      <p:sp>
        <p:nvSpPr>
          <p:cNvPr id="19" name="body_text | —"/>
          <p:cNvSpPr txBox="1"/>
          <p:nvPr/>
        </p:nvSpPr>
        <p:spPr>
          <a:xfrm>
            <a:off x="10241280" y="4348329"/>
            <a:ext cx="187269" cy="18110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8888"/>
                </a:solidFill>
                <a:latin typeface="Arial"/>
              </a:rPr>
              <a:t>—</a:t>
            </a:r>
          </a:p>
        </p:txBody>
      </p:sp>
      <p:sp>
        <p:nvSpPr>
          <p:cNvPr id="20" name="body_text | —"/>
          <p:cNvSpPr txBox="1"/>
          <p:nvPr/>
        </p:nvSpPr>
        <p:spPr>
          <a:xfrm>
            <a:off x="10241280" y="4644977"/>
            <a:ext cx="187269" cy="18110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8888"/>
                </a:solidFill>
                <a:latin typeface="Arial"/>
              </a:rPr>
              <a:t>—</a:t>
            </a:r>
          </a:p>
        </p:txBody>
      </p:sp>
      <p:sp>
        <p:nvSpPr>
          <p:cNvPr id="21" name="body_text | —"/>
          <p:cNvSpPr txBox="1"/>
          <p:nvPr/>
        </p:nvSpPr>
        <p:spPr>
          <a:xfrm>
            <a:off x="10241280" y="4941626"/>
            <a:ext cx="187269" cy="18110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8888"/>
                </a:solidFill>
                <a:latin typeface="Arial"/>
              </a:rPr>
              <a:t>—</a:t>
            </a:r>
          </a:p>
        </p:txBody>
      </p:sp>
      <p:sp>
        <p:nvSpPr>
          <p:cNvPr id="22" name="body_text | —"/>
          <p:cNvSpPr txBox="1"/>
          <p:nvPr/>
        </p:nvSpPr>
        <p:spPr>
          <a:xfrm>
            <a:off x="10241280" y="5238274"/>
            <a:ext cx="187269" cy="18110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8888"/>
                </a:solidFill>
                <a:latin typeface="Arial"/>
              </a:rPr>
              <a:t>—</a:t>
            </a:r>
          </a:p>
        </p:txBody>
      </p:sp>
      <p:sp>
        <p:nvSpPr>
          <p:cNvPr id="23" name="body_text | Pecam1"/>
          <p:cNvSpPr txBox="1"/>
          <p:nvPr/>
        </p:nvSpPr>
        <p:spPr>
          <a:xfrm>
            <a:off x="10241280" y="5534783"/>
            <a:ext cx="525608" cy="1813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70039"/>
                </a:solidFill>
                <a:latin typeface="Arial"/>
              </a:rPr>
              <a:t>Pecam1</a:t>
            </a:r>
          </a:p>
        </p:txBody>
      </p:sp>
      <p:sp>
        <p:nvSpPr>
          <p:cNvPr id="24" name="body_text | Cd46, Hspa1a, Hspa1b"/>
          <p:cNvSpPr txBox="1"/>
          <p:nvPr/>
        </p:nvSpPr>
        <p:spPr>
          <a:xfrm>
            <a:off x="10241280" y="5826110"/>
            <a:ext cx="1395008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70039"/>
                </a:solidFill>
                <a:latin typeface="Arial"/>
              </a:rPr>
              <a:t>Cd46, Hspa1a, Hspa1b</a:t>
            </a:r>
          </a:p>
        </p:txBody>
      </p:sp>
      <p:sp>
        <p:nvSpPr>
          <p:cNvPr id="25" name="body_text | —"/>
          <p:cNvSpPr txBox="1"/>
          <p:nvPr/>
        </p:nvSpPr>
        <p:spPr>
          <a:xfrm>
            <a:off x="10241280" y="6128219"/>
            <a:ext cx="187269" cy="18110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8888"/>
                </a:solidFill>
                <a:latin typeface="Arial"/>
              </a:rPr>
              <a:t>—</a:t>
            </a:r>
          </a:p>
        </p:txBody>
      </p:sp>
      <p:sp>
        <p:nvSpPr>
          <p:cNvPr id="26" name="body_text | —"/>
          <p:cNvSpPr txBox="1"/>
          <p:nvPr/>
        </p:nvSpPr>
        <p:spPr>
          <a:xfrm>
            <a:off x="10241280" y="6424867"/>
            <a:ext cx="187269" cy="18110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8888"/>
                </a:solidFill>
                <a:latin typeface="Arial"/>
              </a:rPr>
              <a:t>—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old_26_panel_01" descr="old_26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557784" y="1397956"/>
            <a:ext cx="8394192" cy="5048563"/>
          </a:xfrm>
          <a:prstGeom prst="rect">
            <a:avLst/>
          </a:prstGeom>
        </p:spPr>
      </p:pic>
      <p:sp>
        <p:nvSpPr>
          <p:cNvPr id="3" name="title | E  Current top pathways: C0 / BM"/>
          <p:cNvSpPr txBox="1"/>
          <p:nvPr/>
        </p:nvSpPr>
        <p:spPr>
          <a:xfrm>
            <a:off x="512064" y="402335"/>
            <a:ext cx="5750627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E  Current top pathways: C0 / BM</a:t>
            </a:r>
          </a:p>
        </p:txBody>
      </p:sp>
      <p:sp>
        <p:nvSpPr>
          <p:cNvPr id="4" name="figure_text | Full-library top 10 T2-up ORA pathways, using the same score-colu"/>
          <p:cNvSpPr txBox="1"/>
          <p:nvPr/>
        </p:nvSpPr>
        <p:spPr>
          <a:xfrm>
            <a:off x="512064" y="838504"/>
            <a:ext cx="7697750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Full-library top 10 T2-up ORA pathways, using the same score-column and gene-callout format</a:t>
            </a:r>
          </a:p>
        </p:txBody>
      </p:sp>
      <p:sp>
        <p:nvSpPr>
          <p:cNvPr id="5" name="figure_text | Top 10 by pathway BH FDR, then nominal P and term name; rows with"/>
          <p:cNvSpPr txBox="1"/>
          <p:nvPr/>
        </p:nvSpPr>
        <p:spPr>
          <a:xfrm>
            <a:off x="512064" y="7578547"/>
            <a:ext cx="8859130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Top 10 by pathway BH FDR, then nominal P and term name; rows without * are not FDR-significant. No post-hoc pathway renaming.</a:t>
            </a:r>
          </a:p>
        </p:txBody>
      </p:sp>
      <p:sp>
        <p:nvSpPr>
          <p:cNvPr id="6" name="figure_text | Blood Fig. 3E presentation adapted to current data; exact tested "/>
          <p:cNvSpPr txBox="1"/>
          <p:nvPr/>
        </p:nvSpPr>
        <p:spPr>
          <a:xfrm>
            <a:off x="512064" y="7939735"/>
            <a:ext cx="5063249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Blood Fig. 3E presentation adapted to current data; exact tested KEGG terms retained.</a:t>
            </a:r>
          </a:p>
        </p:txBody>
      </p:sp>
      <p:sp>
        <p:nvSpPr>
          <p:cNvPr id="7" name="page_number | 26"/>
          <p:cNvSpPr txBox="1"/>
          <p:nvPr/>
        </p:nvSpPr>
        <p:spPr>
          <a:xfrm>
            <a:off x="13972032" y="7944333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26</a:t>
            </a:r>
          </a:p>
        </p:txBody>
      </p:sp>
      <p:sp>
        <p:nvSpPr>
          <p:cNvPr id="8" name="body_text | Dusp1, Fos, Gadd45g, Hspa1a, Hspa1b, Hspa2, Il1r1, Jun, Nr4a1, Pt"/>
          <p:cNvSpPr txBox="1"/>
          <p:nvPr/>
        </p:nvSpPr>
        <p:spPr>
          <a:xfrm>
            <a:off x="9070848" y="1840533"/>
            <a:ext cx="3881810" cy="3820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70039"/>
                </a:solidFill>
                <a:latin typeface="Arial"/>
              </a:rPr>
              <a:t>Dusp1, Fos, Gadd45g, Hspa1a, Hspa1b, Hspa2, Il1r1, Jun,</a:t>
            </a:r>
          </a:p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70039"/>
                </a:solidFill>
                <a:latin typeface="Arial"/>
              </a:rPr>
              <a:t>Nr4a1, Ptpn5</a:t>
            </a:r>
          </a:p>
        </p:txBody>
      </p:sp>
      <p:sp>
        <p:nvSpPr>
          <p:cNvPr id="9" name="body_text | Fos, Hspa1a, Hspa1b, Hspa2, Jun, Pomc"/>
          <p:cNvSpPr txBox="1"/>
          <p:nvPr/>
        </p:nvSpPr>
        <p:spPr>
          <a:xfrm>
            <a:off x="9070848" y="2389348"/>
            <a:ext cx="2707355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70039"/>
                </a:solidFill>
                <a:latin typeface="Arial"/>
              </a:rPr>
              <a:t>Fos, Hspa1a, Hspa1b, Hspa2, Jun, Pomc</a:t>
            </a:r>
          </a:p>
        </p:txBody>
      </p:sp>
      <p:sp>
        <p:nvSpPr>
          <p:cNvPr id="10" name="body_text | Cd8a, Ciita, Hspa1a, Hspa1b, Hspa2"/>
          <p:cNvSpPr txBox="1"/>
          <p:nvPr/>
        </p:nvSpPr>
        <p:spPr>
          <a:xfrm>
            <a:off x="9070848" y="2849237"/>
            <a:ext cx="2488631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70039"/>
                </a:solidFill>
                <a:latin typeface="Arial"/>
              </a:rPr>
              <a:t>Cd8a, Ciita, Hspa1a, Hspa1b, Hspa2</a:t>
            </a:r>
          </a:p>
        </p:txBody>
      </p:sp>
      <p:sp>
        <p:nvSpPr>
          <p:cNvPr id="11" name="body_text | Fos, Fosb, Fosl2, Il1r1, Jun, Junb"/>
          <p:cNvSpPr txBox="1"/>
          <p:nvPr/>
        </p:nvSpPr>
        <p:spPr>
          <a:xfrm>
            <a:off x="9070848" y="3309126"/>
            <a:ext cx="2141524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70039"/>
                </a:solidFill>
                <a:latin typeface="Arial"/>
              </a:rPr>
              <a:t>Fos, Fosb, Fosl2, Il1r1, Jun, Junb</a:t>
            </a:r>
          </a:p>
        </p:txBody>
      </p:sp>
      <p:sp>
        <p:nvSpPr>
          <p:cNvPr id="12" name="body_text | Ciita, Hspa1a, Hspa1b, Hspa2, Ldlr"/>
          <p:cNvSpPr txBox="1"/>
          <p:nvPr/>
        </p:nvSpPr>
        <p:spPr>
          <a:xfrm>
            <a:off x="9070848" y="3769016"/>
            <a:ext cx="2393533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70039"/>
                </a:solidFill>
                <a:latin typeface="Arial"/>
              </a:rPr>
              <a:t>Ciita, Hspa1a, Hspa1b, Hspa2, Ldlr</a:t>
            </a:r>
          </a:p>
        </p:txBody>
      </p:sp>
      <p:sp>
        <p:nvSpPr>
          <p:cNvPr id="13" name="body_text | Fos, Hspa1a, Hspa1b, Hspa2, Jun, Tlr7"/>
          <p:cNvSpPr txBox="1"/>
          <p:nvPr/>
        </p:nvSpPr>
        <p:spPr>
          <a:xfrm>
            <a:off x="9070848" y="4228905"/>
            <a:ext cx="2607503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70039"/>
                </a:solidFill>
                <a:latin typeface="Arial"/>
              </a:rPr>
              <a:t>Fos, Hspa1a, Hspa1b, Hspa2, Jun, Tlr7</a:t>
            </a:r>
          </a:p>
        </p:txBody>
      </p:sp>
      <p:sp>
        <p:nvSpPr>
          <p:cNvPr id="14" name="body_text | Ldlr, Nr4a1, Nr4a2, Pomc"/>
          <p:cNvSpPr txBox="1"/>
          <p:nvPr/>
        </p:nvSpPr>
        <p:spPr>
          <a:xfrm>
            <a:off x="9070848" y="4688795"/>
            <a:ext cx="1742114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70039"/>
                </a:solidFill>
                <a:latin typeface="Arial"/>
              </a:rPr>
              <a:t>Ldlr, Nr4a1, Nr4a2, Pomc</a:t>
            </a:r>
          </a:p>
        </p:txBody>
      </p:sp>
      <p:sp>
        <p:nvSpPr>
          <p:cNvPr id="15" name="body_text | Ciita, Hspa1a, Hspa1b, Hspa2, Jun, Tlr7"/>
          <p:cNvSpPr txBox="1"/>
          <p:nvPr/>
        </p:nvSpPr>
        <p:spPr>
          <a:xfrm>
            <a:off x="9070848" y="5148684"/>
            <a:ext cx="2688336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70039"/>
                </a:solidFill>
                <a:latin typeface="Arial"/>
              </a:rPr>
              <a:t>Ciita, Hspa1a, Hspa1b, Hspa2, Jun, Tlr7</a:t>
            </a:r>
          </a:p>
        </p:txBody>
      </p:sp>
      <p:sp>
        <p:nvSpPr>
          <p:cNvPr id="16" name="body_text | Ahr, Fos, Il1r1, Il6ra, Jun"/>
          <p:cNvSpPr txBox="1"/>
          <p:nvPr/>
        </p:nvSpPr>
        <p:spPr>
          <a:xfrm>
            <a:off x="9070848" y="5608574"/>
            <a:ext cx="1656527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70039"/>
                </a:solidFill>
                <a:latin typeface="Arial"/>
              </a:rPr>
              <a:t>Ahr, Fos, Il1r1, Il6ra, Jun</a:t>
            </a:r>
          </a:p>
        </p:txBody>
      </p:sp>
      <p:sp>
        <p:nvSpPr>
          <p:cNvPr id="17" name="body_text | Dusp1, Fos, Il1r1, Jun, Sdc4"/>
          <p:cNvSpPr txBox="1"/>
          <p:nvPr/>
        </p:nvSpPr>
        <p:spPr>
          <a:xfrm>
            <a:off x="9070848" y="6068463"/>
            <a:ext cx="1875251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70039"/>
                </a:solidFill>
                <a:latin typeface="Arial"/>
              </a:rPr>
              <a:t>Dusp1, Fos, Il1r1, Jun, Sdc4</a:t>
            </a:r>
          </a:p>
        </p:txBody>
      </p:sp>
      <p:sp>
        <p:nvSpPr>
          <p:cNvPr id="18" name="body_text | T2-up driver genes"/>
          <p:cNvSpPr txBox="1"/>
          <p:nvPr/>
        </p:nvSpPr>
        <p:spPr>
          <a:xfrm>
            <a:off x="9070848" y="1416244"/>
            <a:ext cx="1594713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T2-up driver genes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old_27_panel_01" descr="old_27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557784" y="1397956"/>
            <a:ext cx="8394192" cy="5048563"/>
          </a:xfrm>
          <a:prstGeom prst="rect">
            <a:avLst/>
          </a:prstGeom>
        </p:spPr>
      </p:pic>
      <p:sp>
        <p:nvSpPr>
          <p:cNvPr id="3" name="title | E  Current top pathways: C5-1 / Spl"/>
          <p:cNvSpPr txBox="1"/>
          <p:nvPr/>
        </p:nvSpPr>
        <p:spPr>
          <a:xfrm>
            <a:off x="512064" y="402335"/>
            <a:ext cx="6092978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E  Current top pathways: C5-1 / Spl</a:t>
            </a:r>
          </a:p>
        </p:txBody>
      </p:sp>
      <p:sp>
        <p:nvSpPr>
          <p:cNvPr id="4" name="figure_text | Full-library top 10 T2-up ORA pathways, using the same score-colu"/>
          <p:cNvSpPr txBox="1"/>
          <p:nvPr/>
        </p:nvSpPr>
        <p:spPr>
          <a:xfrm>
            <a:off x="512064" y="838504"/>
            <a:ext cx="7697750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Full-library top 10 T2-up ORA pathways, using the same score-column and gene-callout format</a:t>
            </a:r>
          </a:p>
        </p:txBody>
      </p:sp>
      <p:sp>
        <p:nvSpPr>
          <p:cNvPr id="5" name="figure_text | Top 10 by pathway BH FDR, then nominal P and term name; rows with"/>
          <p:cNvSpPr txBox="1"/>
          <p:nvPr/>
        </p:nvSpPr>
        <p:spPr>
          <a:xfrm>
            <a:off x="512064" y="7578547"/>
            <a:ext cx="8859130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Top 10 by pathway BH FDR, then nominal P and term name; rows without * are not FDR-significant. No post-hoc pathway renaming.</a:t>
            </a:r>
          </a:p>
        </p:txBody>
      </p:sp>
      <p:sp>
        <p:nvSpPr>
          <p:cNvPr id="6" name="figure_text | Blood Fig. 3E presentation adapted to current data; exact tested "/>
          <p:cNvSpPr txBox="1"/>
          <p:nvPr/>
        </p:nvSpPr>
        <p:spPr>
          <a:xfrm>
            <a:off x="512064" y="7939735"/>
            <a:ext cx="5063249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Blood Fig. 3E presentation adapted to current data; exact tested KEGG terms retained.</a:t>
            </a:r>
          </a:p>
        </p:txBody>
      </p:sp>
      <p:sp>
        <p:nvSpPr>
          <p:cNvPr id="7" name="page_number | 27"/>
          <p:cNvSpPr txBox="1"/>
          <p:nvPr/>
        </p:nvSpPr>
        <p:spPr>
          <a:xfrm>
            <a:off x="13972032" y="7944333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27</a:t>
            </a:r>
          </a:p>
        </p:txBody>
      </p:sp>
      <p:sp>
        <p:nvSpPr>
          <p:cNvPr id="8" name="body_text | Cdk5r1, Dlg4, Fosb, Jun"/>
          <p:cNvSpPr txBox="1"/>
          <p:nvPr/>
        </p:nvSpPr>
        <p:spPr>
          <a:xfrm>
            <a:off x="9070848" y="1929458"/>
            <a:ext cx="1618488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70039"/>
                </a:solidFill>
                <a:latin typeface="Arial"/>
              </a:rPr>
              <a:t>Cdk5r1, Dlg4, Fosb, Jun</a:t>
            </a:r>
          </a:p>
        </p:txBody>
      </p:sp>
      <p:sp>
        <p:nvSpPr>
          <p:cNvPr id="9" name="body_text | Ebag9, Fos, Hspa1a, Hspa1b, Itpr1, Jun"/>
          <p:cNvSpPr txBox="1"/>
          <p:nvPr/>
        </p:nvSpPr>
        <p:spPr>
          <a:xfrm>
            <a:off x="9070848" y="2389348"/>
            <a:ext cx="2655051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70039"/>
                </a:solidFill>
                <a:latin typeface="Arial"/>
              </a:rPr>
              <a:t>Ebag9, Fos, Hspa1a, Hspa1b, Itpr1, Jun</a:t>
            </a:r>
          </a:p>
        </p:txBody>
      </p:sp>
      <p:sp>
        <p:nvSpPr>
          <p:cNvPr id="10" name="body_text | Ercc1, Mlh1, Rmi1, Top3b"/>
          <p:cNvSpPr txBox="1"/>
          <p:nvPr/>
        </p:nvSpPr>
        <p:spPr>
          <a:xfrm>
            <a:off x="9070848" y="2849237"/>
            <a:ext cx="1759499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70039"/>
                </a:solidFill>
                <a:latin typeface="Arial"/>
              </a:rPr>
              <a:t>Ercc1, Mlh1, Rmi1, Top3b</a:t>
            </a:r>
          </a:p>
        </p:txBody>
      </p:sp>
      <p:sp>
        <p:nvSpPr>
          <p:cNvPr id="11" name="body_text | C1galt1c1, Galnt11"/>
          <p:cNvSpPr txBox="1"/>
          <p:nvPr/>
        </p:nvSpPr>
        <p:spPr>
          <a:xfrm>
            <a:off x="9070848" y="3309126"/>
            <a:ext cx="1366479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70039"/>
                </a:solidFill>
                <a:latin typeface="Arial"/>
              </a:rPr>
              <a:t>C1galt1c1, Galnt11</a:t>
            </a:r>
          </a:p>
        </p:txBody>
      </p:sp>
      <p:sp>
        <p:nvSpPr>
          <p:cNvPr id="12" name="body_text | Fos, Fosb, Il17re, Jun"/>
          <p:cNvSpPr txBox="1"/>
          <p:nvPr/>
        </p:nvSpPr>
        <p:spPr>
          <a:xfrm>
            <a:off x="9070848" y="3769016"/>
            <a:ext cx="1430075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70039"/>
                </a:solidFill>
                <a:latin typeface="Arial"/>
              </a:rPr>
              <a:t>Fos, Fosb, Il17re, Jun</a:t>
            </a:r>
          </a:p>
        </p:txBody>
      </p:sp>
      <p:sp>
        <p:nvSpPr>
          <p:cNvPr id="13" name="body_text | Akr1b10, Mocs1"/>
          <p:cNvSpPr txBox="1"/>
          <p:nvPr/>
        </p:nvSpPr>
        <p:spPr>
          <a:xfrm>
            <a:off x="9070848" y="4228905"/>
            <a:ext cx="1147754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70039"/>
                </a:solidFill>
                <a:latin typeface="Arial"/>
              </a:rPr>
              <a:t>Akr1b10, Mocs1</a:t>
            </a:r>
          </a:p>
        </p:txBody>
      </p:sp>
      <p:sp>
        <p:nvSpPr>
          <p:cNvPr id="14" name="body_text | Pomgnt1, Rxylt1"/>
          <p:cNvSpPr txBox="1"/>
          <p:nvPr/>
        </p:nvSpPr>
        <p:spPr>
          <a:xfrm>
            <a:off x="9070848" y="4688795"/>
            <a:ext cx="1162019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70039"/>
                </a:solidFill>
                <a:latin typeface="Arial"/>
              </a:rPr>
              <a:t>Pomgnt1, Rxylt1</a:t>
            </a:r>
          </a:p>
        </p:txBody>
      </p:sp>
      <p:sp>
        <p:nvSpPr>
          <p:cNvPr id="15" name="body_text | Fos, Fosb, Jun, Junb, Map2k7"/>
          <p:cNvSpPr txBox="1"/>
          <p:nvPr/>
        </p:nvSpPr>
        <p:spPr>
          <a:xfrm>
            <a:off x="9070848" y="5148684"/>
            <a:ext cx="1946574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70039"/>
                </a:solidFill>
                <a:latin typeface="Arial"/>
              </a:rPr>
              <a:t>Fos, Fosb, Jun, Junb, Map2k7</a:t>
            </a:r>
          </a:p>
        </p:txBody>
      </p:sp>
      <p:sp>
        <p:nvSpPr>
          <p:cNvPr id="16" name="body_text | Fos, Fosb, Jun"/>
          <p:cNvSpPr txBox="1"/>
          <p:nvPr/>
        </p:nvSpPr>
        <p:spPr>
          <a:xfrm>
            <a:off x="9070848" y="5608574"/>
            <a:ext cx="967069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70039"/>
                </a:solidFill>
                <a:latin typeface="Arial"/>
              </a:rPr>
              <a:t>Fos, Fosb, Jun</a:t>
            </a:r>
          </a:p>
        </p:txBody>
      </p:sp>
      <p:sp>
        <p:nvSpPr>
          <p:cNvPr id="17" name="body_text | Fos, Gstp1, Jun, Map2k7, Sumo3"/>
          <p:cNvSpPr txBox="1"/>
          <p:nvPr/>
        </p:nvSpPr>
        <p:spPr>
          <a:xfrm>
            <a:off x="9070848" y="6068463"/>
            <a:ext cx="2208093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70039"/>
                </a:solidFill>
                <a:latin typeface="Arial"/>
              </a:rPr>
              <a:t>Fos, Gstp1, Jun, Map2k7, Sumo3</a:t>
            </a:r>
          </a:p>
        </p:txBody>
      </p:sp>
      <p:sp>
        <p:nvSpPr>
          <p:cNvPr id="18" name="body_text | T2-up driver genes"/>
          <p:cNvSpPr txBox="1"/>
          <p:nvPr/>
        </p:nvSpPr>
        <p:spPr>
          <a:xfrm>
            <a:off x="9070848" y="1416244"/>
            <a:ext cx="1594713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T2-up driver genes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old_28_panel_01" descr="old_28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557784" y="1397956"/>
            <a:ext cx="8394192" cy="5048563"/>
          </a:xfrm>
          <a:prstGeom prst="rect">
            <a:avLst/>
          </a:prstGeom>
        </p:spPr>
      </p:pic>
      <p:sp>
        <p:nvSpPr>
          <p:cNvPr id="3" name="title | E  Current top pathways: C6 / Thy"/>
          <p:cNvSpPr txBox="1"/>
          <p:nvPr/>
        </p:nvSpPr>
        <p:spPr>
          <a:xfrm>
            <a:off x="512064" y="402335"/>
            <a:ext cx="5845724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E  Current top pathways: C6 / Thy</a:t>
            </a:r>
          </a:p>
        </p:txBody>
      </p:sp>
      <p:sp>
        <p:nvSpPr>
          <p:cNvPr id="4" name="figure_text | Full-library top 10 T2-up ORA pathways, using the same score-colu"/>
          <p:cNvSpPr txBox="1"/>
          <p:nvPr/>
        </p:nvSpPr>
        <p:spPr>
          <a:xfrm>
            <a:off x="512064" y="838504"/>
            <a:ext cx="7697750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Full-library top 10 T2-up ORA pathways, using the same score-column and gene-callout format</a:t>
            </a:r>
          </a:p>
        </p:txBody>
      </p:sp>
      <p:sp>
        <p:nvSpPr>
          <p:cNvPr id="5" name="figure_text | Top 10 by pathway BH FDR, then nominal P and term name; rows with"/>
          <p:cNvSpPr txBox="1"/>
          <p:nvPr/>
        </p:nvSpPr>
        <p:spPr>
          <a:xfrm>
            <a:off x="512064" y="7578547"/>
            <a:ext cx="8859130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Top 10 by pathway BH FDR, then nominal P and term name; rows without * are not FDR-significant. No post-hoc pathway renaming.</a:t>
            </a:r>
          </a:p>
        </p:txBody>
      </p:sp>
      <p:sp>
        <p:nvSpPr>
          <p:cNvPr id="6" name="figure_text | Blood Fig. 3E presentation adapted to current data; exact tested "/>
          <p:cNvSpPr txBox="1"/>
          <p:nvPr/>
        </p:nvSpPr>
        <p:spPr>
          <a:xfrm>
            <a:off x="512064" y="7939735"/>
            <a:ext cx="5063249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Blood Fig. 3E presentation adapted to current data; exact tested KEGG terms retained.</a:t>
            </a:r>
          </a:p>
        </p:txBody>
      </p:sp>
      <p:sp>
        <p:nvSpPr>
          <p:cNvPr id="7" name="page_number | 28"/>
          <p:cNvSpPr txBox="1"/>
          <p:nvPr/>
        </p:nvSpPr>
        <p:spPr>
          <a:xfrm>
            <a:off x="13972032" y="7944333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28</a:t>
            </a:r>
          </a:p>
        </p:txBody>
      </p:sp>
      <p:sp>
        <p:nvSpPr>
          <p:cNvPr id="8" name="body_text | Rdh5, Retsat"/>
          <p:cNvSpPr txBox="1"/>
          <p:nvPr/>
        </p:nvSpPr>
        <p:spPr>
          <a:xfrm>
            <a:off x="9070848" y="1929458"/>
            <a:ext cx="923086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70039"/>
                </a:solidFill>
                <a:latin typeface="Arial"/>
              </a:rPr>
              <a:t>Rdh5, Retsat</a:t>
            </a:r>
          </a:p>
        </p:txBody>
      </p:sp>
      <p:sp>
        <p:nvSpPr>
          <p:cNvPr id="9" name="body_text | Chdh, Sardh"/>
          <p:cNvSpPr txBox="1"/>
          <p:nvPr/>
        </p:nvSpPr>
        <p:spPr>
          <a:xfrm>
            <a:off x="9070848" y="2389348"/>
            <a:ext cx="898123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70039"/>
                </a:solidFill>
                <a:latin typeface="Arial"/>
              </a:rPr>
              <a:t>Chdh, Sardh</a:t>
            </a:r>
          </a:p>
        </p:txBody>
      </p:sp>
      <p:sp>
        <p:nvSpPr>
          <p:cNvPr id="10" name="body_text | Nmnat2, Nnt"/>
          <p:cNvSpPr txBox="1"/>
          <p:nvPr/>
        </p:nvSpPr>
        <p:spPr>
          <a:xfrm>
            <a:off x="9070848" y="2851284"/>
            <a:ext cx="910010" cy="2001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70039"/>
                </a:solidFill>
                <a:latin typeface="Arial"/>
              </a:rPr>
              <a:t>Nmnat2, Nnt</a:t>
            </a:r>
          </a:p>
        </p:txBody>
      </p:sp>
      <p:sp>
        <p:nvSpPr>
          <p:cNvPr id="11" name="body_text | Abcb1b, Abcd3"/>
          <p:cNvSpPr txBox="1"/>
          <p:nvPr/>
        </p:nvSpPr>
        <p:spPr>
          <a:xfrm>
            <a:off x="9070848" y="3309126"/>
            <a:ext cx="1090696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70039"/>
                </a:solidFill>
                <a:latin typeface="Arial"/>
              </a:rPr>
              <a:t>Abcb1b, Abcd3</a:t>
            </a:r>
          </a:p>
        </p:txBody>
      </p:sp>
      <p:sp>
        <p:nvSpPr>
          <p:cNvPr id="12" name="body_text | Abcb1b, Ephx1"/>
          <p:cNvSpPr txBox="1"/>
          <p:nvPr/>
        </p:nvSpPr>
        <p:spPr>
          <a:xfrm>
            <a:off x="9070848" y="3769016"/>
            <a:ext cx="1081186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70039"/>
                </a:solidFill>
                <a:latin typeface="Arial"/>
              </a:rPr>
              <a:t>Abcb1b, Ephx1</a:t>
            </a:r>
          </a:p>
        </p:txBody>
      </p:sp>
      <p:sp>
        <p:nvSpPr>
          <p:cNvPr id="13" name="body_text | Camk2b, Erbb3, Hbegf"/>
          <p:cNvSpPr txBox="1"/>
          <p:nvPr/>
        </p:nvSpPr>
        <p:spPr>
          <a:xfrm>
            <a:off x="9070848" y="4228905"/>
            <a:ext cx="1594713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70039"/>
                </a:solidFill>
                <a:latin typeface="Arial"/>
              </a:rPr>
              <a:t>Camk2b, Erbb3, Hbegf</a:t>
            </a:r>
          </a:p>
        </p:txBody>
      </p:sp>
      <p:sp>
        <p:nvSpPr>
          <p:cNvPr id="14" name="body_text | Acox1"/>
          <p:cNvSpPr txBox="1"/>
          <p:nvPr/>
        </p:nvSpPr>
        <p:spPr>
          <a:xfrm>
            <a:off x="9070848" y="4690842"/>
            <a:ext cx="485192" cy="2001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70039"/>
                </a:solidFill>
                <a:latin typeface="Arial"/>
              </a:rPr>
              <a:t>Acox1</a:t>
            </a:r>
          </a:p>
        </p:txBody>
      </p:sp>
      <p:sp>
        <p:nvSpPr>
          <p:cNvPr id="15" name="body_text | Abcd3, Acox1, Hacl1"/>
          <p:cNvSpPr txBox="1"/>
          <p:nvPr/>
        </p:nvSpPr>
        <p:spPr>
          <a:xfrm>
            <a:off x="9070848" y="5148684"/>
            <a:ext cx="1455187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70039"/>
                </a:solidFill>
                <a:latin typeface="Arial"/>
              </a:rPr>
              <a:t>Abcd3, Acox1, Hacl1</a:t>
            </a:r>
          </a:p>
        </p:txBody>
      </p:sp>
      <p:sp>
        <p:nvSpPr>
          <p:cNvPr id="16" name="body_text | Acox1, Sorbs1"/>
          <p:cNvSpPr txBox="1"/>
          <p:nvPr/>
        </p:nvSpPr>
        <p:spPr>
          <a:xfrm>
            <a:off x="9070848" y="5608574"/>
            <a:ext cx="1027248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70039"/>
                </a:solidFill>
                <a:latin typeface="Arial"/>
              </a:rPr>
              <a:t>Acox1, Sorbs1</a:t>
            </a:r>
          </a:p>
        </p:txBody>
      </p:sp>
      <p:sp>
        <p:nvSpPr>
          <p:cNvPr id="17" name="body_text | Cd46"/>
          <p:cNvSpPr txBox="1"/>
          <p:nvPr/>
        </p:nvSpPr>
        <p:spPr>
          <a:xfrm>
            <a:off x="9070848" y="6068463"/>
            <a:ext cx="425013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70039"/>
                </a:solidFill>
                <a:latin typeface="Arial"/>
              </a:rPr>
              <a:t>Cd46</a:t>
            </a:r>
          </a:p>
        </p:txBody>
      </p:sp>
      <p:sp>
        <p:nvSpPr>
          <p:cNvPr id="18" name="body_text | T2-up driver genes"/>
          <p:cNvSpPr txBox="1"/>
          <p:nvPr/>
        </p:nvSpPr>
        <p:spPr>
          <a:xfrm>
            <a:off x="9070848" y="1416244"/>
            <a:ext cx="1594713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T2-up driver genes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old_29_panel_01" descr="old_29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1377543" y="1865376"/>
            <a:ext cx="4852720" cy="4416552"/>
          </a:xfrm>
          <a:prstGeom prst="rect">
            <a:avLst/>
          </a:prstGeom>
        </p:spPr>
      </p:pic>
      <p:pic>
        <p:nvPicPr>
          <p:cNvPr id="3" name="plot_panel | old_29_panel_02" descr="old_29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8546439" y="1865376"/>
            <a:ext cx="4852720" cy="4416552"/>
          </a:xfrm>
          <a:prstGeom prst="rect">
            <a:avLst/>
          </a:prstGeom>
        </p:spPr>
      </p:pic>
      <p:sp>
        <p:nvSpPr>
          <p:cNvPr id="4" name="title | F  Shared T2-up genes across state × tissue"/>
          <p:cNvSpPr txBox="1"/>
          <p:nvPr/>
        </p:nvSpPr>
        <p:spPr>
          <a:xfrm>
            <a:off x="512064" y="402335"/>
            <a:ext cx="7652430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F  Shared T2-up genes across state × tissue</a:t>
            </a:r>
          </a:p>
        </p:txBody>
      </p:sp>
      <p:sp>
        <p:nvSpPr>
          <p:cNvPr id="5" name="figure_text | Four-set Venn diagrams with exact counts from the existing member"/>
          <p:cNvSpPr txBox="1"/>
          <p:nvPr/>
        </p:nvSpPr>
        <p:spPr>
          <a:xfrm>
            <a:off x="512064" y="838504"/>
            <a:ext cx="6502641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Four-set Venn diagrams with exact counts from the existing membership tables</a:t>
            </a:r>
          </a:p>
        </p:txBody>
      </p:sp>
      <p:sp>
        <p:nvSpPr>
          <p:cNvPr id="6" name="figure_text | All-four intersection = 0 in both rules. This does not establish "/>
          <p:cNvSpPr txBox="1"/>
          <p:nvPr/>
        </p:nvSpPr>
        <p:spPr>
          <a:xfrm>
            <a:off x="512064" y="7578547"/>
            <a:ext cx="8759129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All-four intersection = 0 in both rules. This does not establish absence of shared biology; set membership depends on thresholds.</a:t>
            </a:r>
          </a:p>
        </p:txBody>
      </p:sp>
      <p:sp>
        <p:nvSpPr>
          <p:cNvPr id="7" name="figure_text | Blood Fig. 3F; original C5 overlap memberships from 20260830; geo"/>
          <p:cNvSpPr txBox="1"/>
          <p:nvPr/>
        </p:nvSpPr>
        <p:spPr>
          <a:xfrm>
            <a:off x="512064" y="7939735"/>
            <a:ext cx="6409921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Blood Fig. 3F; original C5 overlap memberships from 20260830; geometry is schematic, not area-proportional.</a:t>
            </a:r>
          </a:p>
        </p:txBody>
      </p:sp>
      <p:sp>
        <p:nvSpPr>
          <p:cNvPr id="8" name="page_number | 29"/>
          <p:cNvSpPr txBox="1"/>
          <p:nvPr/>
        </p:nvSpPr>
        <p:spPr>
          <a:xfrm>
            <a:off x="13972032" y="7944333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29</a:t>
            </a:r>
          </a:p>
        </p:txBody>
      </p:sp>
      <p:sp>
        <p:nvSpPr>
          <p:cNvPr id="9" name="figure_text | Cell counts (Ctrl/T2): C5-1 BM 124/85; C5-1 Spl 239/345; C5-2 BM "/>
          <p:cNvSpPr txBox="1"/>
          <p:nvPr/>
        </p:nvSpPr>
        <p:spPr>
          <a:xfrm>
            <a:off x="585216" y="6620256"/>
            <a:ext cx="7414686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Cell counts (Ctrl/T2): C5-1 BM 124/85; C5-1 Spl 239/345; C5-2 BM 104/96; C5-2 Spl 28/42.</a:t>
            </a:r>
          </a:p>
        </p:txBody>
      </p:sp>
      <p:sp>
        <p:nvSpPr>
          <p:cNvPr id="10" name="figure_text | Paper K1/K2 and our C5-1/C5-2 are different populations. Thymus i"/>
          <p:cNvSpPr txBox="1"/>
          <p:nvPr/>
        </p:nvSpPr>
        <p:spPr>
          <a:xfrm>
            <a:off x="585216" y="7044468"/>
            <a:ext cx="7869223" cy="2128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Arial"/>
              </a:rPr>
              <a:t>Paper K1/K2 and our C5-1/C5-2 are different populations. Thymus is excluded here because C5-2 Ctrl n=11.</a:t>
            </a:r>
          </a:p>
        </p:txBody>
      </p:sp>
      <p:sp>
        <p:nvSpPr>
          <p:cNvPr id="11" name="plot_title | Paper rule: P &lt; 0.05, log2FC ≥ 1"/>
          <p:cNvSpPr txBox="1"/>
          <p:nvPr/>
        </p:nvSpPr>
        <p:spPr>
          <a:xfrm>
            <a:off x="2477166" y="1679448"/>
            <a:ext cx="2832765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Paper rule: P &lt; 0.05, log2FC ≥ 1</a:t>
            </a:r>
          </a:p>
        </p:txBody>
      </p:sp>
      <p:sp>
        <p:nvSpPr>
          <p:cNvPr id="12" name="plot_title | Sensitivity: BH FDR ≤ 0.05, log2FC ≥ 0.25"/>
          <p:cNvSpPr txBox="1"/>
          <p:nvPr/>
        </p:nvSpPr>
        <p:spPr>
          <a:xfrm>
            <a:off x="9246012" y="1679448"/>
            <a:ext cx="3664869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Sensitivity: BH FDR ≤ 0.05, log2FC ≥ 0.25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old_30_panel_01" descr="old_30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465836" y="1704898"/>
            <a:ext cx="4316476" cy="4766073"/>
          </a:xfrm>
          <a:prstGeom prst="rect">
            <a:avLst/>
          </a:prstGeom>
        </p:spPr>
      </p:pic>
      <p:pic>
        <p:nvPicPr>
          <p:cNvPr id="3" name="plot_panel | old_30_panel_02" descr="old_30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5220716" y="1897091"/>
            <a:ext cx="4316476" cy="4335561"/>
          </a:xfrm>
          <a:prstGeom prst="rect">
            <a:avLst/>
          </a:prstGeom>
        </p:spPr>
      </p:pic>
      <p:pic>
        <p:nvPicPr>
          <p:cNvPr id="4" name="plot_panel | old_30_panel_03" descr="old_30_panel_03.png"/>
          <p:cNvPicPr>
            <a:picLocks noChangeAspect="1"/>
          </p:cNvPicPr>
          <p:nvPr/>
        </p:nvPicPr>
        <p:blipFill>
          <a:blip r:embed="rId6">
            <a:extLst xmlns:asvg="http://schemas.microsoft.com/office/drawing/2016/SVG/main"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9975595" y="1938476"/>
            <a:ext cx="4316476" cy="4242859"/>
          </a:xfrm>
          <a:prstGeom prst="rect">
            <a:avLst/>
          </a:prstGeom>
        </p:spPr>
      </p:pic>
      <p:sp>
        <p:nvSpPr>
          <p:cNvPr id="5" name="title | Batch sensitivity: show the actual UMAPs"/>
          <p:cNvSpPr txBox="1"/>
          <p:nvPr/>
        </p:nvSpPr>
        <p:spPr>
          <a:xfrm>
            <a:off x="512064" y="402335"/>
            <a:ext cx="7200122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Batch sensitivity: show the actual UMAPs</a:t>
            </a:r>
          </a:p>
        </p:txBody>
      </p:sp>
      <p:sp>
        <p:nvSpPr>
          <p:cNvPr id="6" name="figure_text | Original graph, Harmony by tissue and Harmony by sample"/>
          <p:cNvSpPr txBox="1"/>
          <p:nvPr/>
        </p:nvSpPr>
        <p:spPr>
          <a:xfrm>
            <a:off x="512064" y="838504"/>
            <a:ext cx="4869934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Original graph, Harmony by tissue and Harmony by sample</a:t>
            </a:r>
          </a:p>
        </p:txBody>
      </p:sp>
      <p:sp>
        <p:nvSpPr>
          <p:cNvPr id="7" name="figure_text | Integration increases mixing but changes condition/cluster struct"/>
          <p:cNvSpPr txBox="1"/>
          <p:nvPr/>
        </p:nvSpPr>
        <p:spPr>
          <a:xfrm>
            <a:off x="512064" y="7578547"/>
            <a:ext cx="8692560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Integration increases mixing but changes condition/cluster structure. An independently identified technical batch is unavailable.</a:t>
            </a:r>
          </a:p>
        </p:txBody>
      </p:sp>
      <p:sp>
        <p:nvSpPr>
          <p:cNvPr id="8" name="figure_text | R01 from the 20260906 report; embedding objects and metrics gener"/>
          <p:cNvSpPr txBox="1"/>
          <p:nvPr/>
        </p:nvSpPr>
        <p:spPr>
          <a:xfrm>
            <a:off x="512064" y="7939735"/>
            <a:ext cx="5260428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R01 from the 20260906 report; embedding objects and metrics generated on 20260905.</a:t>
            </a:r>
          </a:p>
        </p:txBody>
      </p:sp>
      <p:sp>
        <p:nvSpPr>
          <p:cNvPr id="9" name="page_number | 30"/>
          <p:cNvSpPr txBox="1"/>
          <p:nvPr/>
        </p:nvSpPr>
        <p:spPr>
          <a:xfrm>
            <a:off x="13972032" y="7944333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sp>
        <p:nvSpPr>
          <p:cNvPr id="10" name="figure_text | All panels colored by the same condition labels; UMAP coordinates"/>
          <p:cNvSpPr txBox="1"/>
          <p:nvPr/>
        </p:nvSpPr>
        <p:spPr>
          <a:xfrm>
            <a:off x="658368" y="6784848"/>
            <a:ext cx="10603576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All panels colored by the same condition labels; UMAP coordinates differ between fits. Expression DE still uses uncorrected counts.</a:t>
            </a:r>
          </a:p>
        </p:txBody>
      </p:sp>
      <p:sp>
        <p:nvSpPr>
          <p:cNvPr id="11" name="plot_title | Original"/>
          <p:cNvSpPr txBox="1"/>
          <p:nvPr/>
        </p:nvSpPr>
        <p:spPr>
          <a:xfrm>
            <a:off x="2327148" y="1500682"/>
            <a:ext cx="862462" cy="2652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84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Original</a:t>
            </a:r>
          </a:p>
        </p:txBody>
      </p:sp>
      <p:sp>
        <p:nvSpPr>
          <p:cNvPr id="12" name="plot_title | Harmony Tissue"/>
          <p:cNvSpPr txBox="1"/>
          <p:nvPr/>
        </p:nvSpPr>
        <p:spPr>
          <a:xfrm>
            <a:off x="6688836" y="1692875"/>
            <a:ext cx="1680301" cy="2652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84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Harmony Tissue</a:t>
            </a:r>
          </a:p>
        </p:txBody>
      </p:sp>
      <p:sp>
        <p:nvSpPr>
          <p:cNvPr id="13" name="plot_title | Harmony Sample"/>
          <p:cNvSpPr txBox="1"/>
          <p:nvPr/>
        </p:nvSpPr>
        <p:spPr>
          <a:xfrm>
            <a:off x="11390495" y="1734260"/>
            <a:ext cx="1791000" cy="2652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84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Harmony Sample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ource_figure | old_31_panel_01" descr="old_31_panel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679" y="1234439"/>
            <a:ext cx="11017041" cy="5925312"/>
          </a:xfrm>
          <a:prstGeom prst="rect">
            <a:avLst/>
          </a:prstGeom>
        </p:spPr>
      </p:pic>
      <p:sp>
        <p:nvSpPr>
          <p:cNvPr id="3" name="title | Additional analysis: signed GSEA and heat-shock sensitivity"/>
          <p:cNvSpPr txBox="1"/>
          <p:nvPr/>
        </p:nvSpPr>
        <p:spPr>
          <a:xfrm>
            <a:off x="512064" y="402335"/>
            <a:ext cx="10391241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Additional analysis: signed GSEA and heat-shock sensitivity</a:t>
            </a:r>
          </a:p>
        </p:txBody>
      </p:sp>
      <p:sp>
        <p:nvSpPr>
          <p:cNvPr id="4" name="figure_text | Keep the signed NES heatmap as a separate analysis"/>
          <p:cNvSpPr txBox="1"/>
          <p:nvPr/>
        </p:nvSpPr>
        <p:spPr>
          <a:xfrm>
            <a:off x="512064" y="838504"/>
            <a:ext cx="4344668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Keep the signed NES heatmap as a separate analysis</a:t>
            </a:r>
          </a:p>
        </p:txBody>
      </p:sp>
      <p:sp>
        <p:nvSpPr>
          <p:cNvPr id="5" name="figure_text | Red/blue represent signed NES; symbols use GSEA q. Hsp/Dnaj maski"/>
          <p:cNvSpPr txBox="1"/>
          <p:nvPr/>
        </p:nvSpPr>
        <p:spPr>
          <a:xfrm>
            <a:off x="512064" y="7578547"/>
            <a:ext cx="7792699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Red/blue represent signed NES; symbols use GSEA q. Hsp/Dnaj masking changes the ranking and tested gene sets.</a:t>
            </a:r>
          </a:p>
        </p:txBody>
      </p:sp>
      <p:sp>
        <p:nvSpPr>
          <p:cNvPr id="6" name="figure_text | 20260905 existing GSEA; this is not the enrichment-score plot of "/>
          <p:cNvSpPr txBox="1"/>
          <p:nvPr/>
        </p:nvSpPr>
        <p:spPr>
          <a:xfrm>
            <a:off x="512064" y="7939735"/>
            <a:ext cx="4644226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20260905 existing GSEA; this is not the enrichment-score plot of Blood Fig. 3E.</a:t>
            </a:r>
          </a:p>
        </p:txBody>
      </p:sp>
      <p:sp>
        <p:nvSpPr>
          <p:cNvPr id="7" name="page_number | 31"/>
          <p:cNvSpPr txBox="1"/>
          <p:nvPr/>
        </p:nvSpPr>
        <p:spPr>
          <a:xfrm>
            <a:off x="13972032" y="7944333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ource_figure | old_32_panel_01" descr="old_32_panel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085" y="1234439"/>
            <a:ext cx="11034228" cy="5925312"/>
          </a:xfrm>
          <a:prstGeom prst="rect">
            <a:avLst/>
          </a:prstGeom>
        </p:spPr>
      </p:pic>
      <p:sp>
        <p:nvSpPr>
          <p:cNvPr id="3" name="title | Additional analysis: reference NK state coverage"/>
          <p:cNvSpPr txBox="1"/>
          <p:nvPr/>
        </p:nvSpPr>
        <p:spPr>
          <a:xfrm>
            <a:off x="512064" y="402335"/>
            <a:ext cx="8536838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Additional analysis: reference NK state coverage</a:t>
            </a:r>
          </a:p>
        </p:txBody>
      </p:sp>
      <p:sp>
        <p:nvSpPr>
          <p:cNvPr id="4" name="figure_text | Full-feature sensitivity for the requested state mapping"/>
          <p:cNvSpPr txBox="1"/>
          <p:nvPr/>
        </p:nvSpPr>
        <p:spPr>
          <a:xfrm>
            <a:off x="512064" y="838504"/>
            <a:ext cx="4546305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Full-feature sensitivity for the requested state mapping</a:t>
            </a:r>
          </a:p>
        </p:txBody>
      </p:sp>
      <p:sp>
        <p:nvSpPr>
          <p:cNvPr id="5" name="figure_text | Adaptive state is not reliably scoreable. These continuous progra"/>
          <p:cNvSpPr txBox="1"/>
          <p:nvPr/>
        </p:nvSpPr>
        <p:spPr>
          <a:xfrm>
            <a:off x="512064" y="7578547"/>
            <a:ext cx="7840842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Adaptive state is not reliably scoreable. These continuous programs do not establish the paper NK cluster identities.</a:t>
            </a:r>
          </a:p>
        </p:txBody>
      </p:sp>
      <p:sp>
        <p:nvSpPr>
          <p:cNvPr id="6" name="figure_text | R02; original 20260905 full-feature state-score output."/>
          <p:cNvSpPr txBox="1"/>
          <p:nvPr/>
        </p:nvSpPr>
        <p:spPr>
          <a:xfrm>
            <a:off x="512064" y="7939735"/>
            <a:ext cx="3225340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R02; original 20260905 full-feature state-score output.</a:t>
            </a:r>
          </a:p>
        </p:txBody>
      </p:sp>
      <p:sp>
        <p:nvSpPr>
          <p:cNvPr id="7" name="page_number | 32"/>
          <p:cNvSpPr txBox="1"/>
          <p:nvPr/>
        </p:nvSpPr>
        <p:spPr>
          <a:xfrm>
            <a:off x="13972032" y="7944333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ource_figure | old_33_panel_01" descr="old_33_panel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491" y="1234440"/>
            <a:ext cx="9819416" cy="5925311"/>
          </a:xfrm>
          <a:prstGeom prst="rect">
            <a:avLst/>
          </a:prstGeom>
        </p:spPr>
      </p:pic>
      <p:sp>
        <p:nvSpPr>
          <p:cNvPr id="3" name="title | Additional analysis: bone marrow separately"/>
          <p:cNvSpPr txBox="1"/>
          <p:nvPr/>
        </p:nvSpPr>
        <p:spPr>
          <a:xfrm>
            <a:off x="512064" y="402335"/>
            <a:ext cx="7804586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Additional analysis: bone marrow separately</a:t>
            </a:r>
          </a:p>
        </p:txBody>
      </p:sp>
      <p:sp>
        <p:nvSpPr>
          <p:cNvPr id="4" name="figure_text | Within-tissue clustering, condition and state maps"/>
          <p:cNvSpPr txBox="1"/>
          <p:nvPr/>
        </p:nvSpPr>
        <p:spPr>
          <a:xfrm>
            <a:off x="512064" y="838504"/>
            <a:ext cx="4149421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Within-tissue clustering, condition and state maps</a:t>
            </a:r>
          </a:p>
        </p:txBody>
      </p:sp>
      <p:sp>
        <p:nvSpPr>
          <p:cNvPr id="5" name="figure_text | New within-tissue labels differ from original C# labels; use save"/>
          <p:cNvSpPr txBox="1"/>
          <p:nvPr/>
        </p:nvSpPr>
        <p:spPr>
          <a:xfrm>
            <a:off x="512064" y="7578547"/>
            <a:ext cx="7113940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New within-tissue labels differ from original C# labels; use saved cell-overlap tables for correspondence.</a:t>
            </a:r>
          </a:p>
        </p:txBody>
      </p:sp>
      <p:sp>
        <p:nvSpPr>
          <p:cNvPr id="6" name="figure_text | R03; 20260905 stability-selected bone marrow output."/>
          <p:cNvSpPr txBox="1"/>
          <p:nvPr/>
        </p:nvSpPr>
        <p:spPr>
          <a:xfrm>
            <a:off x="512064" y="7939735"/>
            <a:ext cx="3243022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R03; 20260905 stability-selected bone marrow output.</a:t>
            </a:r>
          </a:p>
        </p:txBody>
      </p:sp>
      <p:sp>
        <p:nvSpPr>
          <p:cNvPr id="7" name="page_number | 33"/>
          <p:cNvSpPr txBox="1"/>
          <p:nvPr/>
        </p:nvSpPr>
        <p:spPr>
          <a:xfrm>
            <a:off x="13972032" y="7944333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ource_figure | old_34_panel_01" descr="old_34_panel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971" y="1234439"/>
            <a:ext cx="8034456" cy="5925312"/>
          </a:xfrm>
          <a:prstGeom prst="rect">
            <a:avLst/>
          </a:prstGeom>
        </p:spPr>
      </p:pic>
      <p:sp>
        <p:nvSpPr>
          <p:cNvPr id="3" name="title | IL-4 and CD94: condition-masked expression"/>
          <p:cNvSpPr txBox="1"/>
          <p:nvPr/>
        </p:nvSpPr>
        <p:spPr>
          <a:xfrm>
            <a:off x="512064" y="402335"/>
            <a:ext cx="7729846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IL-4 and CD94: condition-masked expression</a:t>
            </a:r>
          </a:p>
        </p:txBody>
      </p:sp>
      <p:sp>
        <p:nvSpPr>
          <p:cNvPr id="4" name="figure_text | Both conditions shown using the same saved embedding"/>
          <p:cNvSpPr txBox="1"/>
          <p:nvPr/>
        </p:nvSpPr>
        <p:spPr>
          <a:xfrm>
            <a:off x="512064" y="838504"/>
            <a:ext cx="4694895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Both conditions shown using the same saved embedding</a:t>
            </a:r>
          </a:p>
        </p:txBody>
      </p:sp>
      <p:sp>
        <p:nvSpPr>
          <p:cNvPr id="5" name="figure_text | Complementarity is weak, not strict exclusivity. UMAP positions a"/>
          <p:cNvSpPr txBox="1"/>
          <p:nvPr/>
        </p:nvSpPr>
        <p:spPr>
          <a:xfrm>
            <a:off x="512064" y="7578547"/>
            <a:ext cx="7530884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Complementarity is weak, not strict exclusivity. UMAP positions are not physical tissue locations or RNA velocity.</a:t>
            </a:r>
          </a:p>
        </p:txBody>
      </p:sp>
      <p:sp>
        <p:nvSpPr>
          <p:cNvPr id="6" name="figure_text | 20260830 condition-mask output; marker display requested in the e"/>
          <p:cNvSpPr txBox="1"/>
          <p:nvPr/>
        </p:nvSpPr>
        <p:spPr>
          <a:xfrm>
            <a:off x="512064" y="7939735"/>
            <a:ext cx="4869042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20260830 condition-mask output; marker display requested in the earlier meeting.</a:t>
            </a:r>
          </a:p>
        </p:txBody>
      </p:sp>
      <p:sp>
        <p:nvSpPr>
          <p:cNvPr id="7" name="page_number | 34"/>
          <p:cNvSpPr txBox="1"/>
          <p:nvPr/>
        </p:nvSpPr>
        <p:spPr>
          <a:xfrm>
            <a:off x="13972032" y="7944333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ource_figure | old_35_panel_01" descr="old_35_panel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369" y="1234440"/>
            <a:ext cx="11237660" cy="5925312"/>
          </a:xfrm>
          <a:prstGeom prst="rect">
            <a:avLst/>
          </a:prstGeom>
        </p:spPr>
      </p:pic>
      <p:sp>
        <p:nvSpPr>
          <p:cNvPr id="3" name="title | Local information: bone marrow C4"/>
          <p:cNvSpPr txBox="1"/>
          <p:nvPr/>
        </p:nvSpPr>
        <p:spPr>
          <a:xfrm>
            <a:off x="512064" y="402335"/>
            <a:ext cx="6130869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Local information: bone marrow C4</a:t>
            </a:r>
          </a:p>
        </p:txBody>
      </p:sp>
      <p:sp>
        <p:nvSpPr>
          <p:cNvPr id="4" name="figure_text | Current candidate expression effects across sensitivity analyses"/>
          <p:cNvSpPr txBox="1"/>
          <p:nvPr/>
        </p:nvSpPr>
        <p:spPr>
          <a:xfrm>
            <a:off x="512064" y="838504"/>
            <a:ext cx="5230562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Current candidate expression effects across sensitivity analyses</a:t>
            </a:r>
          </a:p>
        </p:txBody>
      </p:sp>
      <p:sp>
        <p:nvSpPr>
          <p:cNvPr id="5" name="figure_text | Same-data sensitivity checks support a candidate, not an independ"/>
          <p:cNvSpPr txBox="1"/>
          <p:nvPr/>
        </p:nvSpPr>
        <p:spPr>
          <a:xfrm>
            <a:off x="512064" y="7578547"/>
            <a:ext cx="7297597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Same-data sensitivity checks support a candidate, not an independent replicate or established mechanism.</a:t>
            </a:r>
          </a:p>
        </p:txBody>
      </p:sp>
      <p:sp>
        <p:nvSpPr>
          <p:cNvPr id="6" name="figure_text | R13; 20260905 discovery results; relates to the local-vs-global q"/>
          <p:cNvSpPr txBox="1"/>
          <p:nvPr/>
        </p:nvSpPr>
        <p:spPr>
          <a:xfrm>
            <a:off x="512064" y="7939735"/>
            <a:ext cx="5857314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R13; 20260905 discovery results; relates to the local-vs-global question in original iNKT slides 27–28.</a:t>
            </a:r>
          </a:p>
        </p:txBody>
      </p:sp>
      <p:sp>
        <p:nvSpPr>
          <p:cNvPr id="7" name="page_number | 35"/>
          <p:cNvSpPr txBox="1"/>
          <p:nvPr/>
        </p:nvSpPr>
        <p:spPr>
          <a:xfrm>
            <a:off x="13972032" y="7944333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ource_figure | old_36_panel_01" descr="old_36_panel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369" y="1234440"/>
            <a:ext cx="11237660" cy="5925312"/>
          </a:xfrm>
          <a:prstGeom prst="rect">
            <a:avLst/>
          </a:prstGeom>
        </p:spPr>
      </p:pic>
      <p:sp>
        <p:nvSpPr>
          <p:cNvPr id="3" name="title | Local information: spleen C3 CCT/TriC program"/>
          <p:cNvSpPr txBox="1"/>
          <p:nvPr/>
        </p:nvSpPr>
        <p:spPr>
          <a:xfrm>
            <a:off x="512064" y="402335"/>
            <a:ext cx="8084976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Local information: spleen C3 CCT/TriC program</a:t>
            </a:r>
          </a:p>
        </p:txBody>
      </p:sp>
      <p:sp>
        <p:nvSpPr>
          <p:cNvPr id="4" name="figure_text | Specific driver genes and current enrichment evidence"/>
          <p:cNvSpPr txBox="1"/>
          <p:nvPr/>
        </p:nvSpPr>
        <p:spPr>
          <a:xfrm>
            <a:off x="512064" y="838504"/>
            <a:ext cx="4488949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Specific driver genes and current enrichment evidence</a:t>
            </a:r>
          </a:p>
        </p:txBody>
      </p:sp>
      <p:sp>
        <p:nvSpPr>
          <p:cNvPr id="5" name="figure_text | Shared driver genes link several pathway names. Expression eviden"/>
          <p:cNvSpPr txBox="1"/>
          <p:nvPr/>
        </p:nvSpPr>
        <p:spPr>
          <a:xfrm>
            <a:off x="512064" y="7578547"/>
            <a:ext cx="8883350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Shared driver genes link several pathway names. Expression evidence does not directly measure protein-folding or killing function.</a:t>
            </a:r>
          </a:p>
        </p:txBody>
      </p:sp>
      <p:sp>
        <p:nvSpPr>
          <p:cNvPr id="6" name="figure_text | R13; 20260905 discovery output."/>
          <p:cNvSpPr txBox="1"/>
          <p:nvPr/>
        </p:nvSpPr>
        <p:spPr>
          <a:xfrm>
            <a:off x="512064" y="7939735"/>
            <a:ext cx="2032162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R13; 20260905 discovery output.</a:t>
            </a:r>
          </a:p>
        </p:txBody>
      </p:sp>
      <p:sp>
        <p:nvSpPr>
          <p:cNvPr id="7" name="page_number | 36"/>
          <p:cNvSpPr txBox="1"/>
          <p:nvPr/>
        </p:nvSpPr>
        <p:spPr>
          <a:xfrm>
            <a:off x="13972032" y="7944333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Editable numerical / explanatory table"/>
          <p:cNvGraphicFramePr>
            <a:graphicFrameLocks noGrp="1"/>
          </p:cNvGraphicFramePr>
          <p:nvPr/>
        </p:nvGraphicFramePr>
        <p:xfrm>
          <a:off x="658368" y="1645920"/>
          <a:ext cx="13313663" cy="4526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2142"/>
                <a:gridCol w="10251521"/>
              </a:tblGrid>
              <a:tr h="646611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</a:rPr>
                        <a:t>Interpretation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Matched presentation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Dotplot + DEG table; two composition denominators; volcano axes; ORA score strip; exact four-set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Venn.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Different computation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Current UMAP/Leiden vs paper t-SNE/K-means; current module scores vs legacy summed scores.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Different pathway statistics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ORA uses −ln(P); signed GSEA uses NES. Displaying a term does not imply BH FDR significance.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Different populations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iNKT vs paper NK; C# vs legacy c# or K#. No one-to-one identity assumed.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Not performed / unsupported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RNA velocity, paper qPCR/flow/function assays, PAGER interaction network replication; no replacement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figures invented.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Current state of completion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R01–R13 remains as documented: velocity input gap, incomplete state coverage, old-library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limitations and no animal-level replication.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title | What is comparable, and what remains different"/>
          <p:cNvSpPr txBox="1"/>
          <p:nvPr/>
        </p:nvSpPr>
        <p:spPr>
          <a:xfrm>
            <a:off x="512064" y="402335"/>
            <a:ext cx="8422721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What is comparable, and what remains different</a:t>
            </a:r>
          </a:p>
        </p:txBody>
      </p:sp>
      <p:sp>
        <p:nvSpPr>
          <p:cNvPr id="4" name="figure_text | Presentation changes preserve the measured quantity and the popul"/>
          <p:cNvSpPr txBox="1"/>
          <p:nvPr/>
        </p:nvSpPr>
        <p:spPr>
          <a:xfrm>
            <a:off x="512064" y="838504"/>
            <a:ext cx="7388683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Presentation changes preserve the measured quantity and the population being compared</a:t>
            </a:r>
          </a:p>
        </p:txBody>
      </p:sp>
      <p:sp>
        <p:nvSpPr>
          <p:cNvPr id="5" name="figure_text | Current priority: BM C4 expression-state candidates and Spl C3 CC"/>
          <p:cNvSpPr txBox="1"/>
          <p:nvPr/>
        </p:nvSpPr>
        <p:spPr>
          <a:xfrm>
            <a:off x="512064" y="7578547"/>
            <a:ext cx="9065818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Current priority: BM C4 expression-state candidates and Spl C3 CCT/TriC-related expression; independent validation remains pending.</a:t>
            </a:r>
          </a:p>
        </p:txBody>
      </p:sp>
      <p:sp>
        <p:nvSpPr>
          <p:cNvPr id="6" name="figure_text | Original iNKT deck and Blood main/supplementary figures reviewed;"/>
          <p:cNvSpPr txBox="1"/>
          <p:nvPr/>
        </p:nvSpPr>
        <p:spPr>
          <a:xfrm>
            <a:off x="512064" y="7939735"/>
            <a:ext cx="6751678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Original iNKT deck and Blood main/supplementary figures reviewed; see presentation_audit.md for the full mapping.</a:t>
            </a:r>
          </a:p>
        </p:txBody>
      </p:sp>
      <p:sp>
        <p:nvSpPr>
          <p:cNvPr id="7" name="page_number | 37"/>
          <p:cNvSpPr txBox="1"/>
          <p:nvPr/>
        </p:nvSpPr>
        <p:spPr>
          <a:xfrm>
            <a:off x="13972032" y="7944333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iNKT — editable source-element presentation</dc:title>
  <dc:subject>Native text and tables, individual SVG/PNG figure panels</dc:subject>
  <dc:creator>iNKT analysis project</dc:creator>
  <cp:keywords/>
  <dc:description>Full-slide images are excluded. All figure panels have source assets and provenance.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