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panel1.svg" ContentType="image/svg+xml"/>
  <Override PartName="/ppt/media/panel10.svg" ContentType="image/svg+xml"/>
  <Override PartName="/ppt/media/panel11.svg" ContentType="image/svg+xml"/>
  <Override PartName="/ppt/media/panel12.svg" ContentType="image/svg+xml"/>
  <Override PartName="/ppt/media/panel13.svg" ContentType="image/svg+xml"/>
  <Override PartName="/ppt/media/panel14.svg" ContentType="image/svg+xml"/>
  <Override PartName="/ppt/media/panel15.svg" ContentType="image/svg+xml"/>
  <Override PartName="/ppt/media/panel16.svg" ContentType="image/svg+xml"/>
  <Override PartName="/ppt/media/panel17.svg" ContentType="image/svg+xml"/>
  <Override PartName="/ppt/media/panel18.svg" ContentType="image/svg+xml"/>
  <Override PartName="/ppt/media/panel19.svg" ContentType="image/svg+xml"/>
  <Override PartName="/ppt/media/panel2.svg" ContentType="image/svg+xml"/>
  <Override PartName="/ppt/media/panel20.svg" ContentType="image/svg+xml"/>
  <Override PartName="/ppt/media/panel21.svg" ContentType="image/svg+xml"/>
  <Override PartName="/ppt/media/panel22.svg" ContentType="image/svg+xml"/>
  <Override PartName="/ppt/media/panel23.svg" ContentType="image/svg+xml"/>
  <Override PartName="/ppt/media/panel24.svg" ContentType="image/svg+xml"/>
  <Override PartName="/ppt/media/panel25.svg" ContentType="image/svg+xml"/>
  <Override PartName="/ppt/media/panel26.svg" ContentType="image/svg+xml"/>
  <Override PartName="/ppt/media/panel27.svg" ContentType="image/svg+xml"/>
  <Override PartName="/ppt/media/panel28.svg" ContentType="image/svg+xml"/>
  <Override PartName="/ppt/media/panel29.svg" ContentType="image/svg+xml"/>
  <Override PartName="/ppt/media/panel3.svg" ContentType="image/svg+xml"/>
  <Override PartName="/ppt/media/panel30.svg" ContentType="image/svg+xml"/>
  <Override PartName="/ppt/media/panel31.svg" ContentType="image/svg+xml"/>
  <Override PartName="/ppt/media/panel32.svg" ContentType="image/svg+xml"/>
  <Override PartName="/ppt/media/panel33.svg" ContentType="image/svg+xml"/>
  <Override PartName="/ppt/media/panel34.svg" ContentType="image/svg+xml"/>
  <Override PartName="/ppt/media/panel35.svg" ContentType="image/svg+xml"/>
  <Override PartName="/ppt/media/panel36.svg" ContentType="image/svg+xml"/>
  <Override PartName="/ppt/media/panel37.svg" ContentType="image/svg+xml"/>
  <Override PartName="/ppt/media/panel38.svg" ContentType="image/svg+xml"/>
  <Override PartName="/ppt/media/panel39.svg" ContentType="image/svg+xml"/>
  <Override PartName="/ppt/media/panel4.svg" ContentType="image/svg+xml"/>
  <Override PartName="/ppt/media/panel40.svg" ContentType="image/svg+xml"/>
  <Override PartName="/ppt/media/panel41.svg" ContentType="image/svg+xml"/>
  <Override PartName="/ppt/media/panel42.svg" ContentType="image/svg+xml"/>
  <Override PartName="/ppt/media/panel43.svg" ContentType="image/svg+xml"/>
  <Override PartName="/ppt/media/panel44.svg" ContentType="image/svg+xml"/>
  <Override PartName="/ppt/media/panel5.svg" ContentType="image/svg+xml"/>
  <Override PartName="/ppt/media/panel6.svg" ContentType="image/svg+xml"/>
  <Override PartName="/ppt/media/panel7.svg" ContentType="image/svg+xml"/>
  <Override PartName="/ppt/media/panel8.svg" ContentType="image/svg+xml"/>
  <Override PartName="/ppt/media/panel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iNKT cytotoxicity and Gene Ontology</a:t>
            </a:r>
          </a:p>
          <a:p>
            <a:r>
              <a:t>本轮新增的是细胞毒性与GO计算。输入来自9月5日最新分析对象；9月15日仅是展示更新。</a:t>
            </a:r>
          </a:p>
          <a:p>
            <a:r>
              <a:t>Huang et al. 2024, PAGER-scFGA, Fig. 5; doi:10.3389/fbinf.2024.1336135; Borra et al. 2026, GAFA, Sec. 3.5 / Fig. 4c; doi:10.3390/biology15070588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new_01; Main talk</a:t>
            </a:r>
          </a:p>
          <a:p>
            <a:r>
              <a:t>Independent graphics: assets/panels/new_01_*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design and reference mapping</a:t>
            </a:r>
          </a:p>
          <a:p>
            <a:r>
              <a:t>采用论文中的方法和图形组织方式。没有运行SCORPION、随机森林或声称重现PAGER专有网络；GO采用官方MGI小鼠注释。</a:t>
            </a:r>
          </a:p>
          <a:p>
            <a:r>
              <a:t>Huang et al. 2024, PAGER-scFGA, Fig. 5; doi:10.3389/fbinf.2024.1336135; Borra et al. 2026, GAFA, Sec. 3.5 / Fig. 4c; doi:10.3390/biology15070588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new_02; Main talk</a:t>
            </a:r>
          </a:p>
          <a:p>
            <a:r>
              <a:t>Independent graphics: assets/panels/new_02_*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Cytotoxic gene coverage and scoring</a:t>
            </a:r>
          </a:p>
          <a:p>
            <a:r>
              <a:t>分数是转录表达而不是杀伤实验读数。不同基因集的绝对分数不可视为相同量纲的功能强弱。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new_03; Main talk</a:t>
            </a:r>
          </a:p>
          <a:p>
            <a:r>
              <a:t>Independent graphics: assets/panels/new_03_*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Bone marrow: cytotoxic expression and condition effects</a:t>
            </a:r>
          </a:p>
          <a:p>
            <a:r>
              <a:t>按组织和原分群展示细胞毒性；红色为T2高，蓝色为Ctrl高。星号是细胞层面探索性检验，不能代表动物重复验证。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new_04; Main talk</a:t>
            </a:r>
          </a:p>
          <a:p>
            <a:r>
              <a:t>Independent graphics: assets/panels/new_04_*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Spleen: cytotoxic expression and condition effects</a:t>
            </a:r>
          </a:p>
          <a:p>
            <a:r>
              <a:t>按组织和原分群展示细胞毒性；红色为T2高，蓝色为Ctrl高。星号是细胞层面探索性检验，不能代表动物重复验证。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new_05; Main talk</a:t>
            </a:r>
          </a:p>
          <a:p>
            <a:r>
              <a:t>Independent graphics: assets/panels/new_05_*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Thymus: cytotoxic expression and condition effects</a:t>
            </a:r>
          </a:p>
          <a:p>
            <a:r>
              <a:t>按组织和原分群展示细胞毒性；红色为T2高，蓝色为Ctrl高。星号是细胞层面探索性检验，不能代表动物重复验证。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new_06; Main talk</a:t>
            </a:r>
          </a:p>
          <a:p>
            <a:r>
              <a:t>Independent graphics: assets/panels/new_06_*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Bone marrow: GO biological processes: cluster identity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new_07; Main talk</a:t>
            </a:r>
          </a:p>
          <a:p>
            <a:r>
              <a:t>Independent graphics: assets/panels/new_07_*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Spleen: GO biological processes: cluster identity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new_08; Main talk</a:t>
            </a:r>
          </a:p>
          <a:p>
            <a:r>
              <a:t>Independent graphics: assets/panels/new_08_*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Thymus: GO biological processes: cluster identity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new_09; Main talk</a:t>
            </a:r>
          </a:p>
          <a:p>
            <a:r>
              <a:t>Independent graphics: assets/panels/new_09_*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Bone marrow: GO biological processes: condition response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new_10; Main talk</a:t>
            </a:r>
          </a:p>
          <a:p>
            <a:r>
              <a:t>Independent graphics: assets/panels/new_10_*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Spleen: GO biological processes: condition response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new_11; Main talk</a:t>
            </a:r>
          </a:p>
          <a:p>
            <a:r>
              <a:t>Independent graphics: assets/panels/new_11_*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Thymus: GO biological processes: condition response</a:t>
            </a:r>
          </a:p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Exploratory transcriptional results; one sample label per tissue x condition; no animal-level inference. Blank = no displayed significant term, not proof of absence.</a:t>
            </a:r>
          </a:p>
          <a:p>
            <a:r>
              <a:t>Source page: new_12; Main talk</a:t>
            </a:r>
          </a:p>
          <a:p>
            <a:r>
              <a:t>Independent graphics: assets/panels/new_12_*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Bone marrow: local cytotoxicity along pseudotime</a:t>
            </a:r>
          </a:p>
          <a:p>
            <a:r>
              <a:t>重新计算了组织内diffusion map，避免复用全局轨迹。用前体marker选择根群，三个根细胞做敏感性。平滑曲线不是置信区间，条件曲线差别不等于分化速率差别。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 Pseudotime is an assumed ordering, not RNA velocity or lineage validation.</a:t>
            </a:r>
          </a:p>
          <a:p>
            <a:r>
              <a:t>Source page: new_13; Main talk</a:t>
            </a:r>
          </a:p>
          <a:p>
            <a:r>
              <a:t>Independent graphics: assets/panels/new_13_*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Spleen: local cytotoxicity along pseudotime</a:t>
            </a:r>
          </a:p>
          <a:p>
            <a:r>
              <a:t>重新计算了组织内diffusion map，避免复用全局轨迹。用前体marker选择根群，三个根细胞做敏感性。平滑曲线不是置信区间，条件曲线差别不等于分化速率差别。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 Pseudotime is an assumed ordering, not RNA velocity or lineage validation.</a:t>
            </a:r>
          </a:p>
          <a:p>
            <a:r>
              <a:t>Source page: new_14; Main talk</a:t>
            </a:r>
          </a:p>
          <a:p>
            <a:r>
              <a:t>Independent graphics: assets/panels/new_14_*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Thymus: local cytotoxicity along pseudotime</a:t>
            </a:r>
          </a:p>
          <a:p>
            <a:r>
              <a:t>重新计算了组织内diffusion map，避免复用全局轨迹。用前体marker选择根群，三个根细胞做敏感性。平滑曲线不是置信区间，条件曲线差别不等于分化速率差别。</a:t>
            </a:r>
          </a:p>
          <a:p>
            <a:r>
              <a:t>Huang et al. 2024, PAGER-scFGA, Fig. 5; doi:10.3389/fbinf.2024.1336135</a:t>
            </a:r>
          </a:p>
          <a:p>
            <a:r>
              <a:t>Exploratory transcriptional results; one sample label per tissue x condition; no animal-level inference. Pseudotime is an assumed ordering, not RNA velocity or lineage validation.</a:t>
            </a:r>
          </a:p>
          <a:p>
            <a:r>
              <a:t>Source page: new_15; Main talk</a:t>
            </a:r>
          </a:p>
          <a:p>
            <a:r>
              <a:t>Independent graphics: assets/panels/new_15_*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signature changes do not imply a full killing pathway</a:t>
            </a:r>
          </a:p>
          <a:p>
            <a:r>
              <a:t>骨髓C4和脾脏C3的核心3基因模块及原4基因效应模块有一致局部变化；加入Ctla2a后的论文E1代表模块不显著。杀伤相关GO也未显著，不能推断整个细胞毒性通路增强或减弱。</a:t>
            </a:r>
          </a:p>
          <a:p>
            <a:r>
              <a:t>Huang et al. 2024, PAGER-scFGA, Fig. 5; doi:10.3389/fbinf.2024.1336135; Borra et al. 2026, GAFA, Sec. 3.5 / Fig. 4c; doi:10.3390/biology15070588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new_16; Main talk</a:t>
            </a:r>
          </a:p>
          <a:p>
            <a:r>
              <a:t>Independent graphics: assets/panels/new_16_*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Cellular components of cytotoxic module genes</a:t>
            </a:r>
          </a:p>
          <a:p>
            <a:r>
              <a:t>这里只画真实GO细胞组分注释矩阵，不把共同定位误画为PPI相互作用。</a:t>
            </a:r>
          </a:p>
          <a:p>
            <a:r>
              <a:t>Huang et al. 2024, PAGER-scFGA, Fig. 5; doi:10.3389/fbinf.2024.1336135; official mouse GO annotations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new_17; Main talk</a:t>
            </a:r>
          </a:p>
          <a:p>
            <a:r>
              <a:t>Independent graphics: assets/panels/new_17_*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Robustness: QC matching and alternative clustering</a:t>
            </a:r>
          </a:p>
          <a:p>
            <a:r>
              <a:t>绿色范围表示五次QC匹配结果范围，不是置信区间。完整稳定分群分析保存在表里，不把S群直接等同原来的C群。</a:t>
            </a:r>
          </a:p>
          <a:p>
            <a:r>
              <a:t>Huang et al. 2024, PAGER-scFGA, Fig. 5; doi:10.3389/fbinf.2024.1336135; sensitivity analyses added for this dataset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new_18; Main talk</a:t>
            </a:r>
          </a:p>
          <a:p>
            <a:r>
              <a:t>Independent graphics: assets/panels/new_18_*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summary and next interpretation</a:t>
            </a:r>
          </a:p>
          <a:p>
            <a:r>
              <a:t>总结按表达差异绝对值排序。优先看基因组成、QC匹配、背景校正评分是否同向，再讨论GO机制；不要把转录结果写成已验证杀伤增强或减弱。</a:t>
            </a:r>
          </a:p>
          <a:p>
            <a:r>
              <a:t>Huang et al. 2024, PAGER-scFGA, Fig. 5; doi:10.3389/fbinf.2024.1336135; Borra et al. 2026, GAFA, Sec. 3.5 / Fig. 4c; doi:10.3390/biology15070588</a:t>
            </a:r>
          </a:p>
          <a:p>
            <a:r>
              <a:t>Exploratory transcriptional results; one sample label per tissue x condition; no animal-level inference.</a:t>
            </a:r>
          </a:p>
          <a:p>
            <a:r>
              <a:t>Source page: new_19; Main talk</a:t>
            </a:r>
          </a:p>
          <a:p>
            <a:r>
              <a:t>Independent graphics: assets/panels/new_19_*</a:t>
            </a:r>
          </a:p>
          <a:p>
            <a:r>
              <a:t>Native text and tables can be edited directly. SVG/PNG panels can be moved, resized or replaced independently; numeric source tables are in data/.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panel1.sv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panel2.svg"/><Relationship Id="rId4" Type="http://schemas.openxmlformats.org/officeDocument/2006/relationships/image" Target="../media/image3.png"/><Relationship Id="rId5" Type="http://schemas.openxmlformats.org/officeDocument/2006/relationships/image" Target="../media/panel3.svg"/><Relationship Id="rId6" Type="http://schemas.openxmlformats.org/officeDocument/2006/relationships/image" Target="../media/image4.png"/><Relationship Id="rId7" Type="http://schemas.openxmlformats.org/officeDocument/2006/relationships/image" Target="../media/panel4.sv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panel5.svg"/><Relationship Id="rId4" Type="http://schemas.openxmlformats.org/officeDocument/2006/relationships/image" Target="../media/image6.png"/><Relationship Id="rId5" Type="http://schemas.openxmlformats.org/officeDocument/2006/relationships/image" Target="../media/panel6.svg"/><Relationship Id="rId6" Type="http://schemas.openxmlformats.org/officeDocument/2006/relationships/image" Target="../media/image7.png"/><Relationship Id="rId7" Type="http://schemas.openxmlformats.org/officeDocument/2006/relationships/image" Target="../media/panel7.svg"/><Relationship Id="rId8" Type="http://schemas.openxmlformats.org/officeDocument/2006/relationships/image" Target="../media/image8.png"/><Relationship Id="rId9" Type="http://schemas.openxmlformats.org/officeDocument/2006/relationships/image" Target="../media/panel8.svg"/><Relationship Id="rId10" Type="http://schemas.openxmlformats.org/officeDocument/2006/relationships/image" Target="../media/image9.png"/><Relationship Id="rId11" Type="http://schemas.openxmlformats.org/officeDocument/2006/relationships/image" Target="../media/panel9.svg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panel10.svg"/><Relationship Id="rId4" Type="http://schemas.openxmlformats.org/officeDocument/2006/relationships/image" Target="../media/image6.png"/><Relationship Id="rId5" Type="http://schemas.openxmlformats.org/officeDocument/2006/relationships/image" Target="../media/panel11.svg"/><Relationship Id="rId6" Type="http://schemas.openxmlformats.org/officeDocument/2006/relationships/image" Target="../media/image11.png"/><Relationship Id="rId7" Type="http://schemas.openxmlformats.org/officeDocument/2006/relationships/image" Target="../media/panel12.svg"/><Relationship Id="rId8" Type="http://schemas.openxmlformats.org/officeDocument/2006/relationships/image" Target="../media/image12.png"/><Relationship Id="rId9" Type="http://schemas.openxmlformats.org/officeDocument/2006/relationships/image" Target="../media/panel13.svg"/><Relationship Id="rId10" Type="http://schemas.openxmlformats.org/officeDocument/2006/relationships/image" Target="../media/image13.png"/><Relationship Id="rId11" Type="http://schemas.openxmlformats.org/officeDocument/2006/relationships/image" Target="../media/panel14.svg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panel15.svg"/><Relationship Id="rId4" Type="http://schemas.openxmlformats.org/officeDocument/2006/relationships/image" Target="../media/image6.png"/><Relationship Id="rId5" Type="http://schemas.openxmlformats.org/officeDocument/2006/relationships/image" Target="../media/panel16.svg"/><Relationship Id="rId6" Type="http://schemas.openxmlformats.org/officeDocument/2006/relationships/image" Target="../media/image15.png"/><Relationship Id="rId7" Type="http://schemas.openxmlformats.org/officeDocument/2006/relationships/image" Target="../media/panel17.svg"/><Relationship Id="rId8" Type="http://schemas.openxmlformats.org/officeDocument/2006/relationships/image" Target="../media/image16.png"/><Relationship Id="rId9" Type="http://schemas.openxmlformats.org/officeDocument/2006/relationships/image" Target="../media/panel18.svg"/><Relationship Id="rId10" Type="http://schemas.openxmlformats.org/officeDocument/2006/relationships/image" Target="../media/image17.png"/><Relationship Id="rId11" Type="http://schemas.openxmlformats.org/officeDocument/2006/relationships/image" Target="../media/panel19.svg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panel20.svg"/><Relationship Id="rId4" Type="http://schemas.openxmlformats.org/officeDocument/2006/relationships/image" Target="../media/image19.png"/><Relationship Id="rId5" Type="http://schemas.openxmlformats.org/officeDocument/2006/relationships/image" Target="../media/panel21.sv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panel22.svg"/><Relationship Id="rId4" Type="http://schemas.openxmlformats.org/officeDocument/2006/relationships/image" Target="../media/image19.png"/><Relationship Id="rId5" Type="http://schemas.openxmlformats.org/officeDocument/2006/relationships/image" Target="../media/panel23.sv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panel24.svg"/><Relationship Id="rId4" Type="http://schemas.openxmlformats.org/officeDocument/2006/relationships/image" Target="../media/image19.png"/><Relationship Id="rId5" Type="http://schemas.openxmlformats.org/officeDocument/2006/relationships/image" Target="../media/panel25.sv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panel26.svg"/><Relationship Id="rId4" Type="http://schemas.openxmlformats.org/officeDocument/2006/relationships/image" Target="../media/image19.png"/><Relationship Id="rId5" Type="http://schemas.openxmlformats.org/officeDocument/2006/relationships/image" Target="../media/panel27.sv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panel28.svg"/><Relationship Id="rId4" Type="http://schemas.openxmlformats.org/officeDocument/2006/relationships/image" Target="../media/image19.png"/><Relationship Id="rId5" Type="http://schemas.openxmlformats.org/officeDocument/2006/relationships/image" Target="../media/panel29.sv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panel30.svg"/><Relationship Id="rId4" Type="http://schemas.openxmlformats.org/officeDocument/2006/relationships/image" Target="../media/image19.png"/><Relationship Id="rId5" Type="http://schemas.openxmlformats.org/officeDocument/2006/relationships/image" Target="../media/panel31.sv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panel32.svg"/><Relationship Id="rId4" Type="http://schemas.openxmlformats.org/officeDocument/2006/relationships/image" Target="../media/image26.png"/><Relationship Id="rId5" Type="http://schemas.openxmlformats.org/officeDocument/2006/relationships/image" Target="../media/panel33.svg"/><Relationship Id="rId6" Type="http://schemas.openxmlformats.org/officeDocument/2006/relationships/image" Target="../media/image27.png"/><Relationship Id="rId7" Type="http://schemas.openxmlformats.org/officeDocument/2006/relationships/image" Target="../media/panel34.sv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panel35.svg"/><Relationship Id="rId4" Type="http://schemas.openxmlformats.org/officeDocument/2006/relationships/image" Target="../media/image26.png"/><Relationship Id="rId5" Type="http://schemas.openxmlformats.org/officeDocument/2006/relationships/image" Target="../media/panel36.svg"/><Relationship Id="rId6" Type="http://schemas.openxmlformats.org/officeDocument/2006/relationships/image" Target="../media/image29.png"/><Relationship Id="rId7" Type="http://schemas.openxmlformats.org/officeDocument/2006/relationships/image" Target="../media/panel37.sv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panel38.svg"/><Relationship Id="rId4" Type="http://schemas.openxmlformats.org/officeDocument/2006/relationships/image" Target="../media/image26.png"/><Relationship Id="rId5" Type="http://schemas.openxmlformats.org/officeDocument/2006/relationships/image" Target="../media/panel39.svg"/><Relationship Id="rId6" Type="http://schemas.openxmlformats.org/officeDocument/2006/relationships/image" Target="../media/image31.png"/><Relationship Id="rId7" Type="http://schemas.openxmlformats.org/officeDocument/2006/relationships/image" Target="../media/panel40.svg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panel41.svg"/><Relationship Id="rId4" Type="http://schemas.openxmlformats.org/officeDocument/2006/relationships/image" Target="../media/image33.png"/><Relationship Id="rId5" Type="http://schemas.openxmlformats.org/officeDocument/2006/relationships/image" Target="../media/panel42.sv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panel43.sv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panel44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1_panel_01" descr="new_01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47192" y="1536191"/>
            <a:ext cx="7280655" cy="5278120"/>
          </a:xfrm>
          <a:prstGeom prst="rect">
            <a:avLst/>
          </a:prstGeom>
        </p:spPr>
      </p:pic>
      <p:sp>
        <p:nvSpPr>
          <p:cNvPr id="3" name="title | iNKT cytotoxicity and Gene Ontology"/>
          <p:cNvSpPr txBox="1"/>
          <p:nvPr/>
        </p:nvSpPr>
        <p:spPr>
          <a:xfrm>
            <a:off x="512064" y="361187"/>
            <a:ext cx="6406652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iNKT cytotoxicity and Gene Ontology</a:t>
            </a:r>
          </a:p>
        </p:txBody>
      </p:sp>
      <p:sp>
        <p:nvSpPr>
          <p:cNvPr id="4" name="figure_text | Paper-guided analysis on the latest local data | 19 September 202"/>
          <p:cNvSpPr txBox="1"/>
          <p:nvPr/>
        </p:nvSpPr>
        <p:spPr>
          <a:xfrm>
            <a:off x="512064" y="813816"/>
            <a:ext cx="5495498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Paper-guided analysis on the latest local data | 19 September 2026</a:t>
            </a:r>
          </a:p>
        </p:txBody>
      </p:sp>
      <p:sp>
        <p:nvSpPr>
          <p:cNvPr id="5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6" name="figure_text | Huang et al. 2024, PAGER-scFGA, Fig. 5; doi:10.3389/fbinf.2024.13"/>
          <p:cNvSpPr txBox="1"/>
          <p:nvPr/>
        </p:nvSpPr>
        <p:spPr>
          <a:xfrm>
            <a:off x="512064" y="7931505"/>
            <a:ext cx="861960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doi:10.3389/fbinf.2024.1336135; Borra et al. 2026, GAFA, Sec. 3.5 / Fig. 4c; doi:10.3390/biology15070588</a:t>
            </a:r>
          </a:p>
        </p:txBody>
      </p:sp>
      <p:sp>
        <p:nvSpPr>
          <p:cNvPr id="7" name="page_number | 1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8" name="figure_text | 15,532 cells | 10,670 measured genes"/>
          <p:cNvSpPr txBox="1"/>
          <p:nvPr/>
        </p:nvSpPr>
        <p:spPr>
          <a:xfrm>
            <a:off x="8778240" y="1947220"/>
            <a:ext cx="5370088" cy="3144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0000"/>
                </a:solidFill>
                <a:latin typeface="Arial"/>
              </a:rPr>
              <a:t>15,532 cells | 10,670 measured genes</a:t>
            </a:r>
          </a:p>
        </p:txBody>
      </p:sp>
      <p:sp>
        <p:nvSpPr>
          <p:cNvPr id="9" name="figure_text | 3 tissues | Ctrl and T2 | 9 refined clusters"/>
          <p:cNvSpPr txBox="1"/>
          <p:nvPr/>
        </p:nvSpPr>
        <p:spPr>
          <a:xfrm>
            <a:off x="8778240" y="2889504"/>
            <a:ext cx="4215098" cy="265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3 tissues | Ctrl and T2 | 9 refined clusters</a:t>
            </a:r>
          </a:p>
        </p:txBody>
      </p:sp>
      <p:sp>
        <p:nvSpPr>
          <p:cNvPr id="10" name="figure_text | PAGER: gene modules and temporal profiles  GAFA: cluster-specific"/>
          <p:cNvSpPr txBox="1"/>
          <p:nvPr/>
        </p:nvSpPr>
        <p:spPr>
          <a:xfrm>
            <a:off x="8778240" y="2495296"/>
            <a:ext cx="4800988" cy="17800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PAGER: gene modules and temporal profiles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GAFA: cluster-specific GO enrichment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Primary contrasts: tissue x original cluster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Sensitivity: stable tissue reclustering + QC 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Editable numerical / explanatory table"/>
          <p:cNvGraphicFramePr>
            <a:graphicFrameLocks noGrp="1"/>
          </p:cNvGraphicFramePr>
          <p:nvPr/>
        </p:nvGraphicFramePr>
        <p:xfrm>
          <a:off x="585216" y="1728215"/>
          <a:ext cx="1345996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995"/>
                <a:gridCol w="2018995"/>
                <a:gridCol w="4441789"/>
                <a:gridCol w="4980188"/>
              </a:tblGrid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Analysis</a:t>
                      </a:r>
                    </a:p>
                  </a:txBody>
                  <a:tcPr marL="54864" marR="36576" marT="22860" marB="22860" anchor="ctr">
                    <a:solidFill>
                      <a:srgbClr val="EEF1F4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54864" marR="36576" marT="22860" marB="22860" anchor="ctr">
                    <a:solidFill>
                      <a:srgbClr val="EEF1F4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Input / definition</a:t>
                      </a:r>
                    </a:p>
                  </a:txBody>
                  <a:tcPr marL="54864" marR="36576" marT="22860" marB="22860" anchor="ctr">
                    <a:solidFill>
                      <a:srgbClr val="EEF1F4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Implementation</a:t>
                      </a:r>
                    </a:p>
                  </a:txBody>
                  <a:tcPr marL="54864" marR="36576" marT="22860" marB="22860" anchor="ctr">
                    <a:solidFill>
                      <a:srgbClr val="EEF1F4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Cytotoxicity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PAGER Fig. 5C/D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Core: Prf1, Gzma, Gzmb; E1: +Ctla2a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Mean log1p expression; matched-control score sensitivity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GO cluster identity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GAFA Fig. 4c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Cluster vs rest within each tissue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Wilcoxon, gene BH &lt;= .05 and log2FC &gt;= .25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GO treatment response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GAFA functional comparison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T2-up and Ctrl-up genes tested separately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Hypergeometric; full eligible GO BP/MF/CC families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Local trajectories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PAGER Fig. 5D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Recompute diffusion map on tissue-specific graphs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Precursor-rooted DPT; 20 shared bins; 3-root sensitivity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Robustness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Adaptation to this dataset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Stable clusters; five QC-matched resamples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Effects and direction consistency; no animal replication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itle | Analysis design and reference mapping"/>
          <p:cNvSpPr txBox="1"/>
          <p:nvPr/>
        </p:nvSpPr>
        <p:spPr>
          <a:xfrm>
            <a:off x="512064" y="361187"/>
            <a:ext cx="6901159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Analysis design and reference mapping</a:t>
            </a:r>
          </a:p>
        </p:txBody>
      </p:sp>
      <p:sp>
        <p:nvSpPr>
          <p:cNvPr id="4" name="figure_text | Methods adapted to mouse iNKT; biological conclusions are derived"/>
          <p:cNvSpPr txBox="1"/>
          <p:nvPr/>
        </p:nvSpPr>
        <p:spPr>
          <a:xfrm>
            <a:off x="512064" y="813816"/>
            <a:ext cx="688199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Methods adapted to mouse iNKT; biological conclusions are derived from these data.</a:t>
            </a:r>
          </a:p>
        </p:txBody>
      </p:sp>
      <p:sp>
        <p:nvSpPr>
          <p:cNvPr id="5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6" name="figure_text | Huang et al. 2024, PAGER-scFGA, Fig. 5; doi:10.3389/fbinf.2024.13"/>
          <p:cNvSpPr txBox="1"/>
          <p:nvPr/>
        </p:nvSpPr>
        <p:spPr>
          <a:xfrm>
            <a:off x="512064" y="7931505"/>
            <a:ext cx="861960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doi:10.3389/fbinf.2024.1336135; Borra et al. 2026, GAFA, Sec. 3.5 / Fig. 4c; doi:10.3390/biology15070588</a:t>
            </a:r>
          </a:p>
        </p:txBody>
      </p:sp>
      <p:sp>
        <p:nvSpPr>
          <p:cNvPr id="7" name="page_number | 2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" name="figure_text | GO uses official mouse annotations. An enrichment of upregulated "/>
          <p:cNvSpPr txBox="1"/>
          <p:nvPr/>
        </p:nvSpPr>
        <p:spPr>
          <a:xfrm>
            <a:off x="731520" y="6867144"/>
            <a:ext cx="8843825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GO uses official mouse annotations. An enrichment of upregulated genes does not prove pathway activation.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3_panel_01" descr="new_03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83224" y="1700784"/>
            <a:ext cx="6366799" cy="4883433"/>
          </a:xfrm>
          <a:prstGeom prst="rect">
            <a:avLst/>
          </a:prstGeom>
        </p:spPr>
      </p:pic>
      <p:pic>
        <p:nvPicPr>
          <p:cNvPr id="3" name="plot_panel | new_03_panel_02" descr="new_0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8222996" y="1700784"/>
            <a:ext cx="4992278" cy="5101238"/>
          </a:xfrm>
          <a:prstGeom prst="rect">
            <a:avLst/>
          </a:prstGeom>
        </p:spPr>
      </p:pic>
      <p:pic>
        <p:nvPicPr>
          <p:cNvPr id="4" name="plot_panel | new_03_panel_03" descr="new_03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13273796" y="2417673"/>
            <a:ext cx="503671" cy="3308415"/>
          </a:xfrm>
          <a:prstGeom prst="rect">
            <a:avLst/>
          </a:prstGeom>
        </p:spPr>
      </p:pic>
      <p:sp>
        <p:nvSpPr>
          <p:cNvPr id="5" name="title | Cytotoxic gene coverage and scoring"/>
          <p:cNvSpPr txBox="1"/>
          <p:nvPr/>
        </p:nvSpPr>
        <p:spPr>
          <a:xfrm>
            <a:off x="512064" y="361187"/>
            <a:ext cx="645420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Cytotoxic gene coverage and scoring</a:t>
            </a:r>
          </a:p>
        </p:txBody>
      </p:sp>
      <p:sp>
        <p:nvSpPr>
          <p:cNvPr id="6" name="figure_text | Primary endpoint: mean log-normalized expression of Prf1 / Gzma /"/>
          <p:cNvSpPr txBox="1"/>
          <p:nvPr/>
        </p:nvSpPr>
        <p:spPr>
          <a:xfrm>
            <a:off x="512064" y="813816"/>
            <a:ext cx="605910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Primary endpoint: mean log-normalized expression of Prf1 / Gzma / Gzmb.</a:t>
            </a:r>
          </a:p>
        </p:txBody>
      </p:sp>
      <p:sp>
        <p:nvSpPr>
          <p:cNvPr id="7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8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9" name="page_number | 3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0" name="plot_title | A  Measured marker coverage"/>
          <p:cNvSpPr txBox="1"/>
          <p:nvPr/>
        </p:nvSpPr>
        <p:spPr>
          <a:xfrm>
            <a:off x="1170432" y="1514855"/>
            <a:ext cx="2630980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Measured marker coverage</a:t>
            </a:r>
          </a:p>
        </p:txBody>
      </p:sp>
      <p:sp>
        <p:nvSpPr>
          <p:cNvPr id="11" name="plot_title | B  Sample-level mean expression"/>
          <p:cNvSpPr txBox="1"/>
          <p:nvPr/>
        </p:nvSpPr>
        <p:spPr>
          <a:xfrm>
            <a:off x="8924544" y="1514855"/>
            <a:ext cx="3258921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B  Sample-level mean expression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4_panel_01" descr="new_04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57783" y="1618487"/>
            <a:ext cx="3803172" cy="2688336"/>
          </a:xfrm>
          <a:prstGeom prst="rect">
            <a:avLst/>
          </a:prstGeom>
        </p:spPr>
      </p:pic>
      <p:pic>
        <p:nvPicPr>
          <p:cNvPr id="3" name="plot_panel | new_04_panel_02" descr="new_04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510918" y="1618487"/>
            <a:ext cx="558901" cy="2767090"/>
          </a:xfrm>
          <a:prstGeom prst="rect">
            <a:avLst/>
          </a:prstGeom>
        </p:spPr>
      </p:pic>
      <p:pic>
        <p:nvPicPr>
          <p:cNvPr id="4" name="plot_panel | new_04_panel_03" descr="new_04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424932" y="1618487"/>
            <a:ext cx="3529970" cy="5287727"/>
          </a:xfrm>
          <a:prstGeom prst="rect">
            <a:avLst/>
          </a:prstGeom>
        </p:spPr>
      </p:pic>
      <p:pic>
        <p:nvPicPr>
          <p:cNvPr id="5" name="plot_panel | new_04_panel_04" descr="new_04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9028785" y="2395727"/>
            <a:ext cx="712150" cy="3352306"/>
          </a:xfrm>
          <a:prstGeom prst="rect">
            <a:avLst/>
          </a:prstGeom>
        </p:spPr>
      </p:pic>
      <p:pic>
        <p:nvPicPr>
          <p:cNvPr id="6" name="plot_panel | new_04_panel_05" descr="new_04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10408412" y="1865375"/>
            <a:ext cx="3517899" cy="4756439"/>
          </a:xfrm>
          <a:prstGeom prst="rect">
            <a:avLst/>
          </a:prstGeom>
        </p:spPr>
      </p:pic>
      <p:sp>
        <p:nvSpPr>
          <p:cNvPr id="7" name="title | Bone marrow: cytotoxic expression and condition effects"/>
          <p:cNvSpPr txBox="1"/>
          <p:nvPr/>
        </p:nvSpPr>
        <p:spPr>
          <a:xfrm>
            <a:off x="512064" y="361187"/>
            <a:ext cx="988722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Bone marrow: cytotoxic expression and condition effects</a:t>
            </a:r>
          </a:p>
        </p:txBody>
      </p:sp>
      <p:sp>
        <p:nvSpPr>
          <p:cNvPr id="8" name="figure_text | Original refined clusters; T2 - Ctrl within the same tissue and c"/>
          <p:cNvSpPr txBox="1"/>
          <p:nvPr/>
        </p:nvSpPr>
        <p:spPr>
          <a:xfrm>
            <a:off x="512064" y="813816"/>
            <a:ext cx="562789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Original refined clusters; T2 - Ctrl within the same tissue and cluster.</a:t>
            </a:r>
          </a:p>
        </p:txBody>
      </p:sp>
      <p:sp>
        <p:nvSpPr>
          <p:cNvPr id="9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10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11" name="page_number | 4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2" name="figure_text | Dot area: fraction of cells expressing gene"/>
          <p:cNvSpPr txBox="1"/>
          <p:nvPr/>
        </p:nvSpPr>
        <p:spPr>
          <a:xfrm>
            <a:off x="5925312" y="7132320"/>
            <a:ext cx="2690416" cy="2011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Dot area: fraction of cells expressing gene</a:t>
            </a:r>
          </a:p>
        </p:txBody>
      </p:sp>
      <p:sp>
        <p:nvSpPr>
          <p:cNvPr id="13" name="figure_text | Core = mean log1p(Prf1, Gzma, Gzmb) * Global BH q &lt;= 0.05 across "/>
          <p:cNvSpPr txBox="1"/>
          <p:nvPr/>
        </p:nvSpPr>
        <p:spPr>
          <a:xfrm>
            <a:off x="658368" y="5116830"/>
            <a:ext cx="2885663" cy="8351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Core = mean log1p(Prf1, Gzma, Gzmb)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* Global BH q &lt;= 0.05 across tested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  modules, tissues and cluster definitions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NA: fewer than 20 cells in either condition</a:t>
            </a:r>
          </a:p>
        </p:txBody>
      </p:sp>
      <p:sp>
        <p:nvSpPr>
          <p:cNvPr id="14" name="plot_title | A  Cytotoxic core expression"/>
          <p:cNvSpPr txBox="1"/>
          <p:nvPr/>
        </p:nvSpPr>
        <p:spPr>
          <a:xfrm>
            <a:off x="585216" y="1432560"/>
            <a:ext cx="2501409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Cytotoxic core expression</a:t>
            </a:r>
          </a:p>
        </p:txBody>
      </p:sp>
      <p:sp>
        <p:nvSpPr>
          <p:cNvPr id="15" name="plot_title | B  Gene expression"/>
          <p:cNvSpPr txBox="1"/>
          <p:nvPr/>
        </p:nvSpPr>
        <p:spPr>
          <a:xfrm>
            <a:off x="5998464" y="1432560"/>
            <a:ext cx="1711653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Gene expression</a:t>
            </a:r>
          </a:p>
        </p:txBody>
      </p:sp>
      <p:sp>
        <p:nvSpPr>
          <p:cNvPr id="16" name="plot_title | C  Core expression difference"/>
          <p:cNvSpPr txBox="1"/>
          <p:nvPr/>
        </p:nvSpPr>
        <p:spPr>
          <a:xfrm>
            <a:off x="10826496" y="1679448"/>
            <a:ext cx="2569612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  Core expression difference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5_panel_01" descr="new_05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57784" y="1618487"/>
            <a:ext cx="3803172" cy="2688336"/>
          </a:xfrm>
          <a:prstGeom prst="rect">
            <a:avLst/>
          </a:prstGeom>
        </p:spPr>
      </p:pic>
      <p:pic>
        <p:nvPicPr>
          <p:cNvPr id="3" name="plot_panel | new_05_panel_02" descr="new_04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510918" y="1618487"/>
            <a:ext cx="558901" cy="2767090"/>
          </a:xfrm>
          <a:prstGeom prst="rect">
            <a:avLst/>
          </a:prstGeom>
        </p:spPr>
      </p:pic>
      <p:pic>
        <p:nvPicPr>
          <p:cNvPr id="4" name="plot_panel | new_05_panel_03" descr="new_05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424932" y="1618487"/>
            <a:ext cx="3529970" cy="5287727"/>
          </a:xfrm>
          <a:prstGeom prst="rect">
            <a:avLst/>
          </a:prstGeom>
        </p:spPr>
      </p:pic>
      <p:pic>
        <p:nvPicPr>
          <p:cNvPr id="5" name="plot_panel | new_05_panel_04" descr="new_05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9028785" y="2395727"/>
            <a:ext cx="712150" cy="3352306"/>
          </a:xfrm>
          <a:prstGeom prst="rect">
            <a:avLst/>
          </a:prstGeom>
        </p:spPr>
      </p:pic>
      <p:pic>
        <p:nvPicPr>
          <p:cNvPr id="6" name="plot_panel | new_05_panel_05" descr="new_05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10408412" y="1865376"/>
            <a:ext cx="3517899" cy="4756439"/>
          </a:xfrm>
          <a:prstGeom prst="rect">
            <a:avLst/>
          </a:prstGeom>
        </p:spPr>
      </p:pic>
      <p:sp>
        <p:nvSpPr>
          <p:cNvPr id="7" name="title | Spleen: cytotoxic expression and condition effects"/>
          <p:cNvSpPr txBox="1"/>
          <p:nvPr/>
        </p:nvSpPr>
        <p:spPr>
          <a:xfrm>
            <a:off x="512064" y="361187"/>
            <a:ext cx="8774582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Spleen: cytotoxic expression and condition effects</a:t>
            </a:r>
          </a:p>
        </p:txBody>
      </p:sp>
      <p:sp>
        <p:nvSpPr>
          <p:cNvPr id="8" name="figure_text | Original refined clusters; T2 - Ctrl within the same tissue and c"/>
          <p:cNvSpPr txBox="1"/>
          <p:nvPr/>
        </p:nvSpPr>
        <p:spPr>
          <a:xfrm>
            <a:off x="512064" y="813816"/>
            <a:ext cx="562789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Original refined clusters; T2 - Ctrl within the same tissue and cluster.</a:t>
            </a:r>
          </a:p>
        </p:txBody>
      </p:sp>
      <p:sp>
        <p:nvSpPr>
          <p:cNvPr id="9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10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11" name="page_number | 5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2" name="figure_text | Dot area: fraction of cells expressing gene"/>
          <p:cNvSpPr txBox="1"/>
          <p:nvPr/>
        </p:nvSpPr>
        <p:spPr>
          <a:xfrm>
            <a:off x="5925312" y="7132320"/>
            <a:ext cx="2690416" cy="2011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Dot area: fraction of cells expressing gene</a:t>
            </a:r>
          </a:p>
        </p:txBody>
      </p:sp>
      <p:sp>
        <p:nvSpPr>
          <p:cNvPr id="13" name="figure_text | Core = mean log1p(Prf1, Gzma, Gzmb) * Global BH q &lt;= 0.05 across "/>
          <p:cNvSpPr txBox="1"/>
          <p:nvPr/>
        </p:nvSpPr>
        <p:spPr>
          <a:xfrm>
            <a:off x="658368" y="5116830"/>
            <a:ext cx="2885663" cy="8351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Core = mean log1p(Prf1, Gzma, Gzmb)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* Global BH q &lt;= 0.05 across tested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  modules, tissues and cluster definitions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NA: fewer than 20 cells in either condition</a:t>
            </a:r>
          </a:p>
        </p:txBody>
      </p:sp>
      <p:sp>
        <p:nvSpPr>
          <p:cNvPr id="14" name="plot_title | A  Cytotoxic core expression"/>
          <p:cNvSpPr txBox="1"/>
          <p:nvPr/>
        </p:nvSpPr>
        <p:spPr>
          <a:xfrm>
            <a:off x="585216" y="1432560"/>
            <a:ext cx="2501409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Cytotoxic core expression</a:t>
            </a:r>
          </a:p>
        </p:txBody>
      </p:sp>
      <p:sp>
        <p:nvSpPr>
          <p:cNvPr id="15" name="plot_title | B  Gene expression"/>
          <p:cNvSpPr txBox="1"/>
          <p:nvPr/>
        </p:nvSpPr>
        <p:spPr>
          <a:xfrm>
            <a:off x="5998464" y="1432560"/>
            <a:ext cx="1711653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Gene expression</a:t>
            </a:r>
          </a:p>
        </p:txBody>
      </p:sp>
      <p:sp>
        <p:nvSpPr>
          <p:cNvPr id="16" name="plot_title | C  Core expression difference"/>
          <p:cNvSpPr txBox="1"/>
          <p:nvPr/>
        </p:nvSpPr>
        <p:spPr>
          <a:xfrm>
            <a:off x="10826496" y="1679448"/>
            <a:ext cx="2569612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  Core expression difference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6_panel_01" descr="new_06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557784" y="1618487"/>
            <a:ext cx="3803172" cy="2688336"/>
          </a:xfrm>
          <a:prstGeom prst="rect">
            <a:avLst/>
          </a:prstGeom>
        </p:spPr>
      </p:pic>
      <p:pic>
        <p:nvPicPr>
          <p:cNvPr id="3" name="plot_panel | new_06_panel_02" descr="new_04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4510918" y="1618487"/>
            <a:ext cx="558901" cy="2767090"/>
          </a:xfrm>
          <a:prstGeom prst="rect">
            <a:avLst/>
          </a:prstGeom>
        </p:spPr>
      </p:pic>
      <p:pic>
        <p:nvPicPr>
          <p:cNvPr id="4" name="plot_panel | new_06_panel_03" descr="new_06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5424932" y="1577340"/>
            <a:ext cx="3529970" cy="5328875"/>
          </a:xfrm>
          <a:prstGeom prst="rect">
            <a:avLst/>
          </a:prstGeom>
        </p:spPr>
      </p:pic>
      <p:pic>
        <p:nvPicPr>
          <p:cNvPr id="5" name="plot_panel | new_06_panel_04" descr="new_06_panel_04.png"/>
          <p:cNvPicPr>
            <a:picLocks noChangeAspect="1"/>
          </p:cNvPicPr>
          <p:nvPr/>
        </p:nvPicPr>
        <p:blipFill>
          <a:blip r:embed="rId8">
            <a:extLst xmlns:asvg="http://schemas.microsoft.com/office/drawing/2016/SVG/main"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>
            <a:off x="9028785" y="2395727"/>
            <a:ext cx="712150" cy="3352306"/>
          </a:xfrm>
          <a:prstGeom prst="rect">
            <a:avLst/>
          </a:prstGeom>
        </p:spPr>
      </p:pic>
      <p:pic>
        <p:nvPicPr>
          <p:cNvPr id="6" name="plot_panel | new_06_panel_05" descr="new_06_panel_05.png"/>
          <p:cNvPicPr>
            <a:picLocks noChangeAspect="1"/>
          </p:cNvPicPr>
          <p:nvPr/>
        </p:nvPicPr>
        <p:blipFill>
          <a:blip r:embed="rId10">
            <a:extLst xmlns:asvg="http://schemas.microsoft.com/office/drawing/2016/SVG/main"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>
            <a:off x="10408412" y="1865376"/>
            <a:ext cx="3517899" cy="4756439"/>
          </a:xfrm>
          <a:prstGeom prst="rect">
            <a:avLst/>
          </a:prstGeom>
        </p:spPr>
      </p:pic>
      <p:sp>
        <p:nvSpPr>
          <p:cNvPr id="7" name="title | Thymus: cytotoxic expression and condition effects"/>
          <p:cNvSpPr txBox="1"/>
          <p:nvPr/>
        </p:nvSpPr>
        <p:spPr>
          <a:xfrm>
            <a:off x="512064" y="361187"/>
            <a:ext cx="8936248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Thymus: cytotoxic expression and condition effects</a:t>
            </a:r>
          </a:p>
        </p:txBody>
      </p:sp>
      <p:sp>
        <p:nvSpPr>
          <p:cNvPr id="8" name="figure_text | Original refined clusters; T2 - Ctrl within the same tissue and c"/>
          <p:cNvSpPr txBox="1"/>
          <p:nvPr/>
        </p:nvSpPr>
        <p:spPr>
          <a:xfrm>
            <a:off x="512064" y="813816"/>
            <a:ext cx="5627891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Original refined clusters; T2 - Ctrl within the same tissue and cluster.</a:t>
            </a:r>
          </a:p>
        </p:txBody>
      </p:sp>
      <p:sp>
        <p:nvSpPr>
          <p:cNvPr id="9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10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11" name="page_number | 6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2" name="figure_text | Dot area: fraction of cells expressing gene"/>
          <p:cNvSpPr txBox="1"/>
          <p:nvPr/>
        </p:nvSpPr>
        <p:spPr>
          <a:xfrm>
            <a:off x="5925312" y="7132320"/>
            <a:ext cx="2690416" cy="2011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Dot area: fraction of cells expressing gene</a:t>
            </a:r>
          </a:p>
        </p:txBody>
      </p:sp>
      <p:sp>
        <p:nvSpPr>
          <p:cNvPr id="13" name="figure_text | Core = mean log1p(Prf1, Gzma, Gzmb) * Global BH q &lt;= 0.05 across "/>
          <p:cNvSpPr txBox="1"/>
          <p:nvPr/>
        </p:nvSpPr>
        <p:spPr>
          <a:xfrm>
            <a:off x="658368" y="5116830"/>
            <a:ext cx="2885663" cy="8351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Core = mean log1p(Prf1, Gzma, Gzmb)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* Global BH q &lt;= 0.05 across tested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  modules, tissues and cluster definitions</a:t>
            </a:r>
          </a:p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NA: fewer than 20 cells in either condition</a:t>
            </a:r>
          </a:p>
        </p:txBody>
      </p:sp>
      <p:sp>
        <p:nvSpPr>
          <p:cNvPr id="14" name="plot_title | A  Cytotoxic core expression"/>
          <p:cNvSpPr txBox="1"/>
          <p:nvPr/>
        </p:nvSpPr>
        <p:spPr>
          <a:xfrm>
            <a:off x="585216" y="1432560"/>
            <a:ext cx="2501409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Cytotoxic core expression</a:t>
            </a:r>
          </a:p>
        </p:txBody>
      </p:sp>
      <p:sp>
        <p:nvSpPr>
          <p:cNvPr id="15" name="plot_title | B  Gene expression"/>
          <p:cNvSpPr txBox="1"/>
          <p:nvPr/>
        </p:nvSpPr>
        <p:spPr>
          <a:xfrm>
            <a:off x="5998464" y="1432560"/>
            <a:ext cx="1711653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Gene expression</a:t>
            </a:r>
          </a:p>
        </p:txBody>
      </p:sp>
      <p:sp>
        <p:nvSpPr>
          <p:cNvPr id="16" name="plot_title | C  Core expression difference"/>
          <p:cNvSpPr txBox="1"/>
          <p:nvPr/>
        </p:nvSpPr>
        <p:spPr>
          <a:xfrm>
            <a:off x="10826496" y="1679448"/>
            <a:ext cx="2569612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C  Core expression difference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7_panel_01" descr="new_07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476563" y="1536191"/>
            <a:ext cx="11431478" cy="5126228"/>
          </a:xfrm>
          <a:prstGeom prst="rect">
            <a:avLst/>
          </a:prstGeom>
        </p:spPr>
      </p:pic>
      <p:pic>
        <p:nvPicPr>
          <p:cNvPr id="3" name="plot_panel | new_07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Bone marrow: GO biological processes: cluster identity"/>
          <p:cNvSpPr txBox="1"/>
          <p:nvPr/>
        </p:nvSpPr>
        <p:spPr>
          <a:xfrm>
            <a:off x="512064" y="361187"/>
            <a:ext cx="9554382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Bone marrow: GO biological processes: cluster identity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7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8_panel_01" descr="new_08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604579" y="1536191"/>
            <a:ext cx="11303462" cy="5126228"/>
          </a:xfrm>
          <a:prstGeom prst="rect">
            <a:avLst/>
          </a:prstGeom>
        </p:spPr>
      </p:pic>
      <p:pic>
        <p:nvPicPr>
          <p:cNvPr id="3" name="plot_panel | new_08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Spleen: GO biological processes: cluster identity"/>
          <p:cNvSpPr txBox="1"/>
          <p:nvPr/>
        </p:nvSpPr>
        <p:spPr>
          <a:xfrm>
            <a:off x="512064" y="361187"/>
            <a:ext cx="844174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Spleen: GO biological processes: cluster identity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8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09_panel_01" descr="new_09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411984" y="1536191"/>
            <a:ext cx="11496058" cy="5126228"/>
          </a:xfrm>
          <a:prstGeom prst="rect">
            <a:avLst/>
          </a:prstGeom>
        </p:spPr>
      </p:pic>
      <p:pic>
        <p:nvPicPr>
          <p:cNvPr id="3" name="plot_panel | new_09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Thymus: GO biological processes: cluster identity"/>
          <p:cNvSpPr txBox="1"/>
          <p:nvPr/>
        </p:nvSpPr>
        <p:spPr>
          <a:xfrm>
            <a:off x="512064" y="361187"/>
            <a:ext cx="860340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Thymus: GO biological processes: cluster identity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9"/>
          <p:cNvSpPr txBox="1"/>
          <p:nvPr/>
        </p:nvSpPr>
        <p:spPr>
          <a:xfrm>
            <a:off x="14045184" y="7936104"/>
            <a:ext cx="149230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0_panel_01" descr="new_10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549429" y="1536191"/>
            <a:ext cx="11358612" cy="5546310"/>
          </a:xfrm>
          <a:prstGeom prst="rect">
            <a:avLst/>
          </a:prstGeom>
        </p:spPr>
      </p:pic>
      <p:pic>
        <p:nvPicPr>
          <p:cNvPr id="3" name="plot_panel | new_10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Bone marrow: GO biological processes: condition response"/>
          <p:cNvSpPr txBox="1"/>
          <p:nvPr/>
        </p:nvSpPr>
        <p:spPr>
          <a:xfrm>
            <a:off x="512064" y="361187"/>
            <a:ext cx="1021055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Bone marrow: GO biological processes: condition response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10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1_panel_01" descr="new_11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549429" y="1536191"/>
            <a:ext cx="11358612" cy="5546310"/>
          </a:xfrm>
          <a:prstGeom prst="rect">
            <a:avLst/>
          </a:prstGeom>
        </p:spPr>
      </p:pic>
      <p:pic>
        <p:nvPicPr>
          <p:cNvPr id="3" name="plot_panel | new_11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Spleen: GO biological processes: condition response"/>
          <p:cNvSpPr txBox="1"/>
          <p:nvPr/>
        </p:nvSpPr>
        <p:spPr>
          <a:xfrm>
            <a:off x="512064" y="361187"/>
            <a:ext cx="909791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Spleen: GO biological processes: condition response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11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2_panel_01" descr="new_12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2693447" y="1536191"/>
            <a:ext cx="11214594" cy="5441446"/>
          </a:xfrm>
          <a:prstGeom prst="rect">
            <a:avLst/>
          </a:prstGeom>
        </p:spPr>
      </p:pic>
      <p:pic>
        <p:nvPicPr>
          <p:cNvPr id="3" name="plot_panel | new_12_panel_02" descr="new_07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12232843" y="2160030"/>
            <a:ext cx="690204" cy="3693160"/>
          </a:xfrm>
          <a:prstGeom prst="rect">
            <a:avLst/>
          </a:prstGeom>
        </p:spPr>
      </p:pic>
      <p:sp>
        <p:nvSpPr>
          <p:cNvPr id="4" name="title | Thymus: GO biological processes: condition response"/>
          <p:cNvSpPr txBox="1"/>
          <p:nvPr/>
        </p:nvSpPr>
        <p:spPr>
          <a:xfrm>
            <a:off x="512064" y="361187"/>
            <a:ext cx="9259580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Thymus: GO biological processes: condition response</a:t>
            </a:r>
          </a:p>
        </p:txBody>
      </p:sp>
      <p:sp>
        <p:nvSpPr>
          <p:cNvPr id="5" name="figure_text | Within-tissue comparisons | dot area: query gene ratio | color: e"/>
          <p:cNvSpPr txBox="1"/>
          <p:nvPr/>
        </p:nvSpPr>
        <p:spPr>
          <a:xfrm>
            <a:off x="512064" y="813816"/>
            <a:ext cx="681542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Within-tissue comparisons | dot area: query gene ratio | color: enrichment evidence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1013328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Blank = no displayed significant term, not proof of absence.</a:t>
            </a:r>
          </a:p>
        </p:txBody>
      </p:sp>
      <p:sp>
        <p:nvSpPr>
          <p:cNvPr id="7" name="figure_text | Borra et al. 2026, GAFA, Sec. 3.5 / Fig. 4c; doi:10.3390/biology1"/>
          <p:cNvSpPr txBox="1"/>
          <p:nvPr/>
        </p:nvSpPr>
        <p:spPr>
          <a:xfrm>
            <a:off x="512064" y="7931505"/>
            <a:ext cx="429414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Borra et al. 2026, GAFA, Sec. 3.5 / Fig. 4c; doi:10.3390/biology15070588</a:t>
            </a:r>
          </a:p>
        </p:txBody>
      </p:sp>
      <p:sp>
        <p:nvSpPr>
          <p:cNvPr id="8" name="page_number | 12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9" name="figure_text | All BP/MF/CC tests retained. Only clusters with significant BP te"/>
          <p:cNvSpPr txBox="1"/>
          <p:nvPr/>
        </p:nvSpPr>
        <p:spPr>
          <a:xfrm>
            <a:off x="585216" y="7132320"/>
            <a:ext cx="8411428" cy="2042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9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All BP/MF/CC tests retained. Only clusters with significant BP terms shown; q &lt;= .05; &gt;=2 hits; overlap redundancy reduced.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3_panel_01" descr="new_13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04088" y="1865376"/>
            <a:ext cx="4581509" cy="4169663"/>
          </a:xfrm>
          <a:prstGeom prst="rect">
            <a:avLst/>
          </a:prstGeom>
        </p:spPr>
      </p:pic>
      <p:pic>
        <p:nvPicPr>
          <p:cNvPr id="3" name="plot_panel | new_13_panel_02" descr="new_1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5479450" y="1884796"/>
            <a:ext cx="543905" cy="4161332"/>
          </a:xfrm>
          <a:prstGeom prst="rect">
            <a:avLst/>
          </a:prstGeom>
        </p:spPr>
      </p:pic>
      <p:pic>
        <p:nvPicPr>
          <p:cNvPr id="4" name="plot_panel | new_13_panel_03" descr="new_13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937720" y="2029967"/>
            <a:ext cx="6842287" cy="4180367"/>
          </a:xfrm>
          <a:prstGeom prst="rect">
            <a:avLst/>
          </a:prstGeom>
        </p:spPr>
      </p:pic>
      <p:sp>
        <p:nvSpPr>
          <p:cNvPr id="5" name="title | Bone marrow: local cytotoxicity along pseudotime"/>
          <p:cNvSpPr txBox="1"/>
          <p:nvPr/>
        </p:nvSpPr>
        <p:spPr>
          <a:xfrm>
            <a:off x="512064" y="361187"/>
            <a:ext cx="8717523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Bone marrow: local cytotoxicity along pseudotime</a:t>
            </a:r>
          </a:p>
        </p:txBody>
      </p:sp>
      <p:sp>
        <p:nvSpPr>
          <p:cNvPr id="6" name="figure_text | PAGER-style functional curves on a newly computed within-tissue d"/>
          <p:cNvSpPr txBox="1"/>
          <p:nvPr/>
        </p:nvSpPr>
        <p:spPr>
          <a:xfrm>
            <a:off x="512064" y="813816"/>
            <a:ext cx="656802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PAGER-style functional curves on a newly computed within-tissue diffusion map.</a:t>
            </a:r>
          </a:p>
        </p:txBody>
      </p:sp>
      <p:sp>
        <p:nvSpPr>
          <p:cNvPr id="7" name="figure_text | Exploratory transcriptional results; one sample label per tissue "/>
          <p:cNvSpPr txBox="1"/>
          <p:nvPr/>
        </p:nvSpPr>
        <p:spPr>
          <a:xfrm>
            <a:off x="512064" y="7685531"/>
            <a:ext cx="1109436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Pseudotime is an assumed ordering, not RNA velocity or lineage validation.</a:t>
            </a:r>
          </a:p>
        </p:txBody>
      </p:sp>
      <p:sp>
        <p:nvSpPr>
          <p:cNvPr id="8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9" name="page_number | 13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10" name="figure_text | Root state: bone_marrow_S0; measured root markers: Egr2 / Hivep3 "/>
          <p:cNvSpPr txBox="1"/>
          <p:nvPr/>
        </p:nvSpPr>
        <p:spPr>
          <a:xfrm>
            <a:off x="877824" y="6695210"/>
            <a:ext cx="8865519" cy="4115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Root state: bone_marrow_S0; measured root markers: Egr2 / Hivep3 (Cd24a unavailable). Root sensitivity rho: 0.89, 0.76.</a:t>
            </a:r>
          </a:p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Analyzed 6,110/6,110 cells; only bins with &gt;=20 cells shown. Smooth lines are descriptive.</a:t>
            </a:r>
          </a:p>
        </p:txBody>
      </p:sp>
      <p:sp>
        <p:nvSpPr>
          <p:cNvPr id="11" name="plot_title | A  Local DPT on tissue UMAP"/>
          <p:cNvSpPr txBox="1"/>
          <p:nvPr/>
        </p:nvSpPr>
        <p:spPr>
          <a:xfrm>
            <a:off x="731520" y="1679448"/>
            <a:ext cx="2514188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Local DPT on tissue UMAP</a:t>
            </a:r>
          </a:p>
        </p:txBody>
      </p:sp>
      <p:sp>
        <p:nvSpPr>
          <p:cNvPr id="12" name="plot_title | B  Common 20-bin functional profiles"/>
          <p:cNvSpPr txBox="1"/>
          <p:nvPr/>
        </p:nvSpPr>
        <p:spPr>
          <a:xfrm>
            <a:off x="7461504" y="1844040"/>
            <a:ext cx="3236187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Common 20-bin functional profiles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4_panel_01" descr="new_14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04088" y="1865375"/>
            <a:ext cx="4581509" cy="4169664"/>
          </a:xfrm>
          <a:prstGeom prst="rect">
            <a:avLst/>
          </a:prstGeom>
        </p:spPr>
      </p:pic>
      <p:pic>
        <p:nvPicPr>
          <p:cNvPr id="3" name="plot_panel | new_14_panel_02" descr="new_1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5479450" y="1884796"/>
            <a:ext cx="543905" cy="4161332"/>
          </a:xfrm>
          <a:prstGeom prst="rect">
            <a:avLst/>
          </a:prstGeom>
        </p:spPr>
      </p:pic>
      <p:pic>
        <p:nvPicPr>
          <p:cNvPr id="4" name="plot_panel | new_14_panel_03" descr="new_14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937720" y="2029967"/>
            <a:ext cx="6842287" cy="4180367"/>
          </a:xfrm>
          <a:prstGeom prst="rect">
            <a:avLst/>
          </a:prstGeom>
        </p:spPr>
      </p:pic>
      <p:sp>
        <p:nvSpPr>
          <p:cNvPr id="5" name="title | Spleen: local cytotoxicity along pseudotime"/>
          <p:cNvSpPr txBox="1"/>
          <p:nvPr/>
        </p:nvSpPr>
        <p:spPr>
          <a:xfrm>
            <a:off x="512064" y="361187"/>
            <a:ext cx="7604881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Spleen: local cytotoxicity along pseudotime</a:t>
            </a:r>
          </a:p>
        </p:txBody>
      </p:sp>
      <p:sp>
        <p:nvSpPr>
          <p:cNvPr id="6" name="figure_text | PAGER-style functional curves on a newly computed within-tissue d"/>
          <p:cNvSpPr txBox="1"/>
          <p:nvPr/>
        </p:nvSpPr>
        <p:spPr>
          <a:xfrm>
            <a:off x="512064" y="813816"/>
            <a:ext cx="656802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PAGER-style functional curves on a newly computed within-tissue diffusion map.</a:t>
            </a:r>
          </a:p>
        </p:txBody>
      </p:sp>
      <p:sp>
        <p:nvSpPr>
          <p:cNvPr id="7" name="figure_text | Exploratory transcriptional results; one sample label per tissue "/>
          <p:cNvSpPr txBox="1"/>
          <p:nvPr/>
        </p:nvSpPr>
        <p:spPr>
          <a:xfrm>
            <a:off x="512064" y="7685531"/>
            <a:ext cx="1109436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Pseudotime is an assumed ordering, not RNA velocity or lineage validation.</a:t>
            </a:r>
          </a:p>
        </p:txBody>
      </p:sp>
      <p:sp>
        <p:nvSpPr>
          <p:cNvPr id="8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9" name="page_number | 14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10" name="figure_text | Root state: spleen_S0; measured root markers: Egr2 / Hivep3 (Cd24"/>
          <p:cNvSpPr txBox="1"/>
          <p:nvPr/>
        </p:nvSpPr>
        <p:spPr>
          <a:xfrm>
            <a:off x="877824" y="6695210"/>
            <a:ext cx="8367148" cy="4115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Root state: spleen_S0; measured root markers: Egr2 / Hivep3 (Cd24a unavailable). Root sensitivity rho: 0.97, 0.76.</a:t>
            </a:r>
          </a:p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Analyzed 6,793/6,793 cells; only bins with &gt;=20 cells shown. Smooth lines are descriptive.</a:t>
            </a:r>
          </a:p>
        </p:txBody>
      </p:sp>
      <p:sp>
        <p:nvSpPr>
          <p:cNvPr id="11" name="plot_title | A  Local DPT on tissue UMAP"/>
          <p:cNvSpPr txBox="1"/>
          <p:nvPr/>
        </p:nvSpPr>
        <p:spPr>
          <a:xfrm>
            <a:off x="731520" y="1679448"/>
            <a:ext cx="2514188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Local DPT on tissue UMAP</a:t>
            </a:r>
          </a:p>
        </p:txBody>
      </p:sp>
      <p:sp>
        <p:nvSpPr>
          <p:cNvPr id="12" name="plot_title | B  Common 20-bin functional profiles"/>
          <p:cNvSpPr txBox="1"/>
          <p:nvPr/>
        </p:nvSpPr>
        <p:spPr>
          <a:xfrm>
            <a:off x="7461504" y="1844040"/>
            <a:ext cx="3236187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Common 20-bin functional profiles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5_panel_01" descr="new_15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04088" y="1865375"/>
            <a:ext cx="4581509" cy="4169664"/>
          </a:xfrm>
          <a:prstGeom prst="rect">
            <a:avLst/>
          </a:prstGeom>
        </p:spPr>
      </p:pic>
      <p:pic>
        <p:nvPicPr>
          <p:cNvPr id="3" name="plot_panel | new_15_panel_02" descr="new_13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5479450" y="1884796"/>
            <a:ext cx="543905" cy="4161332"/>
          </a:xfrm>
          <a:prstGeom prst="rect">
            <a:avLst/>
          </a:prstGeom>
        </p:spPr>
      </p:pic>
      <p:pic>
        <p:nvPicPr>
          <p:cNvPr id="4" name="plot_panel | new_15_panel_03" descr="new_15_panel_03.png"/>
          <p:cNvPicPr>
            <a:picLocks noChangeAspect="1"/>
          </p:cNvPicPr>
          <p:nvPr/>
        </p:nvPicPr>
        <p:blipFill>
          <a:blip r:embed="rId6">
            <a:extLst xmlns:asvg="http://schemas.microsoft.com/office/drawing/2016/SVG/main"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>
            <a:off x="6937720" y="2029967"/>
            <a:ext cx="6867030" cy="4180367"/>
          </a:xfrm>
          <a:prstGeom prst="rect">
            <a:avLst/>
          </a:prstGeom>
        </p:spPr>
      </p:pic>
      <p:sp>
        <p:nvSpPr>
          <p:cNvPr id="5" name="title | Thymus: local cytotoxicity along pseudotime"/>
          <p:cNvSpPr txBox="1"/>
          <p:nvPr/>
        </p:nvSpPr>
        <p:spPr>
          <a:xfrm>
            <a:off x="512064" y="361187"/>
            <a:ext cx="7766547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Thymus: local cytotoxicity along pseudotime</a:t>
            </a:r>
          </a:p>
        </p:txBody>
      </p:sp>
      <p:sp>
        <p:nvSpPr>
          <p:cNvPr id="6" name="figure_text | PAGER-style functional curves on a newly computed within-tissue d"/>
          <p:cNvSpPr txBox="1"/>
          <p:nvPr/>
        </p:nvSpPr>
        <p:spPr>
          <a:xfrm>
            <a:off x="512064" y="813816"/>
            <a:ext cx="6568020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PAGER-style functional curves on a newly computed within-tissue diffusion map.</a:t>
            </a:r>
          </a:p>
        </p:txBody>
      </p:sp>
      <p:sp>
        <p:nvSpPr>
          <p:cNvPr id="7" name="figure_text | Exploratory transcriptional results; one sample label per tissue "/>
          <p:cNvSpPr txBox="1"/>
          <p:nvPr/>
        </p:nvSpPr>
        <p:spPr>
          <a:xfrm>
            <a:off x="512064" y="7685531"/>
            <a:ext cx="11094369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 Pseudotime is an assumed ordering, not RNA velocity or lineage validation.</a:t>
            </a:r>
          </a:p>
        </p:txBody>
      </p:sp>
      <p:sp>
        <p:nvSpPr>
          <p:cNvPr id="8" name="figure_text | Huang et al. 2024, PAGER-scFGA, Fig. 5; doi:10.3389/fbinf.2024.13"/>
          <p:cNvSpPr txBox="1"/>
          <p:nvPr/>
        </p:nvSpPr>
        <p:spPr>
          <a:xfrm>
            <a:off x="512064" y="7931505"/>
            <a:ext cx="4322528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</a:t>
            </a:r>
          </a:p>
        </p:txBody>
      </p:sp>
      <p:sp>
        <p:nvSpPr>
          <p:cNvPr id="9" name="page_number | 15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0" name="figure_text | Root state: thymus_S5; measured root markers: Egr2 / Hivep3 (Cd24"/>
          <p:cNvSpPr txBox="1"/>
          <p:nvPr/>
        </p:nvSpPr>
        <p:spPr>
          <a:xfrm>
            <a:off x="877824" y="6695210"/>
            <a:ext cx="8443226" cy="4115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Root state: thymus_S5; measured root markers: Egr2 / Hivep3 (Cd24a unavailable). Root sensitivity rho: 1.00, 1.00.</a:t>
            </a:r>
          </a:p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Analyzed 2,629/2,629 cells; only bins with &gt;=20 cells shown. Smooth lines are descriptive.</a:t>
            </a:r>
          </a:p>
        </p:txBody>
      </p:sp>
      <p:sp>
        <p:nvSpPr>
          <p:cNvPr id="11" name="plot_title | A  Local DPT on tissue UMAP"/>
          <p:cNvSpPr txBox="1"/>
          <p:nvPr/>
        </p:nvSpPr>
        <p:spPr>
          <a:xfrm>
            <a:off x="731520" y="1679448"/>
            <a:ext cx="2514188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 Local DPT on tissue UMAP</a:t>
            </a:r>
          </a:p>
        </p:txBody>
      </p:sp>
      <p:sp>
        <p:nvSpPr>
          <p:cNvPr id="12" name="plot_title | B  Common 20-bin functional profiles"/>
          <p:cNvSpPr txBox="1"/>
          <p:nvPr/>
        </p:nvSpPr>
        <p:spPr>
          <a:xfrm>
            <a:off x="7461504" y="1844040"/>
            <a:ext cx="3236187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B  Common 20-bin functional profiles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6_panel_01" descr="new_16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852931" y="1947672"/>
            <a:ext cx="5450941" cy="3373022"/>
          </a:xfrm>
          <a:prstGeom prst="rect">
            <a:avLst/>
          </a:prstGeom>
        </p:spPr>
      </p:pic>
      <p:pic>
        <p:nvPicPr>
          <p:cNvPr id="3" name="plot_panel | new_16_panel_02" descr="new_16_panel_02.png"/>
          <p:cNvPicPr>
            <a:picLocks noChangeAspect="1"/>
          </p:cNvPicPr>
          <p:nvPr/>
        </p:nvPicPr>
        <p:blipFill>
          <a:blip r:embed="rId4">
            <a:extLst xmlns:asvg="http://schemas.microsoft.com/office/drawing/2016/SVG/main"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6377025" y="1947672"/>
            <a:ext cx="680973" cy="2935224"/>
          </a:xfrm>
          <a:prstGeom prst="rect">
            <a:avLst/>
          </a:prstGeom>
        </p:spPr>
      </p:pic>
      <p:sp>
        <p:nvSpPr>
          <p:cNvPr id="4" name="title | Core signature changes do not imply a full killing pathway"/>
          <p:cNvSpPr txBox="1"/>
          <p:nvPr/>
        </p:nvSpPr>
        <p:spPr>
          <a:xfrm>
            <a:off x="512064" y="361187"/>
            <a:ext cx="10134626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Core signature changes do not imply a full killing pathway</a:t>
            </a:r>
          </a:p>
        </p:txBody>
      </p:sp>
      <p:sp>
        <p:nvSpPr>
          <p:cNvPr id="5" name="figure_text | Two reproducible local core signals; the broader E1 signature is "/>
          <p:cNvSpPr txBox="1"/>
          <p:nvPr/>
        </p:nvSpPr>
        <p:spPr>
          <a:xfrm>
            <a:off x="512064" y="813816"/>
            <a:ext cx="6401302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Two reproducible local core signals; the broader E1 signature is not significant.</a:t>
            </a:r>
          </a:p>
        </p:txBody>
      </p:sp>
      <p:sp>
        <p:nvSpPr>
          <p:cNvPr id="6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7" name="figure_text | Huang et al. 2024, PAGER-scFGA, Fig. 5; doi:10.3389/fbinf.2024.13"/>
          <p:cNvSpPr txBox="1"/>
          <p:nvPr/>
        </p:nvSpPr>
        <p:spPr>
          <a:xfrm>
            <a:off x="512064" y="7931505"/>
            <a:ext cx="861960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doi:10.3389/fbinf.2024.1336135; Borra et al. 2026, GAFA, Sec. 3.5 / Fig. 4c; doi:10.3390/biology15070588</a:t>
            </a:r>
          </a:p>
        </p:txBody>
      </p:sp>
      <p:sp>
        <p:nvSpPr>
          <p:cNvPr id="8" name="page_number | 16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9" name="figure_text | B  Complementary evidence from the same dataset  Bone marrow C4 c"/>
          <p:cNvSpPr txBox="1"/>
          <p:nvPr/>
        </p:nvSpPr>
        <p:spPr>
          <a:xfrm>
            <a:off x="8046720" y="1883664"/>
            <a:ext cx="4795490" cy="27134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B  Complementary evidence from the same dataset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Bone marrow C4 core: +0.086; q = 0.025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Spleen C3 core: -0.023; q = 0.0015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Both: same direction in all 5 QC resamples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Stable-cluster effects: +0.111 and -0.022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Original-cell overlap: 98.7% and 99.5%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E1 (+Ctla2a): q = 0.93 and 0.53</a:t>
            </a:r>
          </a:p>
          <a:p>
            <a:pPr algn="l">
              <a:lnSpc>
                <a:spcPts val="1666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Killing-related GO terms: no q &lt;= 0.05</a:t>
            </a:r>
          </a:p>
        </p:txBody>
      </p:sp>
      <p:sp>
        <p:nvSpPr>
          <p:cNvPr id="10" name="figure_text | The evidence supports a localized core-effector transcriptional s"/>
          <p:cNvSpPr txBox="1"/>
          <p:nvPr/>
        </p:nvSpPr>
        <p:spPr>
          <a:xfrm>
            <a:off x="1170432" y="6157341"/>
            <a:ext cx="9380978" cy="568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The evidence supports a localized core-effector transcriptional shift.</a:t>
            </a:r>
          </a:p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It does not establish increased/decreased killing activity or coordinated activation of a full cytotoxic pathway.</a:t>
            </a:r>
          </a:p>
        </p:txBody>
      </p:sp>
      <p:sp>
        <p:nvSpPr>
          <p:cNvPr id="11" name="plot_title | A  Signature sensitivity"/>
          <p:cNvSpPr txBox="1"/>
          <p:nvPr/>
        </p:nvSpPr>
        <p:spPr>
          <a:xfrm>
            <a:off x="1463040" y="1761744"/>
            <a:ext cx="2345984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A  Signature sensitivity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7_panel_01" descr="new_17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4336796" y="1700784"/>
            <a:ext cx="8711691" cy="5048025"/>
          </a:xfrm>
          <a:prstGeom prst="rect">
            <a:avLst/>
          </a:prstGeom>
        </p:spPr>
      </p:pic>
      <p:sp>
        <p:nvSpPr>
          <p:cNvPr id="3" name="title | Cellular components of cytotoxic module genes"/>
          <p:cNvSpPr txBox="1"/>
          <p:nvPr/>
        </p:nvSpPr>
        <p:spPr>
          <a:xfrm>
            <a:off x="512064" y="361187"/>
            <a:ext cx="8242035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Cellular components of cytotoxic module genes</a:t>
            </a:r>
          </a:p>
        </p:txBody>
      </p:sp>
      <p:sp>
        <p:nvSpPr>
          <p:cNvPr id="4" name="figure_text | GO-CC membership supports localization; this is not a protein-int"/>
          <p:cNvSpPr txBox="1"/>
          <p:nvPr/>
        </p:nvSpPr>
        <p:spPr>
          <a:xfrm>
            <a:off x="512064" y="813816"/>
            <a:ext cx="6759553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GO-CC membership supports localization; this is not a protein-interaction network.</a:t>
            </a:r>
          </a:p>
        </p:txBody>
      </p:sp>
      <p:sp>
        <p:nvSpPr>
          <p:cNvPr id="5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6" name="figure_text | Huang et al. 2024, PAGER-scFGA, Fig. 5; doi:10.3389/fbinf.2024.13"/>
          <p:cNvSpPr txBox="1"/>
          <p:nvPr/>
        </p:nvSpPr>
        <p:spPr>
          <a:xfrm>
            <a:off x="512064" y="7931505"/>
            <a:ext cx="611036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doi:10.3389/fbinf.2024.1336135; official mouse GO annotations</a:t>
            </a:r>
          </a:p>
        </p:txBody>
      </p:sp>
      <p:sp>
        <p:nvSpPr>
          <p:cNvPr id="7" name="page_number | 17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8" name="plot_title | Measured genes x propagated GO-CC membership"/>
          <p:cNvSpPr txBox="1"/>
          <p:nvPr/>
        </p:nvSpPr>
        <p:spPr>
          <a:xfrm>
            <a:off x="6291072" y="1514856"/>
            <a:ext cx="4406927" cy="240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Measured genes x propagated GO-CC membership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lot_panel | new_18_panel_01" descr="new_18_panel_01.png"/>
          <p:cNvPicPr>
            <a:picLocks noChangeAspect="1"/>
          </p:cNvPicPr>
          <p:nvPr/>
        </p:nvPicPr>
        <p:blipFill>
          <a:blip r:embed="rId2">
            <a:extLst xmlns:asvg="http://schemas.microsoft.com/office/drawing/2016/SVG/main"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00928" y="1700784"/>
            <a:ext cx="13032775" cy="4736483"/>
          </a:xfrm>
          <a:prstGeom prst="rect">
            <a:avLst/>
          </a:prstGeom>
        </p:spPr>
      </p:pic>
      <p:sp>
        <p:nvSpPr>
          <p:cNvPr id="3" name="title | Robustness: QC matching and alternative clustering"/>
          <p:cNvSpPr txBox="1"/>
          <p:nvPr/>
        </p:nvSpPr>
        <p:spPr>
          <a:xfrm>
            <a:off x="512064" y="361187"/>
            <a:ext cx="9078894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Robustness: QC matching and alternative clustering</a:t>
            </a:r>
          </a:p>
        </p:txBody>
      </p:sp>
      <p:sp>
        <p:nvSpPr>
          <p:cNvPr id="4" name="figure_text | Five condition-balanced QC resamples within each tissue x cluster"/>
          <p:cNvSpPr txBox="1"/>
          <p:nvPr/>
        </p:nvSpPr>
        <p:spPr>
          <a:xfrm>
            <a:off x="512064" y="813816"/>
            <a:ext cx="5435616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Five condition-balanced QC resamples within each tissue x cluster.</a:t>
            </a:r>
          </a:p>
        </p:txBody>
      </p:sp>
      <p:sp>
        <p:nvSpPr>
          <p:cNvPr id="5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6" name="figure_text | Huang et al. 2024, PAGER-scFGA, Fig. 5; doi:10.3389/fbinf.2024.13"/>
          <p:cNvSpPr txBox="1"/>
          <p:nvPr/>
        </p:nvSpPr>
        <p:spPr>
          <a:xfrm>
            <a:off x="512064" y="7931505"/>
            <a:ext cx="6795066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doi:10.3389/fbinf.2024.1336135; sensitivity analyses added for this dataset</a:t>
            </a:r>
          </a:p>
        </p:txBody>
      </p:sp>
      <p:sp>
        <p:nvSpPr>
          <p:cNvPr id="7" name="page_number | 18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8" name="figure_text | Teal range: five QC-matched effect estimates (not a confidence in"/>
          <p:cNvSpPr txBox="1"/>
          <p:nvPr/>
        </p:nvSpPr>
        <p:spPr>
          <a:xfrm>
            <a:off x="1097280" y="6780521"/>
            <a:ext cx="8356301" cy="4084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Teal range: five QC-matched effect estimates (not a confidence interval).</a:t>
            </a:r>
          </a:p>
          <a:p>
            <a:pPr algn="l">
              <a:lnSpc>
                <a:spcPts val="130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Stable tissue clusters are a separate sensitivity analysis; their labels are not interchangeable with original C labels.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Editable numerical / explanatory table"/>
          <p:cNvGraphicFramePr>
            <a:graphicFrameLocks noGrp="1"/>
          </p:cNvGraphicFramePr>
          <p:nvPr/>
        </p:nvGraphicFramePr>
        <p:xfrm>
          <a:off x="658368" y="1810512"/>
          <a:ext cx="13313663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944"/>
                <a:gridCol w="2218944"/>
                <a:gridCol w="2218943"/>
                <a:gridCol w="2218944"/>
                <a:gridCol w="2218944"/>
                <a:gridCol w="2218944"/>
              </a:tblGrid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Contrast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Core delta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BH q (cell level)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QC same direction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Control-score agrees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Max QC |SMD|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Spl/C1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-0.131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0.059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BM/C2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-0.100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0.22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5/5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0.17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BM/C4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+0.086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0.025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5/5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Thy/C2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+0.067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0.49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4/5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0.18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Spl/C4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+0.061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5/5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Spl/C0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+0.059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0.46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4/5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0.19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Thy/C6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-0.049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5/5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0.08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Spl/C5-2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-0.035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0.34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"/>
                        </a:rPr>
                        <a:t>NA</a:t>
                      </a:r>
                    </a:p>
                  </a:txBody>
                  <a:tcPr marL="54864" marR="36576" marT="22860" marB="22860" anchor="ctr"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  <a:prstDash val="solid"/>
                    </a:lnL>
                    <a:lnR w="6350">
                      <a:solidFill>
                        <a:srgbClr val="DDDDDD"/>
                      </a:solidFill>
                      <a:prstDash val="solid"/>
                    </a:lnR>
                    <a:lnT w="6350">
                      <a:solidFill>
                        <a:srgbClr val="DDDDDD"/>
                      </a:solidFill>
                      <a:prstDash val="solid"/>
                    </a:lnT>
                    <a:lnB w="6350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title | Evidence summary and next interpretation"/>
          <p:cNvSpPr txBox="1"/>
          <p:nvPr/>
        </p:nvSpPr>
        <p:spPr>
          <a:xfrm>
            <a:off x="512064" y="361187"/>
            <a:ext cx="7481255" cy="365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Evidence summary and next interpretation</a:t>
            </a:r>
          </a:p>
        </p:txBody>
      </p:sp>
      <p:sp>
        <p:nvSpPr>
          <p:cNvPr id="4" name="figure_text | Cytotoxic module results, GO support and sensitivity are reported"/>
          <p:cNvSpPr txBox="1"/>
          <p:nvPr/>
        </p:nvSpPr>
        <p:spPr>
          <a:xfrm>
            <a:off x="512064" y="813816"/>
            <a:ext cx="6292832" cy="228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Arial"/>
              </a:rPr>
              <a:t>Cytotoxic module results, GO support and sensitivity are reported separately.</a:t>
            </a:r>
          </a:p>
        </p:txBody>
      </p:sp>
      <p:sp>
        <p:nvSpPr>
          <p:cNvPr id="5" name="figure_text | Exploratory transcriptional results; one sample label per tissue "/>
          <p:cNvSpPr txBox="1"/>
          <p:nvPr/>
        </p:nvSpPr>
        <p:spPr>
          <a:xfrm>
            <a:off x="512064" y="7685531"/>
            <a:ext cx="6381986" cy="20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Exploratory transcriptional results; one sample label per tissue x condition; no animal-level inference.</a:t>
            </a:r>
          </a:p>
        </p:txBody>
      </p:sp>
      <p:sp>
        <p:nvSpPr>
          <p:cNvPr id="6" name="figure_text | Huang et al. 2024, PAGER-scFGA, Fig. 5; doi:10.3389/fbinf.2024.13"/>
          <p:cNvSpPr txBox="1"/>
          <p:nvPr/>
        </p:nvSpPr>
        <p:spPr>
          <a:xfrm>
            <a:off x="512064" y="7931505"/>
            <a:ext cx="8619603" cy="192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1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Arial"/>
              </a:rPr>
              <a:t>Huang et al. 2024, PAGER-scFGA, Fig. 5; doi:10.3389/fbinf.2024.1336135; Borra et al. 2026, GAFA, Sec. 3.5 / Fig. 4c; doi:10.3390/biology15070588</a:t>
            </a:r>
          </a:p>
        </p:txBody>
      </p:sp>
      <p:sp>
        <p:nvSpPr>
          <p:cNvPr id="7" name="page_number | 19"/>
          <p:cNvSpPr txBox="1"/>
          <p:nvPr/>
        </p:nvSpPr>
        <p:spPr>
          <a:xfrm>
            <a:off x="13972032" y="7936104"/>
            <a:ext cx="225308" cy="187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8" name="figure_text | Ranked by absolute expression difference, not selected for signif"/>
          <p:cNvSpPr txBox="1"/>
          <p:nvPr/>
        </p:nvSpPr>
        <p:spPr>
          <a:xfrm>
            <a:off x="731520" y="5662803"/>
            <a:ext cx="8372646" cy="8161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Ranked by absolute expression difference, not selected for significance.</a:t>
            </a:r>
          </a:p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A cytotoxic transcript signature is not a killing assay; GO terms can share the same driver genes.</a:t>
            </a:r>
          </a:p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Independent biological replicates and functional assays are required to confirm treatment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iNKT — editable source-element presentation</dc:title>
  <dc:subject>Native text and tables, individual SVG/PNG figure panels</dc:subject>
  <dc:creator>iNKT analysis project</dc:creator>
  <cp:keywords/>
  <dc:description>Full-slide images are excluded. All figure panels have source assets and provenance.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